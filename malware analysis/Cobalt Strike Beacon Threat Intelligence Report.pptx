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9144000" cx="16256000"/>
  <p:notesSz cx="9144000" cy="16256000"/>
  <p:embeddedFontLst>
    <p:embeddedFont>
      <p:font typeface="Liter"/>
      <p:regular r:id="rId20"/>
    </p:embeddedFont>
    <p:embeddedFont>
      <p:font typeface="Quattrocento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7D4E93-0BA5-49DB-8104-C1EF812154AB}">
  <a:tblStyle styleId="{437D4E93-0BA5-49DB-8104-C1EF812154A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ter-regular.fntdata"/><Relationship Id="rId11" Type="http://schemas.openxmlformats.org/officeDocument/2006/relationships/slide" Target="slides/slide6.xml"/><Relationship Id="rId22" Type="http://schemas.openxmlformats.org/officeDocument/2006/relationships/font" Target="fonts/QuattrocentoSans-bold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regular.fntdata"/><Relationship Id="rId13" Type="http://schemas.openxmlformats.org/officeDocument/2006/relationships/slide" Target="slides/slide8.xml"/><Relationship Id="rId24" Type="http://schemas.openxmlformats.org/officeDocument/2006/relationships/font" Target="fonts/QuattrocentoSans-boldItalic.fntdata"/><Relationship Id="rId12" Type="http://schemas.openxmlformats.org/officeDocument/2006/relationships/slide" Target="slides/slide7.xml"/><Relationship Id="rId23" Type="http://schemas.openxmlformats.org/officeDocument/2006/relationships/font" Target="fonts/Quattrocento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CONFIDENTIAL — DEFENSIVE THREAT INTELLIGENCE — EDUCATIONAL RESEARCH</a:t>
            </a:r>
            <a:endParaRPr b="0" i="0" sz="1200" u="none" cap="none" strike="noStrike"/>
          </a:p>
        </p:txBody>
      </p:sp>
      <p:sp>
        <p:nvSpPr>
          <p:cNvPr id="18" name="Google Shape;18;p3"/>
          <p:cNvSpPr/>
          <p:nvPr/>
        </p:nvSpPr>
        <p:spPr>
          <a:xfrm>
            <a:off x="1270000" y="2032000"/>
            <a:ext cx="13716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COBALT STRIKE</a:t>
            </a:r>
            <a:endParaRPr b="0" i="0" sz="4800" u="none" cap="none" strike="noStrike"/>
          </a:p>
        </p:txBody>
      </p:sp>
      <p:sp>
        <p:nvSpPr>
          <p:cNvPr id="19" name="Google Shape;19;p3"/>
          <p:cNvSpPr/>
          <p:nvPr/>
        </p:nvSpPr>
        <p:spPr>
          <a:xfrm>
            <a:off x="1270000" y="2984500"/>
            <a:ext cx="1371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BEACON PAYLOAD</a:t>
            </a:r>
            <a:endParaRPr b="0" i="0" sz="2400" u="none" cap="none" strike="noStrike"/>
          </a:p>
        </p:txBody>
      </p:sp>
      <p:cxnSp>
        <p:nvCxnSpPr>
          <p:cNvPr id="20" name="Google Shape;20;p3"/>
          <p:cNvCxnSpPr/>
          <p:nvPr/>
        </p:nvCxnSpPr>
        <p:spPr>
          <a:xfrm>
            <a:off x="5588000" y="3810000"/>
            <a:ext cx="5080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2540000" y="4064000"/>
            <a:ext cx="11176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 INTELLIGENCE REPORT</a:t>
            </a:r>
            <a:endParaRPr b="0" i="0" sz="2400" u="none" cap="none" strike="noStrike"/>
          </a:p>
        </p:txBody>
      </p:sp>
      <p:sp>
        <p:nvSpPr>
          <p:cNvPr id="22" name="Google Shape;22;p3"/>
          <p:cNvSpPr/>
          <p:nvPr/>
        </p:nvSpPr>
        <p:spPr>
          <a:xfrm>
            <a:off x="3048000" y="4699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Offensive-Informed Defensive Analysis</a:t>
            </a:r>
            <a:endParaRPr b="0" i="0" sz="2000" u="none" cap="none" strike="noStrike"/>
          </a:p>
        </p:txBody>
      </p:sp>
      <p:sp>
        <p:nvSpPr>
          <p:cNvPr id="23" name="Google Shape;23;p3"/>
          <p:cNvSpPr/>
          <p:nvPr/>
        </p:nvSpPr>
        <p:spPr>
          <a:xfrm>
            <a:off x="4318000" y="5588000"/>
            <a:ext cx="7620000" cy="2032000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699000" y="5778500"/>
            <a:ext cx="6858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 ID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SRC-2026-0614-CSBEACON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ANALYSIS DATE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2026-06-14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Cobalt Strike 4.x (Fortra/HelpSystems)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CLASSIFICATION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Defensive Threat Intelligence</a:t>
            </a:r>
            <a:endParaRPr b="0" i="0" sz="1600" u="none" cap="none" strike="noStrike"/>
          </a:p>
        </p:txBody>
      </p:sp>
      <p:sp>
        <p:nvSpPr>
          <p:cNvPr id="25" name="Google Shape;25;p3"/>
          <p:cNvSpPr/>
          <p:nvPr/>
        </p:nvSpPr>
        <p:spPr>
          <a:xfrm>
            <a:off x="0" y="8636000"/>
            <a:ext cx="16256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EDUCATIONAL RESEARCH — OFFENSIVE ANALYSIS FOR DEFENSIVE PURPOSES ONLY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SRC-2026-0614-CSBEACON</a:t>
            </a:r>
            <a:endParaRPr b="0" i="0" sz="1400" u="none" cap="none" strike="noStrike"/>
          </a:p>
        </p:txBody>
      </p:sp>
      <p:sp>
        <p:nvSpPr>
          <p:cNvPr id="32" name="Google Shape;32;p4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33" name="Google Shape;33;p4"/>
          <p:cNvSpPr/>
          <p:nvPr/>
        </p:nvSpPr>
        <p:spPr>
          <a:xfrm>
            <a:off x="762000" y="889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TABLE OF CONTENTS</a:t>
            </a:r>
            <a:endParaRPr b="0" i="0" sz="3600" u="none" cap="none" strike="noStrike"/>
          </a:p>
        </p:txBody>
      </p:sp>
      <p:cxnSp>
        <p:nvCxnSpPr>
          <p:cNvPr id="34" name="Google Shape;34;p4"/>
          <p:cNvCxnSpPr/>
          <p:nvPr/>
        </p:nvCxnSpPr>
        <p:spPr>
          <a:xfrm>
            <a:off x="762000" y="1651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4"/>
          <p:cNvSpPr/>
          <p:nvPr/>
        </p:nvSpPr>
        <p:spPr>
          <a:xfrm>
            <a:off x="762000" y="20320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3600" u="none" cap="none" strike="noStrike"/>
          </a:p>
        </p:txBody>
      </p:sp>
      <p:sp>
        <p:nvSpPr>
          <p:cNvPr id="36" name="Google Shape;36;p4"/>
          <p:cNvSpPr/>
          <p:nvPr/>
        </p:nvSpPr>
        <p:spPr>
          <a:xfrm>
            <a:off x="1778000" y="2032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BEACON ARCHITECTURE</a:t>
            </a:r>
            <a:endParaRPr b="0" i="0" sz="2200" u="none" cap="none" strike="noStrike"/>
          </a:p>
        </p:txBody>
      </p:sp>
      <p:sp>
        <p:nvSpPr>
          <p:cNvPr id="37" name="Google Shape;37;p4"/>
          <p:cNvSpPr/>
          <p:nvPr/>
        </p:nvSpPr>
        <p:spPr>
          <a:xfrm>
            <a:off x="1778000" y="2476500"/>
            <a:ext cx="889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Reflective DLL injection, Malleable C2 profiles, commercial framework abuse</a:t>
            </a:r>
            <a:endParaRPr b="0" i="0" sz="1400" u="none" cap="none" strike="noStrike"/>
          </a:p>
        </p:txBody>
      </p:sp>
      <p:sp>
        <p:nvSpPr>
          <p:cNvPr id="38" name="Google Shape;38;p4"/>
          <p:cNvSpPr/>
          <p:nvPr/>
        </p:nvSpPr>
        <p:spPr>
          <a:xfrm>
            <a:off x="762000" y="32385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3600" u="none" cap="none" strike="noStrike"/>
          </a:p>
        </p:txBody>
      </p:sp>
      <p:sp>
        <p:nvSpPr>
          <p:cNvPr id="39" name="Google Shape;39;p4"/>
          <p:cNvSpPr/>
          <p:nvPr/>
        </p:nvSpPr>
        <p:spPr>
          <a:xfrm>
            <a:off x="1778000" y="32385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IN-MEMORY EVASION</a:t>
            </a:r>
            <a:endParaRPr b="0" i="0" sz="2200" u="none" cap="none" strike="noStrike"/>
          </a:p>
        </p:txBody>
      </p:sp>
      <p:sp>
        <p:nvSpPr>
          <p:cNvPr id="40" name="Google Shape;40;p4"/>
          <p:cNvSpPr/>
          <p:nvPr/>
        </p:nvSpPr>
        <p:spPr>
          <a:xfrm>
            <a:off x="1778000" y="3683000"/>
            <a:ext cx="889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Sleep masking, PE obfuscation, transform-obfuscate, stack spoofing</a:t>
            </a:r>
            <a:endParaRPr b="0" i="0" sz="1400" u="none" cap="none" strike="noStrike"/>
          </a:p>
        </p:txBody>
      </p:sp>
      <p:sp>
        <p:nvSpPr>
          <p:cNvPr id="41" name="Google Shape;41;p4"/>
          <p:cNvSpPr/>
          <p:nvPr/>
        </p:nvSpPr>
        <p:spPr>
          <a:xfrm>
            <a:off x="762000" y="44450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3600" u="none" cap="none" strike="noStrike"/>
          </a:p>
        </p:txBody>
      </p:sp>
      <p:sp>
        <p:nvSpPr>
          <p:cNvPr id="42" name="Google Shape;42;p4"/>
          <p:cNvSpPr/>
          <p:nvPr/>
        </p:nvSpPr>
        <p:spPr>
          <a:xfrm>
            <a:off x="1778000" y="4445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 INJECTION</a:t>
            </a:r>
            <a:endParaRPr b="0" i="0" sz="2200" u="none" cap="none" strike="noStrike"/>
          </a:p>
        </p:txBody>
      </p:sp>
      <p:sp>
        <p:nvSpPr>
          <p:cNvPr id="43" name="Google Shape;43;p4"/>
          <p:cNvSpPr/>
          <p:nvPr/>
        </p:nvSpPr>
        <p:spPr>
          <a:xfrm>
            <a:off x="1778000" y="4889500"/>
            <a:ext cx="889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injection techniques, fork-and-run jobs, named pipe communication</a:t>
            </a:r>
            <a:endParaRPr b="0" i="0" sz="1400" u="none" cap="none" strike="noStrike"/>
          </a:p>
        </p:txBody>
      </p:sp>
      <p:sp>
        <p:nvSpPr>
          <p:cNvPr id="44" name="Google Shape;44;p4"/>
          <p:cNvSpPr/>
          <p:nvPr/>
        </p:nvSpPr>
        <p:spPr>
          <a:xfrm>
            <a:off x="762000" y="56515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3600" u="none" cap="none" strike="noStrike"/>
          </a:p>
        </p:txBody>
      </p:sp>
      <p:sp>
        <p:nvSpPr>
          <p:cNvPr id="45" name="Google Shape;45;p4"/>
          <p:cNvSpPr/>
          <p:nvPr/>
        </p:nvSpPr>
        <p:spPr>
          <a:xfrm>
            <a:off x="1778000" y="56515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MITRE ATT&amp;CK MAPPING &amp; DEFENSIVE CONTROLS</a:t>
            </a:r>
            <a:endParaRPr b="0" i="0" sz="2200" u="none" cap="none" strike="noStrike"/>
          </a:p>
        </p:txBody>
      </p:sp>
      <p:sp>
        <p:nvSpPr>
          <p:cNvPr id="46" name="Google Shape;46;p4"/>
          <p:cNvSpPr/>
          <p:nvPr/>
        </p:nvSpPr>
        <p:spPr>
          <a:xfrm>
            <a:off x="1778000" y="6096000"/>
            <a:ext cx="889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Comprehensive technique mapping with defensive control recommendations</a:t>
            </a:r>
            <a:endParaRPr b="0" i="0" sz="1400" u="none" cap="none" strike="noStrike"/>
          </a:p>
        </p:txBody>
      </p:sp>
      <p:cxnSp>
        <p:nvCxnSpPr>
          <p:cNvPr id="47" name="Google Shape;47;p4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4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/ 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SRC-2026-0614-CSBEACON</a:t>
            </a:r>
            <a:endParaRPr b="0" i="0" sz="1400" u="none" cap="none" strike="noStrike"/>
          </a:p>
        </p:txBody>
      </p:sp>
      <p:sp>
        <p:nvSpPr>
          <p:cNvPr id="55" name="Google Shape;55;p5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56" name="Google Shape;56;p5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7200" u="none" cap="none" strike="noStrike"/>
          </a:p>
        </p:txBody>
      </p:sp>
      <p:cxnSp>
        <p:nvCxnSpPr>
          <p:cNvPr id="57" name="Google Shape;57;p5"/>
          <p:cNvCxnSpPr/>
          <p:nvPr/>
        </p:nvCxnSpPr>
        <p:spPr>
          <a:xfrm>
            <a:off x="762000" y="3556000"/>
            <a:ext cx="2540000" cy="0"/>
          </a:xfrm>
          <a:prstGeom prst="straightConnector1">
            <a:avLst/>
          </a:prstGeom>
          <a:noFill/>
          <a:ln cap="flat" cmpd="sng" w="38100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5"/>
          <p:cNvSpPr/>
          <p:nvPr/>
        </p:nvSpPr>
        <p:spPr>
          <a:xfrm>
            <a:off x="762000" y="3810000"/>
            <a:ext cx="1270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BEACON ARCHITECTURE</a:t>
            </a:r>
            <a:endParaRPr b="0" i="0" sz="4400" u="none" cap="none" strike="noStrike"/>
          </a:p>
        </p:txBody>
      </p:sp>
      <p:sp>
        <p:nvSpPr>
          <p:cNvPr id="59" name="Google Shape;59;p5"/>
          <p:cNvSpPr/>
          <p:nvPr/>
        </p:nvSpPr>
        <p:spPr>
          <a:xfrm>
            <a:off x="762000" y="4699000"/>
            <a:ext cx="1143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Commercial Post-Exploitation Framework | Reflective DLL | Malleable C2 Profiles</a:t>
            </a:r>
            <a:endParaRPr b="0" i="0" sz="2200" u="none" cap="none" strike="noStrike"/>
          </a:p>
        </p:txBody>
      </p:sp>
      <p:sp>
        <p:nvSpPr>
          <p:cNvPr id="60" name="Google Shape;60;p5"/>
          <p:cNvSpPr/>
          <p:nvPr/>
        </p:nvSpPr>
        <p:spPr>
          <a:xfrm>
            <a:off x="762000" y="5842000"/>
            <a:ext cx="101600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 PROFILE: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Commercial Post-Exploitation Agent (Abused)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Cobalt Strike 4.x by Fortra (HelpSystems)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Language: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C/C++ (Beacon DLL) | </a:t>
            </a: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Windows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Delivery: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Reflective DLL, Shellcode, EXE, DLL, Service | </a:t>
            </a: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C2: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HTTP/S, DNS, SMB</a:t>
            </a:r>
            <a:endParaRPr b="0" i="0" sz="1600" u="none" cap="none" strike="noStrike"/>
          </a:p>
        </p:txBody>
      </p:sp>
      <p:cxnSp>
        <p:nvCxnSpPr>
          <p:cNvPr id="61" name="Google Shape;61;p5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5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/ 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SRC-2026-0614-CSBEACON</a:t>
            </a:r>
            <a:endParaRPr b="0" i="0" sz="1400" u="none" cap="none" strike="noStrike"/>
          </a:p>
        </p:txBody>
      </p:sp>
      <p:sp>
        <p:nvSpPr>
          <p:cNvPr id="69" name="Google Shape;69;p6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70" name="Google Shape;70;p6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Cobalt Strike Beacon — Industry-Standard Post-Exploitation Tool</a:t>
            </a:r>
            <a:endParaRPr b="0" i="0" sz="2600" u="none" cap="none" strike="noStrike"/>
          </a:p>
        </p:txBody>
      </p:sp>
      <p:cxnSp>
        <p:nvCxnSpPr>
          <p:cNvPr id="71" name="Google Shape;71;p6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6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73" name="Google Shape;73;p6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Commercial-Grade Adversary Simulation Platform (Abused)</a:t>
            </a:r>
            <a:endParaRPr b="0" i="0" sz="1600" u="none" cap="none" strike="noStrike"/>
          </a:p>
        </p:txBody>
      </p:sp>
      <p:sp>
        <p:nvSpPr>
          <p:cNvPr id="74" name="Google Shape;74;p6"/>
          <p:cNvSpPr/>
          <p:nvPr/>
        </p:nvSpPr>
        <p:spPr>
          <a:xfrm>
            <a:off x="762000" y="1841500"/>
            <a:ext cx="14732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Cobalt Strike is a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commercial adversary simulation platform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widely abused by threat actors. Its Beacon payload is a reflective DLL that loads entirely in memory. The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Malleable C2 profile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allows customization of every detection surface — network traffic, memory behavior, injection techniques, and forensic artifacts.</a:t>
            </a:r>
            <a:endParaRPr b="0" i="0" sz="1300" u="none" cap="none" strike="noStrike"/>
          </a:p>
        </p:txBody>
      </p:sp>
      <p:sp>
        <p:nvSpPr>
          <p:cNvPr id="75" name="Google Shape;75;p6"/>
          <p:cNvSpPr/>
          <p:nvPr/>
        </p:nvSpPr>
        <p:spPr>
          <a:xfrm>
            <a:off x="762000" y="27940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Beacon Capabilities</a:t>
            </a:r>
            <a:endParaRPr b="0" i="0" sz="1800" u="none" cap="none" strike="noStrike"/>
          </a:p>
        </p:txBody>
      </p:sp>
      <p:sp>
        <p:nvSpPr>
          <p:cNvPr id="76" name="Google Shape;76;p6"/>
          <p:cNvSpPr/>
          <p:nvPr/>
        </p:nvSpPr>
        <p:spPr>
          <a:xfrm>
            <a:off x="762000" y="3238500"/>
            <a:ext cx="6858000" cy="34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Remote Command Execution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Interactive shell and PowerShell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File Transfer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Upload/download arbitrary files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 Injection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Inject into arbitrary processes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Privilege Escalation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Getsystem via named pipes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Credential Harvesting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Mimikatz, hashdump, chromedump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 Scanning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Internal network reconnaissance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Lateral Movement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psexec, psexec_psh, winrm, ssh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SOCKS Proxy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Tunnel traffic through Beacon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Screenshot/Keylogger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Surveillance capabilities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BOF/.NET Execution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In-memory extension loading</a:t>
            </a:r>
            <a:endParaRPr b="0" i="0" sz="1600" u="none" cap="none" strike="noStrike"/>
          </a:p>
        </p:txBody>
      </p:sp>
      <p:sp>
        <p:nvSpPr>
          <p:cNvPr id="77" name="Google Shape;77;p6"/>
          <p:cNvSpPr/>
          <p:nvPr/>
        </p:nvSpPr>
        <p:spPr>
          <a:xfrm>
            <a:off x="8128000" y="2794000"/>
            <a:ext cx="736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Beacon Architecture</a:t>
            </a:r>
            <a:endParaRPr b="0" i="0" sz="1800" u="none" cap="none" strike="noStrike"/>
          </a:p>
        </p:txBody>
      </p:sp>
      <p:sp>
        <p:nvSpPr>
          <p:cNvPr id="78" name="Google Shape;78;p6"/>
          <p:cNvSpPr/>
          <p:nvPr/>
        </p:nvSpPr>
        <p:spPr>
          <a:xfrm>
            <a:off x="8128000" y="3238500"/>
            <a:ext cx="7366000" cy="34925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8128000" y="3238500"/>
            <a:ext cx="50800" cy="34925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8382000" y="3365500"/>
            <a:ext cx="69215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Payload Formats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Beacon can be generated as: Raw shellcode, Windows executable, Windows DLL, Windows service, PowerShell script, Python script, Java applet.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C2 Channels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HTTP/HTTPS (most common), DNS (slow but stealthy), SMB (named pipe pivoting for air-gapped networks).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Evasion Features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Sleep masking, obfuscate, cleanup, smartinject, AMSI bypass, EAF bypass, indirect syscalls, transform-obfuscate.</a:t>
            </a:r>
            <a:endParaRPr b="0" i="0" sz="1500" u="none" cap="none" strike="noStrike"/>
          </a:p>
        </p:txBody>
      </p:sp>
      <p:sp>
        <p:nvSpPr>
          <p:cNvPr id="81" name="Google Shape;81;p6"/>
          <p:cNvSpPr/>
          <p:nvPr/>
        </p:nvSpPr>
        <p:spPr>
          <a:xfrm>
            <a:off x="762000" y="6921500"/>
            <a:ext cx="14732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Note:</a:t>
            </a: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Cobalt Strike is a legitimate penetration testing tool. This analysis focuses on detection of its abuse by unauthorized threat actors.</a:t>
            </a:r>
            <a:endParaRPr b="0" i="0" sz="1400" u="none" cap="none" strike="noStrike"/>
          </a:p>
        </p:txBody>
      </p:sp>
      <p:cxnSp>
        <p:nvCxnSpPr>
          <p:cNvPr id="82" name="Google Shape;82;p6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6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/ 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SRC-2026-0614-CSBEACON</a:t>
            </a:r>
            <a:endParaRPr b="0" i="0" sz="1400" u="none" cap="none" strike="noStrike"/>
          </a:p>
        </p:txBody>
      </p:sp>
      <p:sp>
        <p:nvSpPr>
          <p:cNvPr id="90" name="Google Shape;90;p7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91" name="Google Shape;91;p7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Reflective DLL Injection — Self-Loading Beacon Architecture</a:t>
            </a:r>
            <a:endParaRPr b="0" i="0" sz="2600" u="none" cap="none" strike="noStrike"/>
          </a:p>
        </p:txBody>
      </p:sp>
      <p:cxnSp>
        <p:nvCxnSpPr>
          <p:cNvPr id="92" name="Google Shape;92;p7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7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94" name="Google Shape;94;p7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Reflective Loader with Patched DOS Header Shellcode</a:t>
            </a:r>
            <a:endParaRPr b="0" i="0" sz="1600" u="none" cap="none" strike="noStrike"/>
          </a:p>
        </p:txBody>
      </p:sp>
      <p:sp>
        <p:nvSpPr>
          <p:cNvPr id="95" name="Google Shape;95;p7"/>
          <p:cNvSpPr/>
          <p:nvPr/>
        </p:nvSpPr>
        <p:spPr>
          <a:xfrm>
            <a:off x="762000" y="1841500"/>
            <a:ext cx="14732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Beacon is delivered as a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position-independent reflective DLL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The DOS header is patched with shellcode that calls the ReflectiveLoader export. This enables fileless execution — the DLL maps itself into memory without Windows Loader involvement.</a:t>
            </a:r>
            <a:endParaRPr b="0" i="0" sz="1300" u="none" cap="none" strike="noStrike"/>
          </a:p>
        </p:txBody>
      </p:sp>
      <p:sp>
        <p:nvSpPr>
          <p:cNvPr id="96" name="Google Shape;96;p7"/>
          <p:cNvSpPr/>
          <p:nvPr/>
        </p:nvSpPr>
        <p:spPr>
          <a:xfrm>
            <a:off x="762000" y="26035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Patched DOS Header — Call Reflective Loader Stub</a:t>
            </a:r>
            <a:endParaRPr b="0" i="0" sz="1800" u="none" cap="none" strike="noStrike"/>
          </a:p>
        </p:txBody>
      </p:sp>
      <p:sp>
        <p:nvSpPr>
          <p:cNvPr id="97" name="Google Shape;97;p7"/>
          <p:cNvSpPr/>
          <p:nvPr/>
        </p:nvSpPr>
        <p:spPr>
          <a:xfrm>
            <a:off x="762000" y="3022600"/>
            <a:ext cx="14732000" cy="19685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762000" y="3022600"/>
            <a:ext cx="50800" cy="19685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1016000" y="3149600"/>
            <a:ext cx="14287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Raw beacon shellcode — patched DOS header calls ReflectiveLoader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4D 5A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pop r10              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; PE magic bytes "MZ" (also: pop r10)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41 52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push r10             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; Balance the stack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48 89 E5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mov rbp, rsp         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; Set up stack frame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48 81 EC 20 00 00 00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sub rsp, 0x20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; Allocate shadow space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48 8D 1D EA FF FF FF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lea rbx, [rip-0x16]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; Get base address of shellcode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48 81 C3 F4 5F 01 00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add rbx, 0x15FF4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; Offset to ReflectiveLoader export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FF D3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call rbx             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; Call ReflectiveLoader()</a:t>
            </a:r>
            <a:endParaRPr b="0" i="0" sz="1400" u="none" cap="none" strike="noStrike"/>
          </a:p>
        </p:txBody>
      </p:sp>
      <p:sp>
        <p:nvSpPr>
          <p:cNvPr id="100" name="Google Shape;100;p7"/>
          <p:cNvSpPr/>
          <p:nvPr/>
        </p:nvSpPr>
        <p:spPr>
          <a:xfrm>
            <a:off x="762000" y="52705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Reflective Loading</a:t>
            </a:r>
            <a:endParaRPr b="0" i="0" sz="1800" u="none" cap="none" strike="noStrike"/>
          </a:p>
        </p:txBody>
      </p:sp>
      <p:graphicFrame>
        <p:nvGraphicFramePr>
          <p:cNvPr id="101" name="Google Shape;101;p7"/>
          <p:cNvGraphicFramePr/>
          <p:nvPr/>
        </p:nvGraphicFramePr>
        <p:xfrm>
          <a:off x="762000" y="571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{437D4E93-0BA5-49DB-8104-C1EF812154AB}</a:tableStyleId>
              </a:tblPr>
              <a:tblGrid>
                <a:gridCol w="4419600"/>
                <a:gridCol w="10312400"/>
              </a:tblGrid>
              <a:tr h="44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ReflectiveLoader export in memory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YARA rules can scan for the ReflectiveLoader string and its characteristic code patterns. Memory scanning during active periods catches unmasked Beacon.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Unbacked executable memory (R/X without file)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Beacon's .text section exists in memory without a backing file on disk. Hunt for R/X memory regions without associated module paths.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MZ header in executable memory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With stage.obfuscate "false", Beacon retains PE headers in memory. Scanning for "MZ" and "PE" signatures in process memory reveals Beacon DLLs.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Suspended thread with unusual start address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After injection, Beacon threads start at ReflectiveLoader + offset. Compare thread start addresses against loaded module exports to find anomalies.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</a:tbl>
          </a:graphicData>
        </a:graphic>
      </p:graphicFrame>
      <p:cxnSp>
        <p:nvCxnSpPr>
          <p:cNvPr id="102" name="Google Shape;102;p7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7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/ 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SRC-2026-0614-CSBEACON</a:t>
            </a:r>
            <a:endParaRPr b="0" i="0" sz="1400" u="none" cap="none" strike="noStrike"/>
          </a:p>
        </p:txBody>
      </p:sp>
      <p:sp>
        <p:nvSpPr>
          <p:cNvPr id="110" name="Google Shape;110;p8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11" name="Google Shape;111;p8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Malleable C2 Profiles — Customizing Every Detection Surface</a:t>
            </a:r>
            <a:endParaRPr b="0" i="0" sz="2600" u="none" cap="none" strike="noStrike"/>
          </a:p>
        </p:txBody>
      </p:sp>
      <p:cxnSp>
        <p:nvCxnSpPr>
          <p:cNvPr id="112" name="Google Shape;112;p8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8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114" name="Google Shape;114;p8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Domain-Specific Language for Full Beacon Behavior Control</a:t>
            </a:r>
            <a:endParaRPr b="0" i="0" sz="1600" u="none" cap="none" strike="noStrike"/>
          </a:p>
        </p:txBody>
      </p:sp>
      <p:sp>
        <p:nvSpPr>
          <p:cNvPr id="115" name="Google Shape;115;p8"/>
          <p:cNvSpPr/>
          <p:nvPr/>
        </p:nvSpPr>
        <p:spPr>
          <a:xfrm>
            <a:off x="762000" y="1841500"/>
            <a:ext cx="14732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Malleable C2 profile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is a domain-specific language that controls every aspect of Beacon behavior. A well-engineered profile makes Beacon network traffic indistinguishable from legitimate application communication.</a:t>
            </a:r>
            <a:endParaRPr b="0" i="0" sz="1300" u="none" cap="none" strike="noStrike"/>
          </a:p>
        </p:txBody>
      </p:sp>
      <p:sp>
        <p:nvSpPr>
          <p:cNvPr id="116" name="Google Shape;116;p8"/>
          <p:cNvSpPr/>
          <p:nvPr/>
        </p:nvSpPr>
        <p:spPr>
          <a:xfrm>
            <a:off x="762000" y="26035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Malleable C2 Profile Structure</a:t>
            </a:r>
            <a:endParaRPr b="0" i="0" sz="1800" u="none" cap="none" strike="noStrike"/>
          </a:p>
        </p:txBody>
      </p:sp>
      <p:sp>
        <p:nvSpPr>
          <p:cNvPr id="117" name="Google Shape;117;p8"/>
          <p:cNvSpPr/>
          <p:nvPr/>
        </p:nvSpPr>
        <p:spPr>
          <a:xfrm>
            <a:off x="762000" y="3022600"/>
            <a:ext cx="14732000" cy="2286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762000" y="3022600"/>
            <a:ext cx="50800" cy="2286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1016000" y="3149600"/>
            <a:ext cx="142875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# Key Malleable C2 profile blocks controlling detection surfaces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http-get / http-post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# C2 request/response format, URI, headers, encoding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http-stager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# Staging payload delivery (disabled via host_stage false)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stage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      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# Reflective loader: obfuscate, cleanup, sleep_mask, syscalls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process-inject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# Injection allocator, permissions, transforms, execute methods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post-ex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    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# Spawnto processes, smartinject, AMSI bypass, pipe names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https-certificate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# SSL certificate properties for C2 listener</a:t>
            </a:r>
            <a:endParaRPr b="0" i="0" sz="1400" u="none" cap="none" strike="noStrike"/>
          </a:p>
        </p:txBody>
      </p:sp>
      <p:sp>
        <p:nvSpPr>
          <p:cNvPr id="120" name="Google Shape;120;p8"/>
          <p:cNvSpPr/>
          <p:nvPr/>
        </p:nvSpPr>
        <p:spPr>
          <a:xfrm>
            <a:off x="762000" y="55880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Malleable C2</a:t>
            </a:r>
            <a:endParaRPr b="0" i="0" sz="1800" u="none" cap="none" strike="noStrike"/>
          </a:p>
        </p:txBody>
      </p:sp>
      <p:graphicFrame>
        <p:nvGraphicFramePr>
          <p:cNvPr id="121" name="Google Shape;121;p8"/>
          <p:cNvGraphicFramePr/>
          <p:nvPr/>
        </p:nvGraphicFramePr>
        <p:xfrm>
          <a:off x="762000" y="603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{437D4E93-0BA5-49DB-8104-C1EF812154AB}</a:tableStyleId>
              </a:tblPr>
              <a:tblGrid>
                <a:gridCol w="4419600"/>
                <a:gridCol w="10312400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JARM fingerprint of TLS handshake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Cobalt Strike's JA3/JARM TLS fingerprint is distinctive regardless of certificate configuration. Passive TLS fingerprinting identifies Beacon even with customized profiles.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Default named pipe patterns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Many operators don't customize pipe names. Default patterns like \\postex_*, \\msagent_*, \\MSSE-* are reliable indicators of Cobalt Strike post-exploitation activity.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61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Behavioral beaconing patterns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Even customized profiles exhibit beaconing behavior — regular connections with jitter, request/response size correlations, and sleep-wake cycles. Statistical analysis reveals the pattern.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</a:tbl>
          </a:graphicData>
        </a:graphic>
      </p:graphicFrame>
      <p:cxnSp>
        <p:nvCxnSpPr>
          <p:cNvPr id="122" name="Google Shape;122;p8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8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 / 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SRC-2026-0614-CSBEACON</a:t>
            </a:r>
            <a:endParaRPr b="0" i="0" sz="1400" u="none" cap="none" strike="noStrike"/>
          </a:p>
        </p:txBody>
      </p:sp>
      <p:sp>
        <p:nvSpPr>
          <p:cNvPr id="130" name="Google Shape;130;p9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31" name="Google Shape;131;p9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7200" u="none" cap="none" strike="noStrike"/>
          </a:p>
        </p:txBody>
      </p:sp>
      <p:cxnSp>
        <p:nvCxnSpPr>
          <p:cNvPr id="132" name="Google Shape;132;p9"/>
          <p:cNvCxnSpPr/>
          <p:nvPr/>
        </p:nvCxnSpPr>
        <p:spPr>
          <a:xfrm>
            <a:off x="762000" y="3556000"/>
            <a:ext cx="2540000" cy="0"/>
          </a:xfrm>
          <a:prstGeom prst="straightConnector1">
            <a:avLst/>
          </a:prstGeom>
          <a:noFill/>
          <a:ln cap="flat" cmpd="sng" w="38100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9"/>
          <p:cNvSpPr/>
          <p:nvPr/>
        </p:nvSpPr>
        <p:spPr>
          <a:xfrm>
            <a:off x="762000" y="3810000"/>
            <a:ext cx="1270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IN-MEMORY EVASION</a:t>
            </a:r>
            <a:endParaRPr b="0" i="0" sz="4400" u="none" cap="none" strike="noStrike"/>
          </a:p>
        </p:txBody>
      </p:sp>
      <p:sp>
        <p:nvSpPr>
          <p:cNvPr id="134" name="Google Shape;134;p9"/>
          <p:cNvSpPr/>
          <p:nvPr/>
        </p:nvSpPr>
        <p:spPr>
          <a:xfrm>
            <a:off x="762000" y="4699000"/>
            <a:ext cx="1143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Sleep Masking, Obfuscation, Stack Spoofing, API Hook Evasion</a:t>
            </a:r>
            <a:endParaRPr b="0" i="0" sz="2200" u="none" cap="none" strike="noStrike"/>
          </a:p>
        </p:txBody>
      </p:sp>
      <p:cxnSp>
        <p:nvCxnSpPr>
          <p:cNvPr id="135" name="Google Shape;135;p9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9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 / 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SRC-2026-0614-CSBEACON</a:t>
            </a:r>
            <a:endParaRPr b="0" i="0" sz="1400" u="none" cap="none" strike="noStrike"/>
          </a:p>
        </p:txBody>
      </p:sp>
      <p:sp>
        <p:nvSpPr>
          <p:cNvPr id="143" name="Google Shape;143;p10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44" name="Google Shape;144;p10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Sleep Mask Kit — Obfuscating Beacon in Memory</a:t>
            </a:r>
            <a:endParaRPr b="0" i="0" sz="2600" u="none" cap="none" strike="noStrike"/>
          </a:p>
        </p:txBody>
      </p:sp>
      <p:cxnSp>
        <p:nvCxnSpPr>
          <p:cNvPr id="145" name="Google Shape;145;p10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0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147" name="Google Shape;147;p10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XOR Memory Obfuscation During Sleep + Evasive Sleep with Stack Spoofing</a:t>
            </a:r>
            <a:endParaRPr b="0" i="0" sz="1600" u="none" cap="none" strike="noStrike"/>
          </a:p>
        </p:txBody>
      </p:sp>
      <p:sp>
        <p:nvSpPr>
          <p:cNvPr id="148" name="Google Shape;148;p10"/>
          <p:cNvSpPr/>
          <p:nvPr/>
        </p:nvSpPr>
        <p:spPr>
          <a:xfrm>
            <a:off x="762000" y="1841500"/>
            <a:ext cx="14732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Sleep Mask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kit XOR-obfuscates Beacon strings and code sections while sleeping. When Beacon wakes for C2 communication, it deobfuscates, processes tasks, then re-obfuscates before sleeping again. The evasive sleep variant uses stack spoofing to evade hunt-sleeping-beacon detection.</a:t>
            </a:r>
            <a:endParaRPr b="0" i="0" sz="1300" u="none" cap="none" strike="noStrike"/>
          </a:p>
        </p:txBody>
      </p:sp>
      <p:sp>
        <p:nvSpPr>
          <p:cNvPr id="149" name="Google Shape;149;p10"/>
          <p:cNvSpPr/>
          <p:nvPr/>
        </p:nvSpPr>
        <p:spPr>
          <a:xfrm>
            <a:off x="762000" y="2667000"/>
            <a:ext cx="3175000" cy="6985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762000" y="2667000"/>
            <a:ext cx="3175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BEACON ACTIVE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Processing C2 tasks</a:t>
            </a:r>
            <a:endParaRPr b="0" i="0" sz="1400" u="none" cap="none" strike="noStrike"/>
          </a:p>
        </p:txBody>
      </p:sp>
      <p:cxnSp>
        <p:nvCxnSpPr>
          <p:cNvPr id="151" name="Google Shape;151;p10"/>
          <p:cNvCxnSpPr/>
          <p:nvPr/>
        </p:nvCxnSpPr>
        <p:spPr>
          <a:xfrm>
            <a:off x="3937000" y="2984500"/>
            <a:ext cx="508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2" name="Google Shape;152;p10"/>
          <p:cNvSpPr/>
          <p:nvPr/>
        </p:nvSpPr>
        <p:spPr>
          <a:xfrm>
            <a:off x="4445000" y="2667000"/>
            <a:ext cx="3175000" cy="698500"/>
          </a:xfrm>
          <a:prstGeom prst="rect">
            <a:avLst/>
          </a:prstGeom>
          <a:solidFill>
            <a:srgbClr val="252A32"/>
          </a:solidFill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4445000" y="2667000"/>
            <a:ext cx="3175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APPLY SLEEP MASK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XOR obfuscate all sections</a:t>
            </a:r>
            <a:endParaRPr b="0" i="0" sz="1400" u="none" cap="none" strike="noStrike"/>
          </a:p>
        </p:txBody>
      </p:sp>
      <p:cxnSp>
        <p:nvCxnSpPr>
          <p:cNvPr id="154" name="Google Shape;154;p10"/>
          <p:cNvCxnSpPr/>
          <p:nvPr/>
        </p:nvCxnSpPr>
        <p:spPr>
          <a:xfrm>
            <a:off x="7620000" y="2984500"/>
            <a:ext cx="508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5" name="Google Shape;155;p10"/>
          <p:cNvSpPr/>
          <p:nvPr/>
        </p:nvSpPr>
        <p:spPr>
          <a:xfrm>
            <a:off x="8128000" y="2667000"/>
            <a:ext cx="3175000" cy="698500"/>
          </a:xfrm>
          <a:prstGeom prst="rect">
            <a:avLst/>
          </a:prstGeom>
          <a:solidFill>
            <a:srgbClr val="252A32"/>
          </a:solidFill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8128000" y="2667000"/>
            <a:ext cx="3175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SLEEP (EVASIVE)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Spoofed stack, CFG bypass</a:t>
            </a:r>
            <a:endParaRPr b="0" i="0" sz="1400" u="none" cap="none" strike="noStrike"/>
          </a:p>
        </p:txBody>
      </p:sp>
      <p:cxnSp>
        <p:nvCxnSpPr>
          <p:cNvPr id="157" name="Google Shape;157;p10"/>
          <p:cNvCxnSpPr/>
          <p:nvPr/>
        </p:nvCxnSpPr>
        <p:spPr>
          <a:xfrm>
            <a:off x="11303000" y="2984500"/>
            <a:ext cx="508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8" name="Google Shape;158;p10"/>
          <p:cNvSpPr/>
          <p:nvPr/>
        </p:nvSpPr>
        <p:spPr>
          <a:xfrm>
            <a:off x="11811000" y="2667000"/>
            <a:ext cx="3175000" cy="698500"/>
          </a:xfrm>
          <a:prstGeom prst="rect">
            <a:avLst/>
          </a:prstGeom>
          <a:solidFill>
            <a:srgbClr val="252A32"/>
          </a:solidFill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11811000" y="2667000"/>
            <a:ext cx="3175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REMOVE MASK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XOR deobfuscate on wake</a:t>
            </a:r>
            <a:endParaRPr b="0" i="0" sz="1400" u="none" cap="none" strike="noStrike"/>
          </a:p>
        </p:txBody>
      </p:sp>
      <p:cxnSp>
        <p:nvCxnSpPr>
          <p:cNvPr id="160" name="Google Shape;160;p10"/>
          <p:cNvCxnSpPr/>
          <p:nvPr/>
        </p:nvCxnSpPr>
        <p:spPr>
          <a:xfrm>
            <a:off x="3937000" y="3746500"/>
            <a:ext cx="11176000" cy="63500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dash"/>
            <a:round/>
            <a:headEnd len="med" w="med" type="stealth"/>
            <a:tailEnd len="sm" w="sm" type="none"/>
          </a:ln>
        </p:spPr>
      </p:cxnSp>
      <p:sp>
        <p:nvSpPr>
          <p:cNvPr id="161" name="Google Shape;161;p10"/>
          <p:cNvSpPr/>
          <p:nvPr/>
        </p:nvSpPr>
        <p:spPr>
          <a:xfrm>
            <a:off x="762000" y="39370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Sleep Mask</a:t>
            </a:r>
            <a:endParaRPr b="0" i="0" sz="1800" u="none" cap="none" strike="noStrike"/>
          </a:p>
        </p:txBody>
      </p:sp>
      <p:graphicFrame>
        <p:nvGraphicFramePr>
          <p:cNvPr id="162" name="Google Shape;162;p10"/>
          <p:cNvGraphicFramePr/>
          <p:nvPr/>
        </p:nvGraphicFramePr>
        <p:xfrm>
          <a:off x="762000" y="438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{437D4E93-0BA5-49DB-8104-C1EF812154AB}</a:tableStyleId>
              </a:tblPr>
              <a:tblGrid>
                <a:gridCol w="4419600"/>
                <a:gridCol w="10312400"/>
              </a:tblGrid>
              <a:tr h="42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52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Memory scan during brief unmasked window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Beacon is only fully visible during C2 communication. Trigger memory scans on network connections from suspicious processes to catch unmasked Beacon.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2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Sleeping threads with unbacked memory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Tools like Hunt-Sleeping-Beacons identify threads in Sleep() that point to executable memory not backed by a file. The evasive sleep counters this with stack spoofing.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2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Named pipe connections from unusual processes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Post-exploitation jobs communicate with Beacon via named pipes. Pipe creation and connection events from non-system processes are suspicious (Sysmon Event ID 17/18).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2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RVA-based API hash resolution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smartinject embeds function pointer hints. Beacon resolves APIs via hash rather than name. API hashing patterns in memory indicate Cobalt Strike activity.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2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Export Address Table (EAT) walking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Without smartinject, Beacon walks kernel32 EAT to find APIs. Export Address Filtering (EAF) guards detect this pattern and can alert on EAT enumeration.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2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Transform-obfuscate payload artifacts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While transform-obfuscate masks the raw payload, the deobfuscation stub remains identifiable. YARA rules targeting the deobfuscation routine catch transformed payloads.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</a:tbl>
          </a:graphicData>
        </a:graphic>
      </p:graphicFrame>
      <p:cxnSp>
        <p:nvCxnSpPr>
          <p:cNvPr id="163" name="Google Shape;163;p10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0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 / 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SRC-2026-0614-CSBEACON</a:t>
            </a:r>
            <a:endParaRPr b="0" i="0" sz="1400" u="none" cap="none" strike="noStrike"/>
          </a:p>
        </p:txBody>
      </p:sp>
      <p:sp>
        <p:nvSpPr>
          <p:cNvPr id="171" name="Google Shape;171;p11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72" name="Google Shape;172;p11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Malleable PE Evasion — Obfuscate, Cleanup, Transform</a:t>
            </a:r>
            <a:endParaRPr b="0" i="0" sz="2600" u="none" cap="none" strike="noStrike"/>
          </a:p>
        </p:txBody>
      </p:sp>
      <p:cxnSp>
        <p:nvCxnSpPr>
          <p:cNvPr id="173" name="Google Shape;173;p11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1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175" name="Google Shape;175;p11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Multi-Layer Payload Obfuscation and Memory Cleanup</a:t>
            </a:r>
            <a:endParaRPr b="0" i="0" sz="1600" u="none" cap="none" strike="noStrike"/>
          </a:p>
        </p:txBody>
      </p:sp>
      <p:sp>
        <p:nvSpPr>
          <p:cNvPr id="176" name="Google Shape;176;p11"/>
          <p:cNvSpPr/>
          <p:nvPr/>
        </p:nvSpPr>
        <p:spPr>
          <a:xfrm>
            <a:off x="762000" y="1841500"/>
            <a:ext cx="14732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stage block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controls reflective loader behavior. When all evasion features are enabled, Beacon is robust against both static and dynamic detection at every stage of the attack chain.</a:t>
            </a:r>
            <a:endParaRPr b="0" i="0" sz="1300" u="none" cap="none" strike="noStrike"/>
          </a:p>
        </p:txBody>
      </p:sp>
      <p:sp>
        <p:nvSpPr>
          <p:cNvPr id="177" name="Google Shape;177;p11"/>
          <p:cNvSpPr/>
          <p:nvPr/>
        </p:nvSpPr>
        <p:spPr>
          <a:xfrm>
            <a:off x="762000" y="2603500"/>
            <a:ext cx="4699000" cy="1651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762000" y="2603500"/>
            <a:ext cx="4699000" cy="508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952500" y="2768600"/>
            <a:ext cx="4318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OBFUSCATE</a:t>
            </a:r>
            <a:endParaRPr b="0" i="0" sz="1300" u="none" cap="none" strike="noStrike"/>
          </a:p>
        </p:txBody>
      </p:sp>
      <p:sp>
        <p:nvSpPr>
          <p:cNvPr id="180" name="Google Shape;180;p11"/>
          <p:cNvSpPr/>
          <p:nvPr/>
        </p:nvSpPr>
        <p:spPr>
          <a:xfrm>
            <a:off x="952500" y="3149600"/>
            <a:ext cx="4318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Masks .text section with random multi-byte XOR key. Overwrites section names, import table, and DOS/Rich headers with random data. Headers removed from memory copy.</a:t>
            </a:r>
            <a:endParaRPr b="0" i="0" sz="1400" u="none" cap="none" strike="noStrike"/>
          </a:p>
        </p:txBody>
      </p:sp>
      <p:sp>
        <p:nvSpPr>
          <p:cNvPr id="181" name="Google Shape;181;p11"/>
          <p:cNvSpPr/>
          <p:nvPr/>
        </p:nvSpPr>
        <p:spPr>
          <a:xfrm>
            <a:off x="5778500" y="2603500"/>
            <a:ext cx="4699000" cy="1651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5778500" y="2603500"/>
            <a:ext cx="4699000" cy="508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5969000" y="2768600"/>
            <a:ext cx="4318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CLEANUP</a:t>
            </a:r>
            <a:endParaRPr b="0" i="0" sz="1600" u="none" cap="none" strike="noStrike"/>
          </a:p>
        </p:txBody>
      </p:sp>
      <p:sp>
        <p:nvSpPr>
          <p:cNvPr id="184" name="Google Shape;184;p11"/>
          <p:cNvSpPr/>
          <p:nvPr/>
        </p:nvSpPr>
        <p:spPr>
          <a:xfrm>
            <a:off x="5969000" y="3149600"/>
            <a:ext cx="4318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Attempts to free memory associated with the reflective DLL package that initialized Beacon. Removes the loader stub from memory after Beacon is running, eliminating an in-memory indicator.</a:t>
            </a:r>
            <a:endParaRPr b="0" i="0" sz="1400" u="none" cap="none" strike="noStrike"/>
          </a:p>
        </p:txBody>
      </p:sp>
      <p:sp>
        <p:nvSpPr>
          <p:cNvPr id="185" name="Google Shape;185;p11"/>
          <p:cNvSpPr/>
          <p:nvPr/>
        </p:nvSpPr>
        <p:spPr>
          <a:xfrm>
            <a:off x="10795000" y="2603500"/>
            <a:ext cx="4699000" cy="1651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10795000" y="2603500"/>
            <a:ext cx="4699000" cy="508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10985500" y="2768600"/>
            <a:ext cx="4318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TRANSFORM-OBFUSCATE</a:t>
            </a:r>
            <a:endParaRPr b="0" i="0" sz="1600" u="none" cap="none" strike="noStrike"/>
          </a:p>
        </p:txBody>
      </p:sp>
      <p:sp>
        <p:nvSpPr>
          <p:cNvPr id="188" name="Google Shape;188;p11"/>
          <p:cNvSpPr/>
          <p:nvPr/>
        </p:nvSpPr>
        <p:spPr>
          <a:xfrm>
            <a:off x="10985500" y="3149600"/>
            <a:ext cx="4318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Applies LZNT1 compression, RC4/XOR encryption with random keys, and base64 encoding to Beacon payload. Configurable chain of transforms in any order. Deobfuscation stub prepended to payload.</a:t>
            </a:r>
            <a:endParaRPr b="0" i="0" sz="1400" u="none" cap="none" strike="noStrike"/>
          </a:p>
        </p:txBody>
      </p:sp>
      <p:sp>
        <p:nvSpPr>
          <p:cNvPr id="189" name="Google Shape;189;p11"/>
          <p:cNvSpPr/>
          <p:nvPr/>
        </p:nvSpPr>
        <p:spPr>
          <a:xfrm>
            <a:off x="762000" y="45466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Recommended Evasive Profile Configuration</a:t>
            </a:r>
            <a:endParaRPr b="0" i="0" sz="1800" u="none" cap="none" strike="noStrike"/>
          </a:p>
        </p:txBody>
      </p:sp>
      <p:sp>
        <p:nvSpPr>
          <p:cNvPr id="190" name="Google Shape;190;p11"/>
          <p:cNvSpPr/>
          <p:nvPr/>
        </p:nvSpPr>
        <p:spPr>
          <a:xfrm>
            <a:off x="762000" y="4953000"/>
            <a:ext cx="14732000" cy="1651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762000" y="4953000"/>
            <a:ext cx="50800" cy="1651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1016000" y="5080000"/>
            <a:ext cx="142875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# Cobalt Strike 4.11+ suggested stage block for evasion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stage {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set sleep_mask     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"true"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     set syscall_method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"indirect"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set cleanup        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"true"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     set obfuscate     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"true"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set magic_mz_x64   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"MZAR"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     set magic_pe      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"EA"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transform-obfuscate { rc4 </a:t>
            </a:r>
            <a:r>
              <a:rPr b="0" i="0" lang="en-US" sz="1300" u="none" cap="none" strike="noStrike">
                <a:solidFill>
                  <a:srgbClr val="E8A020"/>
                </a:solidFill>
                <a:latin typeface="Liter"/>
                <a:ea typeface="Liter"/>
                <a:cs typeface="Liter"/>
                <a:sym typeface="Liter"/>
              </a:rPr>
              <a:t>"64"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 xor </a:t>
            </a:r>
            <a:r>
              <a:rPr b="0" i="0" lang="en-US" sz="1300" u="none" cap="none" strike="noStrike">
                <a:solidFill>
                  <a:srgbClr val="E8A020"/>
                </a:solidFill>
                <a:latin typeface="Liter"/>
                <a:ea typeface="Liter"/>
                <a:cs typeface="Liter"/>
                <a:sym typeface="Liter"/>
              </a:rPr>
              <a:t>"32"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 base64; }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beacon_gate { All; }   </a:t>
            </a: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# Intercept 23 API calls via sleep mask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}</a:t>
            </a:r>
            <a:endParaRPr b="0" i="0" sz="1300" u="none" cap="none" strike="noStrike"/>
          </a:p>
        </p:txBody>
      </p:sp>
      <p:sp>
        <p:nvSpPr>
          <p:cNvPr id="193" name="Google Shape;193;p11"/>
          <p:cNvSpPr/>
          <p:nvPr/>
        </p:nvSpPr>
        <p:spPr>
          <a:xfrm>
            <a:off x="762000" y="68580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PE Evasion</a:t>
            </a:r>
            <a:endParaRPr b="0" i="0" sz="1800" u="none" cap="none" strike="noStrike"/>
          </a:p>
        </p:txBody>
      </p:sp>
      <p:graphicFrame>
        <p:nvGraphicFramePr>
          <p:cNvPr id="194" name="Google Shape;194;p11"/>
          <p:cNvGraphicFramePr/>
          <p:nvPr/>
        </p:nvGraphicFramePr>
        <p:xfrm>
          <a:off x="762000" y="726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{437D4E93-0BA5-49DB-8104-C1EF812154AB}</a:tableStyleId>
              </a:tblPr>
              <a:tblGrid>
                <a:gridCol w="4419600"/>
                <a:gridCol w="10312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Known magic_mz_x64 values ("MZAR", "OOPS")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Common customizations use recognizable magic bytes. Memory scanning for these patterns in executable regions identifies obfuscated Beacon payloads.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Deobfuscation stub in memory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Regardless of transforms applied, the deobfuscation code must exist in memory. YARA rules targeting the stub's characteristic instruction patterns catch all variants.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</a:tbl>
          </a:graphicData>
        </a:graphic>
      </p:graphicFrame>
      <p:cxnSp>
        <p:nvCxnSpPr>
          <p:cNvPr id="195" name="Google Shape;195;p11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1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 / 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SRC-2026-0614-CSBEACON</a:t>
            </a:r>
            <a:endParaRPr b="0" i="0" sz="1400" u="none" cap="none" strike="noStrike"/>
          </a:p>
        </p:txBody>
      </p:sp>
      <p:sp>
        <p:nvSpPr>
          <p:cNvPr id="203" name="Google Shape;203;p12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04" name="Google Shape;204;p12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7200" u="none" cap="none" strike="noStrike"/>
          </a:p>
        </p:txBody>
      </p:sp>
      <p:cxnSp>
        <p:nvCxnSpPr>
          <p:cNvPr id="205" name="Google Shape;205;p12"/>
          <p:cNvCxnSpPr/>
          <p:nvPr/>
        </p:nvCxnSpPr>
        <p:spPr>
          <a:xfrm>
            <a:off x="762000" y="3556000"/>
            <a:ext cx="2540000" cy="0"/>
          </a:xfrm>
          <a:prstGeom prst="straightConnector1">
            <a:avLst/>
          </a:prstGeom>
          <a:noFill/>
          <a:ln cap="flat" cmpd="sng" w="38100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12"/>
          <p:cNvSpPr/>
          <p:nvPr/>
        </p:nvSpPr>
        <p:spPr>
          <a:xfrm>
            <a:off x="762000" y="3810000"/>
            <a:ext cx="1270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PROCESS INJECTION</a:t>
            </a:r>
            <a:endParaRPr b="0" i="0" sz="4400" u="none" cap="none" strike="noStrike"/>
          </a:p>
        </p:txBody>
      </p:sp>
      <p:sp>
        <p:nvSpPr>
          <p:cNvPr id="207" name="Google Shape;207;p12"/>
          <p:cNvSpPr/>
          <p:nvPr/>
        </p:nvSpPr>
        <p:spPr>
          <a:xfrm>
            <a:off x="762000" y="4699000"/>
            <a:ext cx="1143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Injection Techniques, Post-Exploitation Architecture, Named Pipes</a:t>
            </a:r>
            <a:endParaRPr b="0" i="0" sz="2200" u="none" cap="none" strike="noStrike"/>
          </a:p>
        </p:txBody>
      </p:sp>
      <p:cxnSp>
        <p:nvCxnSpPr>
          <p:cNvPr id="208" name="Google Shape;208;p12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12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/ 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SRC-2026-0614-CSBEACON</a:t>
            </a:r>
            <a:endParaRPr b="0" i="0" sz="1400" u="none" cap="none" strike="noStrike"/>
          </a:p>
        </p:txBody>
      </p:sp>
      <p:sp>
        <p:nvSpPr>
          <p:cNvPr id="216" name="Google Shape;216;p13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17" name="Google Shape;217;p13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Process Injection Flexibility — Configure, Transform, Execute</a:t>
            </a:r>
            <a:endParaRPr b="0" i="0" sz="2600" u="none" cap="none" strike="noStrike"/>
          </a:p>
        </p:txBody>
      </p:sp>
      <p:cxnSp>
        <p:nvCxnSpPr>
          <p:cNvPr id="218" name="Google Shape;218;p13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3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220" name="Google Shape;220;p13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Configurable Injection with Multiple Execution Methods</a:t>
            </a:r>
            <a:endParaRPr b="0" i="0" sz="1600" u="none" cap="none" strike="noStrike"/>
          </a:p>
        </p:txBody>
      </p:sp>
      <p:sp>
        <p:nvSpPr>
          <p:cNvPr id="221" name="Google Shape;221;p13"/>
          <p:cNvSpPr/>
          <p:nvPr/>
        </p:nvSpPr>
        <p:spPr>
          <a:xfrm>
            <a:off x="762000" y="1841500"/>
            <a:ext cx="14732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process-inject block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controls how Beacon injects code into remote processes. Operators can configure the allocator, memory permissions, content transforms, and execution method — making detection extremely challenging.</a:t>
            </a:r>
            <a:endParaRPr b="0" i="0" sz="1300" u="none" cap="none" strike="noStrike"/>
          </a:p>
        </p:txBody>
      </p:sp>
      <p:sp>
        <p:nvSpPr>
          <p:cNvPr id="222" name="Google Shape;222;p13"/>
          <p:cNvSpPr/>
          <p:nvPr/>
        </p:nvSpPr>
        <p:spPr>
          <a:xfrm>
            <a:off x="762000" y="26035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process-inject Block Configuration</a:t>
            </a:r>
            <a:endParaRPr b="0" i="0" sz="1800" u="none" cap="none" strike="noStrike"/>
          </a:p>
        </p:txBody>
      </p:sp>
      <p:sp>
        <p:nvSpPr>
          <p:cNvPr id="223" name="Google Shape;223;p13"/>
          <p:cNvSpPr/>
          <p:nvPr/>
        </p:nvSpPr>
        <p:spPr>
          <a:xfrm>
            <a:off x="762000" y="3022600"/>
            <a:ext cx="14732000" cy="19685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762000" y="3022600"/>
            <a:ext cx="50800" cy="19685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1016000" y="3149600"/>
            <a:ext cx="14287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process-inject {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set allocator    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"NtMapViewOfSection"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  </a:t>
            </a: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# vs VirtualAllocEx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set min_alloc     </a:t>
            </a:r>
            <a:r>
              <a:rPr b="0" i="0" lang="en-US" sz="1300" u="none" cap="none" strike="noStrike">
                <a:solidFill>
                  <a:srgbClr val="E8A020"/>
                </a:solidFill>
                <a:latin typeface="Liter"/>
                <a:ea typeface="Liter"/>
                <a:cs typeface="Liter"/>
                <a:sym typeface="Liter"/>
              </a:rPr>
              <a:t>"16384"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               </a:t>
            </a: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# Minimum allocation size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set userwx       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"false"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               </a:t>
            </a: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# Avoid RWX final perms (use RX)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transform-x64 { prepend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"\x90\x90\x90"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 }  </a:t>
            </a: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# NOP sled padding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execute {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CreateThread </a:t>
            </a:r>
            <a:r>
              <a:rPr b="0" i="0" lang="en-US" sz="13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"ntdll!RtlUserThreadStart"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 NtQueueApcThread-s;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CreateRemoteThread; RtlCreateUserThread; SetThreadContext;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}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}</a:t>
            </a:r>
            <a:endParaRPr b="0" i="0" sz="1300" u="none" cap="none" strike="noStrike"/>
          </a:p>
        </p:txBody>
      </p:sp>
      <p:sp>
        <p:nvSpPr>
          <p:cNvPr id="226" name="Google Shape;226;p13"/>
          <p:cNvSpPr/>
          <p:nvPr/>
        </p:nvSpPr>
        <p:spPr>
          <a:xfrm>
            <a:off x="762000" y="52705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Process Injection</a:t>
            </a:r>
            <a:endParaRPr b="0" i="0" sz="1800" u="none" cap="none" strike="noStrike"/>
          </a:p>
        </p:txBody>
      </p:sp>
      <p:graphicFrame>
        <p:nvGraphicFramePr>
          <p:cNvPr id="227" name="Google Shape;227;p13"/>
          <p:cNvGraphicFramePr/>
          <p:nvPr/>
        </p:nvGraphicFramePr>
        <p:xfrm>
          <a:off x="762000" y="571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{437D4E93-0BA5-49DB-8104-C1EF812154AB}</a:tableStyleId>
              </a:tblPr>
              <a:tblGrid>
                <a:gridCol w="4419600"/>
                <a:gridCol w="10312400"/>
              </a:tblGrid>
              <a:tr h="44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NtMapViewOfSection for code injection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While stealthier than VirtualAllocEx, NtMapViewOfSection with SECTION_MAP_EXECUTE to a remote process is still detectable via kernel callbacks and ETW.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CreateRemoteThread with unusual start addresses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Threads starting at addresses outside loaded modules indicate injected code. Sysmon Event ID 8 logs CreateRemoteThread with target process and start address.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APC injection via NtQueueApcThread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Queueing an APC to a thread in another process is suspicious. Early-bird APC injection (NtQueueApcThread-s) targeting newly created suspended processes is a strong indicator.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SetThreadContext on suspended processes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Modifying thread context (instruction pointer) of a suspended process indicates process hollowing or injection. Monitor for SetThreadContext after CreateProcess with CREATE_SUSPENDED.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</a:tbl>
          </a:graphicData>
        </a:graphic>
      </p:graphicFrame>
      <p:cxnSp>
        <p:nvCxnSpPr>
          <p:cNvPr id="228" name="Google Shape;228;p13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13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 / 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SRC-2026-0614-CSBEACON</a:t>
            </a:r>
            <a:endParaRPr b="0" i="0" sz="1400" u="none" cap="none" strike="noStrike"/>
          </a:p>
        </p:txBody>
      </p:sp>
      <p:sp>
        <p:nvSpPr>
          <p:cNvPr id="236" name="Google Shape;236;p14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37" name="Google Shape;237;p14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Post-Exploitation Job Architecture — Fork-and-Run</a:t>
            </a:r>
            <a:endParaRPr b="0" i="0" sz="2600" u="none" cap="none" strike="noStrike"/>
          </a:p>
        </p:txBody>
      </p:sp>
      <p:cxnSp>
        <p:nvCxnSpPr>
          <p:cNvPr id="238" name="Google Shape;238;p14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4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240" name="Google Shape;240;p14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Isolated Post-Exploitation via Temporary Processes</a:t>
            </a:r>
            <a:endParaRPr b="0" i="0" sz="1600" u="none" cap="none" strike="noStrike"/>
          </a:p>
        </p:txBody>
      </p:sp>
      <p:sp>
        <p:nvSpPr>
          <p:cNvPr id="241" name="Google Shape;241;p14"/>
          <p:cNvSpPr/>
          <p:nvPr/>
        </p:nvSpPr>
        <p:spPr>
          <a:xfrm>
            <a:off x="762000" y="1841500"/>
            <a:ext cx="14732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Built-in post-exploitation features execute as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fork-and-run jobs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Beacon spawns a temporary process (configured via spawnto), injects the feature DLL, and communicates results via named pipes. This isolates capabilities from the main Beacon process.</a:t>
            </a:r>
            <a:endParaRPr b="0" i="0" sz="1300" u="none" cap="none" strike="noStrike"/>
          </a:p>
        </p:txBody>
      </p:sp>
      <p:sp>
        <p:nvSpPr>
          <p:cNvPr id="242" name="Google Shape;242;p14"/>
          <p:cNvSpPr/>
          <p:nvPr/>
        </p:nvSpPr>
        <p:spPr>
          <a:xfrm>
            <a:off x="762000" y="2730500"/>
            <a:ext cx="2540000" cy="889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762000" y="273050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BEACON PROCESS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Main C2 channel</a:t>
            </a:r>
            <a:endParaRPr b="0" i="0" sz="1400" u="none" cap="none" strike="noStrike"/>
          </a:p>
        </p:txBody>
      </p:sp>
      <p:cxnSp>
        <p:nvCxnSpPr>
          <p:cNvPr id="244" name="Google Shape;244;p14"/>
          <p:cNvCxnSpPr/>
          <p:nvPr/>
        </p:nvCxnSpPr>
        <p:spPr>
          <a:xfrm>
            <a:off x="3302000" y="3149600"/>
            <a:ext cx="1016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5" name="Google Shape;245;p14"/>
          <p:cNvSpPr/>
          <p:nvPr/>
        </p:nvSpPr>
        <p:spPr>
          <a:xfrm>
            <a:off x="3365500" y="28575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\\pipe\postex</a:t>
            </a:r>
            <a:endParaRPr b="0" i="0" sz="1100" u="none" cap="none" strike="noStrike"/>
          </a:p>
        </p:txBody>
      </p:sp>
      <p:sp>
        <p:nvSpPr>
          <p:cNvPr id="246" name="Google Shape;246;p14"/>
          <p:cNvSpPr/>
          <p:nvPr/>
        </p:nvSpPr>
        <p:spPr>
          <a:xfrm>
            <a:off x="4318000" y="2730500"/>
            <a:ext cx="2540000" cy="889000"/>
          </a:xfrm>
          <a:prstGeom prst="rect">
            <a:avLst/>
          </a:prstGeom>
          <a:solidFill>
            <a:srgbClr val="252A32"/>
          </a:solidFill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4318000" y="273050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SPAWNTO PROCESS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WUAUCLT.exe (configurable)</a:t>
            </a:r>
            <a:endParaRPr b="0" i="0" sz="1400" u="none" cap="none" strike="noStrike"/>
          </a:p>
        </p:txBody>
      </p:sp>
      <p:cxnSp>
        <p:nvCxnSpPr>
          <p:cNvPr id="248" name="Google Shape;248;p14"/>
          <p:cNvCxnSpPr/>
          <p:nvPr/>
        </p:nvCxnSpPr>
        <p:spPr>
          <a:xfrm>
            <a:off x="6858000" y="3149600"/>
            <a:ext cx="1016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249" name="Google Shape;249;p14"/>
          <p:cNvSpPr/>
          <p:nvPr/>
        </p:nvSpPr>
        <p:spPr>
          <a:xfrm>
            <a:off x="7874000" y="2730500"/>
            <a:ext cx="2540000" cy="889000"/>
          </a:xfrm>
          <a:prstGeom prst="rect">
            <a:avLst/>
          </a:prstGeom>
          <a:solidFill>
            <a:srgbClr val="252A32"/>
          </a:solidFill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7874000" y="273050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POST-EX DLL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keylogger / screenshot</a:t>
            </a:r>
            <a:endParaRPr b="0" i="0" sz="1400" u="none" cap="none" strike="noStrike"/>
          </a:p>
        </p:txBody>
      </p:sp>
      <p:sp>
        <p:nvSpPr>
          <p:cNvPr id="251" name="Google Shape;251;p14"/>
          <p:cNvSpPr/>
          <p:nvPr/>
        </p:nvSpPr>
        <p:spPr>
          <a:xfrm>
            <a:off x="762000" y="39370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Post-Exploitation Features (Fork-and-Run)</a:t>
            </a:r>
            <a:endParaRPr b="0" i="0" sz="1800" u="none" cap="none" strike="noStrike"/>
          </a:p>
        </p:txBody>
      </p:sp>
      <p:sp>
        <p:nvSpPr>
          <p:cNvPr id="252" name="Google Shape;252;p14"/>
          <p:cNvSpPr/>
          <p:nvPr/>
        </p:nvSpPr>
        <p:spPr>
          <a:xfrm>
            <a:off x="762000" y="4381500"/>
            <a:ext cx="6858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keylogger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Keystroke capture via SetWindowsHookEx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screenshot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Desktop capture via BitBlt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hashdump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SAM database credential extraction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logonpasswords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Mimikatz LSASS credential dump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chromedump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Extract Chrome saved passwords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portscan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TCP/UDP internal network scanning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netview</a:t>
            </a: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Network share and session enumeration</a:t>
            </a:r>
            <a:endParaRPr b="0" i="0" sz="1500" u="none" cap="none" strike="noStrike"/>
          </a:p>
        </p:txBody>
      </p:sp>
      <p:sp>
        <p:nvSpPr>
          <p:cNvPr id="253" name="Google Shape;253;p14"/>
          <p:cNvSpPr/>
          <p:nvPr/>
        </p:nvSpPr>
        <p:spPr>
          <a:xfrm>
            <a:off x="8128000" y="3937000"/>
            <a:ext cx="736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</a:t>
            </a:r>
            <a:endParaRPr b="0" i="0" sz="1800" u="none" cap="none" strike="noStrike"/>
          </a:p>
        </p:txBody>
      </p:sp>
      <p:sp>
        <p:nvSpPr>
          <p:cNvPr id="254" name="Google Shape;254;p14"/>
          <p:cNvSpPr/>
          <p:nvPr/>
        </p:nvSpPr>
        <p:spPr>
          <a:xfrm>
            <a:off x="8128000" y="4381500"/>
            <a:ext cx="7366000" cy="2921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8128000" y="4381500"/>
            <a:ext cx="50800" cy="2921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8382000" y="4508500"/>
            <a:ext cx="69215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Default Named Pipes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operators don't customize pipe names. Hunt for: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\\postex_*, \\postex_ssh_*, \\status_*, \\msagent_*, \\MSSE-*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Spawnto Anomalies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Default spawnto is rundll32.exe with no arguments. Monitor for rundll32.exe spawned by unusual parents with no command-line DLL specified.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Pipe Events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Sysmon Event ID 17 (Pipe Created) and 18 (Pipe Connected) log named pipe activity. Configure Sysmon to monitor pipe creation.</a:t>
            </a:r>
            <a:endParaRPr b="0" i="0" sz="1500" u="none" cap="none" strike="noStrike"/>
          </a:p>
        </p:txBody>
      </p:sp>
      <p:cxnSp>
        <p:nvCxnSpPr>
          <p:cNvPr id="257" name="Google Shape;257;p14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14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 / 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SRC-2026-0614-CSBEACON</a:t>
            </a:r>
            <a:endParaRPr b="0" i="0" sz="1400" u="none" cap="none" strike="noStrike"/>
          </a:p>
        </p:txBody>
      </p:sp>
      <p:sp>
        <p:nvSpPr>
          <p:cNvPr id="265" name="Google Shape;265;p15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66" name="Google Shape;266;p15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Cobalt Strike Beacon MITRE ATT&amp;CK Mapping</a:t>
            </a:r>
            <a:endParaRPr b="0" i="0" sz="2600" u="none" cap="none" strike="noStrike"/>
          </a:p>
        </p:txBody>
      </p:sp>
      <p:cxnSp>
        <p:nvCxnSpPr>
          <p:cNvPr id="267" name="Google Shape;267;p15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15"/>
          <p:cNvSpPr/>
          <p:nvPr/>
        </p:nvSpPr>
        <p:spPr>
          <a:xfrm>
            <a:off x="762000" y="1371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FRAMEWORK MAPPING</a:t>
            </a:r>
            <a:endParaRPr b="0" i="0" sz="1200" u="none" cap="none" strike="noStrike"/>
          </a:p>
        </p:txBody>
      </p:sp>
      <p:graphicFrame>
        <p:nvGraphicFramePr>
          <p:cNvPr id="269" name="Google Shape;269;p15"/>
          <p:cNvGraphicFramePr/>
          <p:nvPr/>
        </p:nvGraphicFramePr>
        <p:xfrm>
          <a:off x="762000" y="177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{437D4E93-0BA5-49DB-8104-C1EF812154AB}</a:tableStyleId>
              </a:tblPr>
              <a:tblGrid>
                <a:gridCol w="2062475"/>
                <a:gridCol w="3683000"/>
                <a:gridCol w="4861550"/>
                <a:gridCol w="4124950"/>
              </a:tblGrid>
              <a:tr h="48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MITRE ID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TECHNIQUE NAME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COBALT STRIKE IMPLEMENTATION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DEFENSIVE CONTROL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T1055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Process Injection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Multiple injection methods via process-inject block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EDR behavioral detection, Sysmon Event ID 8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T1055.012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Process Hollowing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SetThreadContext on suspended spawnto processes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Parent-child process baselining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T1027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Obfuscated Files or Information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stage.obfuscate masks .text section with XOR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In-memory YARA scanning during active periods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T1027.002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Software Packing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transform-obfuscate applies compression + encryption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Static analysis of deobfuscation stub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T1071.001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Application Layer Protocol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HTTP/HTTPS C2 with Malleable profile customization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JARM fingerprinting, behavioral beacon detection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T1001.003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Protocol Impersonation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Malleable C2 mimics legitimate HTTP traffic patterns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Deep packet inspection, content analysis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T1569.002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System Services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elevate svc-exe creates service for SYSTEM access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Service creation monitoring (Event ID 7045)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T1573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Encrypted Channel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HTTPS C2 with configurable SSL certificates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SSL inspection, JA3/JARM fingerprinting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T1105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Ingress Tool Transfer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Upload/download commands for file transfer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Network DLP, exfiltration monitoring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T1078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Valid Accounts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make_token, steal_token for credential reuse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Token impersonation detection (Event ID 4624)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T1021.002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SMB/Windows Admin Shares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jump psexec for lateral movement via SMB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SMB monitoring, lateral movement detection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</a:tbl>
          </a:graphicData>
        </a:graphic>
      </p:graphicFrame>
      <p:cxnSp>
        <p:nvCxnSpPr>
          <p:cNvPr id="270" name="Google Shape;270;p15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5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 / 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SRC-2026-0614-CSBEACON</a:t>
            </a:r>
            <a:endParaRPr b="0" i="0" sz="1400" u="none" cap="none" strike="noStrike"/>
          </a:p>
        </p:txBody>
      </p:sp>
      <p:sp>
        <p:nvSpPr>
          <p:cNvPr id="278" name="Google Shape;278;p16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79" name="Google Shape;279;p16"/>
          <p:cNvSpPr/>
          <p:nvPr/>
        </p:nvSpPr>
        <p:spPr>
          <a:xfrm>
            <a:off x="762000" y="762000"/>
            <a:ext cx="1397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SUMMARY: OFFENSIVE KNOWLEDGE FOR DEFENSE</a:t>
            </a:r>
            <a:endParaRPr b="0" i="0" sz="3600" u="none" cap="none" strike="noStrike"/>
          </a:p>
        </p:txBody>
      </p:sp>
      <p:cxnSp>
        <p:nvCxnSpPr>
          <p:cNvPr id="280" name="Google Shape;280;p16"/>
          <p:cNvCxnSpPr/>
          <p:nvPr/>
        </p:nvCxn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16"/>
          <p:cNvSpPr/>
          <p:nvPr/>
        </p:nvSpPr>
        <p:spPr>
          <a:xfrm>
            <a:off x="762000" y="17780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2800" u="none" cap="none" strike="noStrike"/>
          </a:p>
        </p:txBody>
      </p:sp>
      <p:sp>
        <p:nvSpPr>
          <p:cNvPr id="282" name="Google Shape;282;p16"/>
          <p:cNvSpPr/>
          <p:nvPr/>
        </p:nvSpPr>
        <p:spPr>
          <a:xfrm>
            <a:off x="1524000" y="17780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REFLECTIVE DLL = FILELESS BY DESIGN</a:t>
            </a:r>
            <a:endParaRPr b="0" i="0" sz="1800" u="none" cap="none" strike="noStrike"/>
          </a:p>
        </p:txBody>
      </p:sp>
      <p:sp>
        <p:nvSpPr>
          <p:cNvPr id="283" name="Google Shape;283;p16"/>
          <p:cNvSpPr/>
          <p:nvPr/>
        </p:nvSpPr>
        <p:spPr>
          <a:xfrm>
            <a:off x="1524000" y="2159000"/>
            <a:ext cx="5842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Beacon loads without touching disk via reflective loading. Detection must focus on memory-resident indicators, not file-based signatures.</a:t>
            </a:r>
            <a:endParaRPr b="0" i="0" sz="1500" u="none" cap="none" strike="noStrike"/>
          </a:p>
        </p:txBody>
      </p:sp>
      <p:sp>
        <p:nvSpPr>
          <p:cNvPr id="284" name="Google Shape;284;p16"/>
          <p:cNvSpPr/>
          <p:nvPr/>
        </p:nvSpPr>
        <p:spPr>
          <a:xfrm>
            <a:off x="8128000" y="17780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2800" u="none" cap="none" strike="noStrike"/>
          </a:p>
        </p:txBody>
      </p:sp>
      <p:sp>
        <p:nvSpPr>
          <p:cNvPr id="285" name="Google Shape;285;p16"/>
          <p:cNvSpPr/>
          <p:nvPr/>
        </p:nvSpPr>
        <p:spPr>
          <a:xfrm>
            <a:off x="8890000" y="17780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MALLEABLE C2 MIMICS LEGITIMATE TRAFFIC</a:t>
            </a:r>
            <a:endParaRPr b="0" i="0" sz="1800" u="none" cap="none" strike="noStrike"/>
          </a:p>
        </p:txBody>
      </p:sp>
      <p:sp>
        <p:nvSpPr>
          <p:cNvPr id="286" name="Google Shape;286;p16"/>
          <p:cNvSpPr/>
          <p:nvPr/>
        </p:nvSpPr>
        <p:spPr>
          <a:xfrm>
            <a:off x="8890000" y="2159000"/>
            <a:ext cx="6604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Well-engineered profiles make Beacon network traffic blend in. Detection must focus on behavioral patterns, not static signatures.</a:t>
            </a:r>
            <a:endParaRPr b="0" i="0" sz="1500" u="none" cap="none" strike="noStrike"/>
          </a:p>
        </p:txBody>
      </p:sp>
      <p:sp>
        <p:nvSpPr>
          <p:cNvPr id="287" name="Google Shape;287;p16"/>
          <p:cNvSpPr/>
          <p:nvPr/>
        </p:nvSpPr>
        <p:spPr>
          <a:xfrm>
            <a:off x="762000" y="33655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2800" u="none" cap="none" strike="noStrike"/>
          </a:p>
        </p:txBody>
      </p:sp>
      <p:sp>
        <p:nvSpPr>
          <p:cNvPr id="288" name="Google Shape;288;p16"/>
          <p:cNvSpPr/>
          <p:nvPr/>
        </p:nvSpPr>
        <p:spPr>
          <a:xfrm>
            <a:off x="1524000" y="33655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SLEEP MASKING DEFEATS YARA SCANNING</a:t>
            </a:r>
            <a:endParaRPr b="0" i="0" sz="1800" u="none" cap="none" strike="noStrike"/>
          </a:p>
        </p:txBody>
      </p:sp>
      <p:sp>
        <p:nvSpPr>
          <p:cNvPr id="289" name="Google Shape;289;p16"/>
          <p:cNvSpPr/>
          <p:nvPr/>
        </p:nvSpPr>
        <p:spPr>
          <a:xfrm>
            <a:off x="1524000" y="3746500"/>
            <a:ext cx="5842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XOR obfuscation during idle periods means Beacon is only visible during C2 communication. Scan on network activity triggers.</a:t>
            </a:r>
            <a:endParaRPr b="0" i="0" sz="1500" u="none" cap="none" strike="noStrike"/>
          </a:p>
        </p:txBody>
      </p:sp>
      <p:sp>
        <p:nvSpPr>
          <p:cNvPr id="290" name="Google Shape;290;p16"/>
          <p:cNvSpPr/>
          <p:nvPr/>
        </p:nvSpPr>
        <p:spPr>
          <a:xfrm>
            <a:off x="8128000" y="33655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2800" u="none" cap="none" strike="noStrike"/>
          </a:p>
        </p:txBody>
      </p:sp>
      <p:sp>
        <p:nvSpPr>
          <p:cNvPr id="291" name="Google Shape;291;p16"/>
          <p:cNvSpPr/>
          <p:nvPr/>
        </p:nvSpPr>
        <p:spPr>
          <a:xfrm>
            <a:off x="8890000" y="33655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MULTIPLE INJECTION TECHNIQUES</a:t>
            </a:r>
            <a:endParaRPr b="0" i="0" sz="1800" u="none" cap="none" strike="noStrike"/>
          </a:p>
        </p:txBody>
      </p:sp>
      <p:sp>
        <p:nvSpPr>
          <p:cNvPr id="292" name="Google Shape;292;p16"/>
          <p:cNvSpPr/>
          <p:nvPr/>
        </p:nvSpPr>
        <p:spPr>
          <a:xfrm>
            <a:off x="8890000" y="3746500"/>
            <a:ext cx="6604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single detection rule catches all injection methods. Monitor the full set: CreateThread, NtQueueApcThread, RtlCreateUserThread, SetThreadContext.</a:t>
            </a:r>
            <a:endParaRPr b="0" i="0" sz="1500" u="none" cap="none" strike="noStrike"/>
          </a:p>
        </p:txBody>
      </p:sp>
      <p:sp>
        <p:nvSpPr>
          <p:cNvPr id="293" name="Google Shape;293;p16"/>
          <p:cNvSpPr/>
          <p:nvPr/>
        </p:nvSpPr>
        <p:spPr>
          <a:xfrm>
            <a:off x="762000" y="49530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2800" u="none" cap="none" strike="noStrike"/>
          </a:p>
        </p:txBody>
      </p:sp>
      <p:sp>
        <p:nvSpPr>
          <p:cNvPr id="294" name="Google Shape;294;p16"/>
          <p:cNvSpPr/>
          <p:nvPr/>
        </p:nvSpPr>
        <p:spPr>
          <a:xfrm>
            <a:off x="1524000" y="4953000"/>
            <a:ext cx="1397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DEFAULT CONFIGURATIONS ARE COMMON</a:t>
            </a:r>
            <a:endParaRPr b="0" i="0" sz="1800" u="none" cap="none" strike="noStrike"/>
          </a:p>
        </p:txBody>
      </p:sp>
      <p:sp>
        <p:nvSpPr>
          <p:cNvPr id="295" name="Google Shape;295;p16"/>
          <p:cNvSpPr/>
          <p:nvPr/>
        </p:nvSpPr>
        <p:spPr>
          <a:xfrm>
            <a:off x="1524000" y="5334000"/>
            <a:ext cx="1397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Many operators don't customize pipe names (\\postex_*, \\MSSE-*) or spawnto (rundll32.exe). Hunt for these default indicators. JARM fingerprinting works regardless of profile customization — every Beacon has a recognizable TLS handshake fingerprint.</a:t>
            </a:r>
            <a:endParaRPr b="0" i="0" sz="1500" u="none" cap="none" strike="noStrike"/>
          </a:p>
        </p:txBody>
      </p:sp>
      <p:cxnSp>
        <p:nvCxnSpPr>
          <p:cNvPr id="296" name="Google Shape;296;p16"/>
          <p:cNvCxnSpPr/>
          <p:nvPr/>
        </p:nvCxnSpPr>
        <p:spPr>
          <a:xfrm>
            <a:off x="762000" y="6350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6"/>
          <p:cNvSpPr/>
          <p:nvPr/>
        </p:nvSpPr>
        <p:spPr>
          <a:xfrm>
            <a:off x="1270000" y="6604000"/>
            <a:ext cx="13716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Educational Research Notice</a:t>
            </a:r>
            <a:endParaRPr b="0" i="0" sz="1400" u="none" cap="none" strike="noStrike"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analysis covers Cobalt Strike's technical architecture for defensive detection purposes.</a:t>
            </a:r>
            <a:endParaRPr b="0" i="0" sz="1400" u="none" cap="none" strike="noStrike"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Cobalt Strike is a legitimate penetration testing tool — this research focuses on detecting its unauthorized abuse.</a:t>
            </a:r>
            <a:endParaRPr b="0" i="0" sz="1400" u="none" cap="none" strike="noStrike"/>
          </a:p>
        </p:txBody>
      </p:sp>
      <p:cxnSp>
        <p:nvCxnSpPr>
          <p:cNvPr id="298" name="Google Shape;298;p16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6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 / 14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