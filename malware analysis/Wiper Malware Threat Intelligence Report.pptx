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9144000" cx="16256000"/>
  <p:notesSz cx="9144000" cy="16256000"/>
  <p:embeddedFontLst>
    <p:embeddedFont>
      <p:font typeface="Liter"/>
      <p:regular r:id="rId17"/>
    </p:embeddedFont>
    <p:embeddedFont>
      <p:font typeface="Quattrocento Sans"/>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BBE9389-FC80-4B17-9EAB-D5C68AD6C392}">
  <a:tblStyle styleId="{DBBE9389-FC80-4B17-9EAB-D5C68AD6C39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QuattrocentoSans-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QuattrocentoSans-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Liter-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QuattrocentoSans-bold.fntdata"/><Relationship Id="rId6" Type="http://schemas.openxmlformats.org/officeDocument/2006/relationships/slide" Target="slides/slide1.xml"/><Relationship Id="rId18" Type="http://schemas.openxmlformats.org/officeDocument/2006/relationships/font" Target="fonts/QuattrocentoSans-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 name="Google Shape;4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418"/>
        </a:solidFill>
      </p:bgPr>
    </p:bg>
    <p:spTree>
      <p:nvGrpSpPr>
        <p:cNvPr id="15" name="Shape 15"/>
        <p:cNvGrpSpPr/>
        <p:nvPr/>
      </p:nvGrpSpPr>
      <p:grpSpPr>
        <a:xfrm>
          <a:off x="0" y="0"/>
          <a:ext cx="0" cy="0"/>
          <a:chOff x="0" y="0"/>
          <a:chExt cx="0" cy="0"/>
        </a:xfrm>
      </p:grpSpPr>
      <p:sp>
        <p:nvSpPr>
          <p:cNvPr id="16" name="Google Shape;16;p3"/>
          <p:cNvSpPr/>
          <p:nvPr/>
        </p:nvSpPr>
        <p:spPr>
          <a:xfrm>
            <a:off x="0" y="0"/>
            <a:ext cx="16256000" cy="3556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0" y="0"/>
            <a:ext cx="16256000" cy="3556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1200" u="none" cap="none" strike="noStrike">
                <a:solidFill>
                  <a:srgbClr val="FFFFFF"/>
                </a:solidFill>
                <a:latin typeface="Liter"/>
                <a:ea typeface="Liter"/>
                <a:cs typeface="Liter"/>
                <a:sym typeface="Liter"/>
              </a:rPr>
              <a:t>CONFIDENTIAL — DEFENSIVE THREAT INTELLIGENCE — EDUCATIONAL RESEARCH</a:t>
            </a:r>
            <a:endParaRPr b="0" i="0" sz="1200" u="none" cap="none" strike="noStrike"/>
          </a:p>
        </p:txBody>
      </p:sp>
      <p:sp>
        <p:nvSpPr>
          <p:cNvPr id="18" name="Google Shape;18;p3"/>
          <p:cNvSpPr/>
          <p:nvPr/>
        </p:nvSpPr>
        <p:spPr>
          <a:xfrm>
            <a:off x="1270000" y="2032000"/>
            <a:ext cx="13716000" cy="8255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4800" u="none" cap="none" strike="noStrike">
                <a:solidFill>
                  <a:srgbClr val="FFFFFF"/>
                </a:solidFill>
                <a:latin typeface="Liter"/>
                <a:ea typeface="Liter"/>
                <a:cs typeface="Liter"/>
                <a:sym typeface="Liter"/>
              </a:rPr>
              <a:t>WIPER MALWARE</a:t>
            </a:r>
            <a:endParaRPr b="0" i="0" sz="4800" u="none" cap="none" strike="noStrike"/>
          </a:p>
        </p:txBody>
      </p:sp>
      <p:sp>
        <p:nvSpPr>
          <p:cNvPr id="19" name="Google Shape;19;p3"/>
          <p:cNvSpPr/>
          <p:nvPr/>
        </p:nvSpPr>
        <p:spPr>
          <a:xfrm>
            <a:off x="1270000" y="2984500"/>
            <a:ext cx="13716000" cy="508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2400" u="none" cap="none" strike="noStrike">
                <a:solidFill>
                  <a:srgbClr val="8C95A5"/>
                </a:solidFill>
                <a:latin typeface="Quattrocento Sans"/>
                <a:ea typeface="Quattrocento Sans"/>
                <a:cs typeface="Quattrocento Sans"/>
                <a:sym typeface="Quattrocento Sans"/>
              </a:rPr>
              <a:t>DESTRUCTIVE MALWARE ANALYSIS</a:t>
            </a:r>
            <a:endParaRPr b="0" i="0" sz="2400" u="none" cap="none" strike="noStrike"/>
          </a:p>
        </p:txBody>
      </p:sp>
      <p:cxnSp>
        <p:nvCxnSpPr>
          <p:cNvPr id="20" name="Google Shape;20;p3"/>
          <p:cNvCxnSpPr/>
          <p:nvPr/>
        </p:nvCxnSpPr>
        <p:spPr>
          <a:xfrm>
            <a:off x="5588000" y="3810000"/>
            <a:ext cx="5080000" cy="0"/>
          </a:xfrm>
          <a:prstGeom prst="straightConnector1">
            <a:avLst/>
          </a:prstGeom>
          <a:noFill/>
          <a:ln cap="flat" cmpd="sng" w="12700">
            <a:solidFill>
              <a:srgbClr val="5A6070"/>
            </a:solidFill>
            <a:prstDash val="solid"/>
            <a:round/>
            <a:headEnd len="sm" w="sm" type="none"/>
            <a:tailEnd len="sm" w="sm" type="none"/>
          </a:ln>
        </p:spPr>
      </p:cxnSp>
      <p:sp>
        <p:nvSpPr>
          <p:cNvPr id="21" name="Google Shape;21;p3"/>
          <p:cNvSpPr/>
          <p:nvPr/>
        </p:nvSpPr>
        <p:spPr>
          <a:xfrm>
            <a:off x="2540000" y="4064000"/>
            <a:ext cx="11176000" cy="4445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2400" u="none" cap="none" strike="noStrike">
                <a:solidFill>
                  <a:srgbClr val="8C95A5"/>
                </a:solidFill>
                <a:latin typeface="Quattrocento Sans"/>
                <a:ea typeface="Quattrocento Sans"/>
                <a:cs typeface="Quattrocento Sans"/>
                <a:sym typeface="Quattrocento Sans"/>
              </a:rPr>
              <a:t>THREAT INTELLIGENCE REPORT</a:t>
            </a:r>
            <a:endParaRPr b="0" i="0" sz="2400" u="none" cap="none" strike="noStrike"/>
          </a:p>
        </p:txBody>
      </p:sp>
      <p:sp>
        <p:nvSpPr>
          <p:cNvPr id="22" name="Google Shape;22;p3"/>
          <p:cNvSpPr/>
          <p:nvPr/>
        </p:nvSpPr>
        <p:spPr>
          <a:xfrm>
            <a:off x="3048000" y="4699000"/>
            <a:ext cx="10160000" cy="3810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2000" u="none" cap="none" strike="noStrike">
                <a:solidFill>
                  <a:srgbClr val="8C95A5"/>
                </a:solidFill>
                <a:latin typeface="Quattrocento Sans"/>
                <a:ea typeface="Quattrocento Sans"/>
                <a:cs typeface="Quattrocento Sans"/>
                <a:sym typeface="Quattrocento Sans"/>
              </a:rPr>
              <a:t>Offensive-Informed Defensive Analysis</a:t>
            </a:r>
            <a:endParaRPr b="0" i="0" sz="2000" u="none" cap="none" strike="noStrike"/>
          </a:p>
        </p:txBody>
      </p:sp>
      <p:sp>
        <p:nvSpPr>
          <p:cNvPr id="23" name="Google Shape;23;p3"/>
          <p:cNvSpPr/>
          <p:nvPr/>
        </p:nvSpPr>
        <p:spPr>
          <a:xfrm>
            <a:off x="4318000" y="5588000"/>
            <a:ext cx="7620000" cy="2032000"/>
          </a:xfrm>
          <a:prstGeom prst="rect">
            <a:avLst/>
          </a:prstGeom>
          <a:solidFill>
            <a:srgbClr val="1A1D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4699000" y="5778500"/>
            <a:ext cx="6858000" cy="1651000"/>
          </a:xfrm>
          <a:prstGeom prst="rect">
            <a:avLst/>
          </a:prstGeom>
          <a:noFill/>
          <a:ln>
            <a:noFill/>
          </a:ln>
        </p:spPr>
        <p:txBody>
          <a:bodyPr anchorCtr="0" anchor="t" bIns="0" lIns="0" spcFirstLastPara="1" rIns="0" wrap="square" tIns="0">
            <a:noAutofit/>
          </a:bodyPr>
          <a:lstStyle/>
          <a:p>
            <a:pPr indent="0" lvl="0" marL="0" marR="0" rtl="0" algn="l">
              <a:lnSpc>
                <a:spcPct val="180000"/>
              </a:lnSpc>
              <a:spcBef>
                <a:spcPts val="0"/>
              </a:spcBef>
              <a:spcAft>
                <a:spcPts val="0"/>
              </a:spcAft>
              <a:buNone/>
            </a:pPr>
            <a:r>
              <a:rPr b="0" i="0" lang="en-US" sz="1600" u="none" cap="none" strike="noStrike">
                <a:solidFill>
                  <a:srgbClr val="8C95A5"/>
                </a:solidFill>
                <a:latin typeface="Quattrocento Sans"/>
                <a:ea typeface="Quattrocento Sans"/>
                <a:cs typeface="Quattrocento Sans"/>
                <a:sym typeface="Quattrocento Sans"/>
              </a:rPr>
              <a:t>REPORT ID</a:t>
            </a:r>
            <a:r>
              <a:rPr b="0" i="0" lang="en-US" sz="1600" u="none" cap="none" strike="noStrike">
                <a:solidFill>
                  <a:srgbClr val="E8ECF1"/>
                </a:solidFill>
                <a:latin typeface="Quattrocento Sans"/>
                <a:ea typeface="Quattrocento Sans"/>
                <a:cs typeface="Quattrocento Sans"/>
                <a:sym typeface="Quattrocento Sans"/>
              </a:rPr>
              <a:t>        SRC-2026-0614-WIPER</a:t>
            </a:r>
            <a:endParaRPr b="0" i="0" sz="1600" u="none" cap="none" strike="noStrike"/>
          </a:p>
          <a:p>
            <a:pPr indent="0" lvl="0" marL="0" marR="0" rtl="0" algn="l">
              <a:lnSpc>
                <a:spcPct val="180000"/>
              </a:lnSpc>
              <a:spcBef>
                <a:spcPts val="0"/>
              </a:spcBef>
              <a:spcAft>
                <a:spcPts val="0"/>
              </a:spcAft>
              <a:buNone/>
            </a:pPr>
            <a:r>
              <a:rPr b="0" i="0" lang="en-US" sz="1600" u="none" cap="none" strike="noStrike">
                <a:solidFill>
                  <a:srgbClr val="8C95A5"/>
                </a:solidFill>
                <a:latin typeface="Quattrocento Sans"/>
                <a:ea typeface="Quattrocento Sans"/>
                <a:cs typeface="Quattrocento Sans"/>
                <a:sym typeface="Quattrocento Sans"/>
              </a:rPr>
              <a:t>ANALYSIS DATE</a:t>
            </a:r>
            <a:r>
              <a:rPr b="0" i="0" lang="en-US" sz="1600" u="none" cap="none" strike="noStrike">
                <a:solidFill>
                  <a:srgbClr val="E8ECF1"/>
                </a:solidFill>
                <a:latin typeface="Quattrocento Sans"/>
                <a:ea typeface="Quattrocento Sans"/>
                <a:cs typeface="Quattrocento Sans"/>
                <a:sym typeface="Quattrocento Sans"/>
              </a:rPr>
              <a:t>     2026-06-14</a:t>
            </a:r>
            <a:endParaRPr b="0" i="0" sz="1600" u="none" cap="none" strike="noStrike"/>
          </a:p>
          <a:p>
            <a:pPr indent="0" lvl="0" marL="0" marR="0" rtl="0" algn="l">
              <a:lnSpc>
                <a:spcPct val="180000"/>
              </a:lnSpc>
              <a:spcBef>
                <a:spcPts val="0"/>
              </a:spcBef>
              <a:spcAft>
                <a:spcPts val="0"/>
              </a:spcAft>
              <a:buNone/>
            </a:pPr>
            <a:r>
              <a:rPr b="0" i="0" lang="en-US" sz="1600" u="none" cap="none" strike="noStrike">
                <a:solidFill>
                  <a:srgbClr val="8C95A5"/>
                </a:solidFill>
                <a:latin typeface="Quattrocento Sans"/>
                <a:ea typeface="Quattrocento Sans"/>
                <a:cs typeface="Quattrocento Sans"/>
                <a:sym typeface="Quattrocento Sans"/>
              </a:rPr>
              <a:t>FAMILIES</a:t>
            </a:r>
            <a:r>
              <a:rPr b="0" i="0" lang="en-US" sz="1600" u="none" cap="none" strike="noStrike">
                <a:solidFill>
                  <a:srgbClr val="E8ECF1"/>
                </a:solidFill>
                <a:latin typeface="Quattrocento Sans"/>
                <a:ea typeface="Quattrocento Sans"/>
                <a:cs typeface="Quattrocento Sans"/>
                <a:sym typeface="Quattrocento Sans"/>
              </a:rPr>
              <a:t>          NotPetya, KillDisk, Shamoon</a:t>
            </a:r>
            <a:endParaRPr b="0" i="0" sz="1600" u="none" cap="none" strike="noStrike"/>
          </a:p>
          <a:p>
            <a:pPr indent="0" lvl="0" marL="0" marR="0" rtl="0" algn="l">
              <a:lnSpc>
                <a:spcPct val="180000"/>
              </a:lnSpc>
              <a:spcBef>
                <a:spcPts val="0"/>
              </a:spcBef>
              <a:spcAft>
                <a:spcPts val="0"/>
              </a:spcAft>
              <a:buNone/>
            </a:pPr>
            <a:r>
              <a:rPr b="0" i="0" lang="en-US" sz="1600" u="none" cap="none" strike="noStrike">
                <a:solidFill>
                  <a:srgbClr val="8C95A5"/>
                </a:solidFill>
                <a:latin typeface="Quattrocento Sans"/>
                <a:ea typeface="Quattrocento Sans"/>
                <a:cs typeface="Quattrocento Sans"/>
                <a:sym typeface="Quattrocento Sans"/>
              </a:rPr>
              <a:t>CLASSIFICATION</a:t>
            </a:r>
            <a:r>
              <a:rPr b="0" i="0" lang="en-US" sz="1600" u="none" cap="none" strike="noStrike">
                <a:solidFill>
                  <a:srgbClr val="E8ECF1"/>
                </a:solidFill>
                <a:latin typeface="Quattrocento Sans"/>
                <a:ea typeface="Quattrocento Sans"/>
                <a:cs typeface="Quattrocento Sans"/>
                <a:sym typeface="Quattrocento Sans"/>
              </a:rPr>
              <a:t>    Defensive Threat Intelligence</a:t>
            </a:r>
            <a:endParaRPr b="0" i="0" sz="1600" u="none" cap="none" strike="noStrike"/>
          </a:p>
        </p:txBody>
      </p:sp>
      <p:sp>
        <p:nvSpPr>
          <p:cNvPr id="25" name="Google Shape;25;p3"/>
          <p:cNvSpPr/>
          <p:nvPr/>
        </p:nvSpPr>
        <p:spPr>
          <a:xfrm>
            <a:off x="0" y="8636000"/>
            <a:ext cx="16256000" cy="3175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D92525"/>
                </a:solidFill>
                <a:latin typeface="Quattrocento Sans"/>
                <a:ea typeface="Quattrocento Sans"/>
                <a:cs typeface="Quattrocento Sans"/>
                <a:sym typeface="Quattrocento Sans"/>
              </a:rPr>
              <a:t>EDUCATIONAL RESEARCH — OFFENSIVE ANALYSIS FOR DEFENSIVE PURPOSES ONLY</a:t>
            </a:r>
            <a:endParaRPr b="0" i="0" sz="1400" u="none" cap="none" strike="noStrike"/>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418"/>
        </a:solidFill>
      </p:bgPr>
    </p:bg>
    <p:spTree>
      <p:nvGrpSpPr>
        <p:cNvPr id="30" name="Shape 30"/>
        <p:cNvGrpSpPr/>
        <p:nvPr/>
      </p:nvGrpSpPr>
      <p:grpSpPr>
        <a:xfrm>
          <a:off x="0" y="0"/>
          <a:ext cx="0" cy="0"/>
          <a:chOff x="0" y="0"/>
          <a:chExt cx="0" cy="0"/>
        </a:xfrm>
      </p:grpSpPr>
      <p:sp>
        <p:nvSpPr>
          <p:cNvPr id="31" name="Google Shape;31;p4"/>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SRC-2026-0614-WIPER</a:t>
            </a:r>
            <a:endParaRPr b="0" i="0" sz="1400" u="none" cap="none" strike="noStrike"/>
          </a:p>
        </p:txBody>
      </p:sp>
      <p:sp>
        <p:nvSpPr>
          <p:cNvPr id="32" name="Google Shape;32;p4"/>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33" name="Google Shape;33;p4"/>
          <p:cNvSpPr/>
          <p:nvPr/>
        </p:nvSpPr>
        <p:spPr>
          <a:xfrm>
            <a:off x="762000" y="889000"/>
            <a:ext cx="6350000" cy="635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600" u="none" cap="none" strike="noStrike">
                <a:solidFill>
                  <a:srgbClr val="FFFFFF"/>
                </a:solidFill>
                <a:latin typeface="Liter"/>
                <a:ea typeface="Liter"/>
                <a:cs typeface="Liter"/>
                <a:sym typeface="Liter"/>
              </a:rPr>
              <a:t>TABLE OF CONTENTS</a:t>
            </a:r>
            <a:endParaRPr b="0" i="0" sz="3600" u="none" cap="none" strike="noStrike"/>
          </a:p>
        </p:txBody>
      </p:sp>
      <p:cxnSp>
        <p:nvCxnSpPr>
          <p:cNvPr id="34" name="Google Shape;34;p4"/>
          <p:cNvCxnSpPr/>
          <p:nvPr/>
        </p:nvCxnSpPr>
        <p:spPr>
          <a:xfrm>
            <a:off x="762000" y="1651000"/>
            <a:ext cx="14732000" cy="0"/>
          </a:xfrm>
          <a:prstGeom prst="straightConnector1">
            <a:avLst/>
          </a:prstGeom>
          <a:noFill/>
          <a:ln cap="flat" cmpd="sng" w="12700">
            <a:solidFill>
              <a:srgbClr val="5A6070"/>
            </a:solidFill>
            <a:prstDash val="solid"/>
            <a:round/>
            <a:headEnd len="sm" w="sm" type="none"/>
            <a:tailEnd len="sm" w="sm" type="none"/>
          </a:ln>
        </p:spPr>
      </p:cxnSp>
      <p:sp>
        <p:nvSpPr>
          <p:cNvPr id="35" name="Google Shape;35;p4"/>
          <p:cNvSpPr/>
          <p:nvPr/>
        </p:nvSpPr>
        <p:spPr>
          <a:xfrm>
            <a:off x="762000" y="2032000"/>
            <a:ext cx="889000" cy="635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600" u="none" cap="none" strike="noStrike">
                <a:solidFill>
                  <a:srgbClr val="D92525"/>
                </a:solidFill>
                <a:latin typeface="Liter"/>
                <a:ea typeface="Liter"/>
                <a:cs typeface="Liter"/>
                <a:sym typeface="Liter"/>
              </a:rPr>
              <a:t>01</a:t>
            </a:r>
            <a:endParaRPr b="0" i="0" sz="3600" u="none" cap="none" strike="noStrike"/>
          </a:p>
        </p:txBody>
      </p:sp>
      <p:sp>
        <p:nvSpPr>
          <p:cNvPr id="36" name="Google Shape;36;p4"/>
          <p:cNvSpPr/>
          <p:nvPr/>
        </p:nvSpPr>
        <p:spPr>
          <a:xfrm>
            <a:off x="1778000" y="2032000"/>
            <a:ext cx="6350000" cy="38100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None/>
            </a:pPr>
            <a:r>
              <a:rPr b="1" i="0" lang="en-US" sz="2200" u="none" cap="none" strike="noStrike">
                <a:solidFill>
                  <a:srgbClr val="FFFFFF"/>
                </a:solidFill>
                <a:latin typeface="Quattrocento Sans"/>
                <a:ea typeface="Quattrocento Sans"/>
                <a:cs typeface="Quattrocento Sans"/>
                <a:sym typeface="Quattrocento Sans"/>
              </a:rPr>
              <a:t>WIPER ARCHITECTURE</a:t>
            </a:r>
            <a:endParaRPr b="0" i="0" sz="2200" u="none" cap="none" strike="noStrike"/>
          </a:p>
        </p:txBody>
      </p:sp>
      <p:sp>
        <p:nvSpPr>
          <p:cNvPr id="37" name="Google Shape;37;p4"/>
          <p:cNvSpPr/>
          <p:nvPr/>
        </p:nvSpPr>
        <p:spPr>
          <a:xfrm>
            <a:off x="1778000" y="2476500"/>
            <a:ext cx="8890000" cy="317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Destruction techniques, MBR overwrite, MFT corruption, NotPetya analysis</a:t>
            </a:r>
            <a:endParaRPr b="0" i="0" sz="1400" u="none" cap="none" strike="noStrike"/>
          </a:p>
        </p:txBody>
      </p:sp>
      <p:sp>
        <p:nvSpPr>
          <p:cNvPr id="38" name="Google Shape;38;p4"/>
          <p:cNvSpPr/>
          <p:nvPr/>
        </p:nvSpPr>
        <p:spPr>
          <a:xfrm>
            <a:off x="762000" y="3238500"/>
            <a:ext cx="889000" cy="635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600" u="none" cap="none" strike="noStrike">
                <a:solidFill>
                  <a:srgbClr val="D92525"/>
                </a:solidFill>
                <a:latin typeface="Liter"/>
                <a:ea typeface="Liter"/>
                <a:cs typeface="Liter"/>
                <a:sym typeface="Liter"/>
              </a:rPr>
              <a:t>02</a:t>
            </a:r>
            <a:endParaRPr b="0" i="0" sz="3600" u="none" cap="none" strike="noStrike"/>
          </a:p>
        </p:txBody>
      </p:sp>
      <p:sp>
        <p:nvSpPr>
          <p:cNvPr id="39" name="Google Shape;39;p4"/>
          <p:cNvSpPr/>
          <p:nvPr/>
        </p:nvSpPr>
        <p:spPr>
          <a:xfrm>
            <a:off x="1778000" y="3238500"/>
            <a:ext cx="6350000" cy="38100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None/>
            </a:pPr>
            <a:r>
              <a:rPr b="1" i="0" lang="en-US" sz="2200" u="none" cap="none" strike="noStrike">
                <a:solidFill>
                  <a:srgbClr val="FFFFFF"/>
                </a:solidFill>
                <a:latin typeface="Quattrocento Sans"/>
                <a:ea typeface="Quattrocento Sans"/>
                <a:cs typeface="Quattrocento Sans"/>
                <a:sym typeface="Quattrocento Sans"/>
              </a:rPr>
              <a:t>TECHNICAL DEEP DIVES</a:t>
            </a:r>
            <a:endParaRPr b="0" i="0" sz="2200" u="none" cap="none" strike="noStrike"/>
          </a:p>
        </p:txBody>
      </p:sp>
      <p:sp>
        <p:nvSpPr>
          <p:cNvPr id="40" name="Google Shape;40;p4"/>
          <p:cNvSpPr/>
          <p:nvPr/>
        </p:nvSpPr>
        <p:spPr>
          <a:xfrm>
            <a:off x="1778000" y="3683000"/>
            <a:ext cx="8890000" cy="317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KillDisk ICS targeting, Shamoon APT campaigns, destructive code analysis</a:t>
            </a:r>
            <a:endParaRPr b="0" i="0" sz="1400" u="none" cap="none" strike="noStrike"/>
          </a:p>
        </p:txBody>
      </p:sp>
      <p:sp>
        <p:nvSpPr>
          <p:cNvPr id="41" name="Google Shape;41;p4"/>
          <p:cNvSpPr/>
          <p:nvPr/>
        </p:nvSpPr>
        <p:spPr>
          <a:xfrm>
            <a:off x="762000" y="4445000"/>
            <a:ext cx="889000" cy="635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600" u="none" cap="none" strike="noStrike">
                <a:solidFill>
                  <a:srgbClr val="D92525"/>
                </a:solidFill>
                <a:latin typeface="Liter"/>
                <a:ea typeface="Liter"/>
                <a:cs typeface="Liter"/>
                <a:sym typeface="Liter"/>
              </a:rPr>
              <a:t>03</a:t>
            </a:r>
            <a:endParaRPr b="0" i="0" sz="3600" u="none" cap="none" strike="noStrike"/>
          </a:p>
        </p:txBody>
      </p:sp>
      <p:sp>
        <p:nvSpPr>
          <p:cNvPr id="42" name="Google Shape;42;p4"/>
          <p:cNvSpPr/>
          <p:nvPr/>
        </p:nvSpPr>
        <p:spPr>
          <a:xfrm>
            <a:off x="1778000" y="4445000"/>
            <a:ext cx="6350000" cy="38100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None/>
            </a:pPr>
            <a:r>
              <a:rPr b="1" i="0" lang="en-US" sz="2200" u="none" cap="none" strike="noStrike">
                <a:solidFill>
                  <a:srgbClr val="FFFFFF"/>
                </a:solidFill>
                <a:latin typeface="Quattrocento Sans"/>
                <a:ea typeface="Quattrocento Sans"/>
                <a:cs typeface="Quattrocento Sans"/>
                <a:sym typeface="Quattrocento Sans"/>
              </a:rPr>
              <a:t>MITRE ATT&amp;CK MAPPING &amp; DEFENSIVE CONTROLS</a:t>
            </a:r>
            <a:endParaRPr b="0" i="0" sz="2200" u="none" cap="none" strike="noStrike"/>
          </a:p>
        </p:txBody>
      </p:sp>
      <p:sp>
        <p:nvSpPr>
          <p:cNvPr id="43" name="Google Shape;43;p4"/>
          <p:cNvSpPr/>
          <p:nvPr/>
        </p:nvSpPr>
        <p:spPr>
          <a:xfrm>
            <a:off x="1778000" y="4889500"/>
            <a:ext cx="8890000" cy="317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Comprehensive technique mapping with defensive control recommendations</a:t>
            </a:r>
            <a:endParaRPr b="0" i="0" sz="1400" u="none" cap="none" strike="noStrike"/>
          </a:p>
        </p:txBody>
      </p:sp>
      <p:cxnSp>
        <p:nvCxnSpPr>
          <p:cNvPr id="44" name="Google Shape;44;p4"/>
          <p:cNvCxnSpPr/>
          <p:nvPr/>
        </p:nvCxnSpPr>
        <p:spPr>
          <a:xfrm>
            <a:off x="762000" y="8763000"/>
            <a:ext cx="14732000" cy="0"/>
          </a:xfrm>
          <a:prstGeom prst="straightConnector1">
            <a:avLst/>
          </a:prstGeom>
          <a:noFill/>
          <a:ln cap="flat" cmpd="sng" w="12700">
            <a:solidFill>
              <a:srgbClr val="5A6070"/>
            </a:solidFill>
            <a:prstDash val="solid"/>
            <a:round/>
            <a:headEnd len="sm" w="sm" type="none"/>
            <a:tailEnd len="sm" w="sm" type="none"/>
          </a:ln>
        </p:spPr>
      </p:cxnSp>
      <p:sp>
        <p:nvSpPr>
          <p:cNvPr id="45" name="Google Shape;45;p4"/>
          <p:cNvSpPr/>
          <p:nvPr/>
        </p:nvSpPr>
        <p:spPr>
          <a:xfrm>
            <a:off x="7366000" y="88265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02 / 11</a:t>
            </a:r>
            <a:endParaRPr b="0" i="0" sz="1400" u="none" cap="none" strike="noStrike"/>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D21"/>
        </a:solidFill>
      </p:bgPr>
    </p:bg>
    <p:spTree>
      <p:nvGrpSpPr>
        <p:cNvPr id="50" name="Shape 50"/>
        <p:cNvGrpSpPr/>
        <p:nvPr/>
      </p:nvGrpSpPr>
      <p:grpSpPr>
        <a:xfrm>
          <a:off x="0" y="0"/>
          <a:ext cx="0" cy="0"/>
          <a:chOff x="0" y="0"/>
          <a:chExt cx="0" cy="0"/>
        </a:xfrm>
      </p:grpSpPr>
      <p:sp>
        <p:nvSpPr>
          <p:cNvPr id="51" name="Google Shape;51;p5"/>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SRC-2026-0614-WIPER</a:t>
            </a:r>
            <a:endParaRPr b="0" i="0" sz="1400" u="none" cap="none" strike="noStrike"/>
          </a:p>
        </p:txBody>
      </p:sp>
      <p:sp>
        <p:nvSpPr>
          <p:cNvPr id="52" name="Google Shape;52;p5"/>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53" name="Google Shape;53;p5"/>
          <p:cNvSpPr/>
          <p:nvPr/>
        </p:nvSpPr>
        <p:spPr>
          <a:xfrm>
            <a:off x="762000" y="2286000"/>
            <a:ext cx="2540000" cy="1016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7200" u="none" cap="none" strike="noStrike">
                <a:solidFill>
                  <a:srgbClr val="D92525"/>
                </a:solidFill>
                <a:latin typeface="Liter"/>
                <a:ea typeface="Liter"/>
                <a:cs typeface="Liter"/>
                <a:sym typeface="Liter"/>
              </a:rPr>
              <a:t>01</a:t>
            </a:r>
            <a:endParaRPr b="0" i="0" sz="7200" u="none" cap="none" strike="noStrike"/>
          </a:p>
        </p:txBody>
      </p:sp>
      <p:cxnSp>
        <p:nvCxnSpPr>
          <p:cNvPr id="54" name="Google Shape;54;p5"/>
          <p:cNvCxnSpPr/>
          <p:nvPr/>
        </p:nvCxnSpPr>
        <p:spPr>
          <a:xfrm>
            <a:off x="762000" y="3556000"/>
            <a:ext cx="2540000" cy="0"/>
          </a:xfrm>
          <a:prstGeom prst="straightConnector1">
            <a:avLst/>
          </a:prstGeom>
          <a:noFill/>
          <a:ln cap="flat" cmpd="sng" w="38100">
            <a:solidFill>
              <a:srgbClr val="D92525"/>
            </a:solidFill>
            <a:prstDash val="solid"/>
            <a:round/>
            <a:headEnd len="sm" w="sm" type="none"/>
            <a:tailEnd len="sm" w="sm" type="none"/>
          </a:ln>
        </p:spPr>
      </p:cxnSp>
      <p:sp>
        <p:nvSpPr>
          <p:cNvPr id="55" name="Google Shape;55;p5"/>
          <p:cNvSpPr/>
          <p:nvPr/>
        </p:nvSpPr>
        <p:spPr>
          <a:xfrm>
            <a:off x="762000" y="3810000"/>
            <a:ext cx="12700000" cy="698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4400" u="none" cap="none" strike="noStrike">
                <a:solidFill>
                  <a:srgbClr val="FFFFFF"/>
                </a:solidFill>
                <a:latin typeface="Liter"/>
                <a:ea typeface="Liter"/>
                <a:cs typeface="Liter"/>
                <a:sym typeface="Liter"/>
              </a:rPr>
              <a:t>WIPER ARCHITECTURE</a:t>
            </a:r>
            <a:endParaRPr b="0" i="0" sz="4400" u="none" cap="none" strike="noStrike"/>
          </a:p>
        </p:txBody>
      </p:sp>
      <p:sp>
        <p:nvSpPr>
          <p:cNvPr id="56" name="Google Shape;56;p5"/>
          <p:cNvSpPr/>
          <p:nvPr/>
        </p:nvSpPr>
        <p:spPr>
          <a:xfrm>
            <a:off x="762000" y="4699000"/>
            <a:ext cx="11430000" cy="444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2200" u="none" cap="none" strike="noStrike">
                <a:solidFill>
                  <a:srgbClr val="8C95A5"/>
                </a:solidFill>
                <a:latin typeface="Quattrocento Sans"/>
                <a:ea typeface="Quattrocento Sans"/>
                <a:cs typeface="Quattrocento Sans"/>
                <a:sym typeface="Quattrocento Sans"/>
              </a:rPr>
              <a:t>Destructive Malware | Data Destruction | Physical Damage Techniques</a:t>
            </a:r>
            <a:endParaRPr b="0" i="0" sz="2200" u="none" cap="none" strike="noStrike"/>
          </a:p>
        </p:txBody>
      </p:sp>
      <p:sp>
        <p:nvSpPr>
          <p:cNvPr id="57" name="Google Shape;57;p5"/>
          <p:cNvSpPr/>
          <p:nvPr/>
        </p:nvSpPr>
        <p:spPr>
          <a:xfrm>
            <a:off x="762000" y="5842000"/>
            <a:ext cx="10160000" cy="2159000"/>
          </a:xfrm>
          <a:prstGeom prst="rect">
            <a:avLst/>
          </a:prstGeom>
          <a:noFill/>
          <a:ln>
            <a:noFill/>
          </a:ln>
        </p:spPr>
        <p:txBody>
          <a:bodyPr anchorCtr="0" anchor="t" bIns="0" lIns="0" spcFirstLastPara="1" rIns="0" wrap="square" tIns="0">
            <a:noAutofit/>
          </a:bodyPr>
          <a:lstStyle/>
          <a:p>
            <a:pPr indent="0" lvl="0" marL="0" marR="0" rtl="0" algn="l">
              <a:lnSpc>
                <a:spcPct val="180000"/>
              </a:lnSpc>
              <a:spcBef>
                <a:spcPts val="0"/>
              </a:spcBef>
              <a:spcAft>
                <a:spcPts val="0"/>
              </a:spcAft>
              <a:buNone/>
            </a:pPr>
            <a:r>
              <a:rPr b="1" i="0" lang="en-US" sz="1600" u="none" cap="none" strike="noStrike">
                <a:solidFill>
                  <a:srgbClr val="8C95A5"/>
                </a:solidFill>
                <a:latin typeface="Quattrocento Sans"/>
                <a:ea typeface="Quattrocento Sans"/>
                <a:cs typeface="Quattrocento Sans"/>
                <a:sym typeface="Quattrocento Sans"/>
              </a:rPr>
              <a:t>THREAT PROFILE:</a:t>
            </a:r>
            <a:r>
              <a:rPr b="0" i="0" lang="en-US" sz="1600" u="none" cap="none" strike="noStrike">
                <a:solidFill>
                  <a:srgbClr val="8C95A5"/>
                </a:solidFill>
                <a:latin typeface="Quattrocento Sans"/>
                <a:ea typeface="Quattrocento Sans"/>
                <a:cs typeface="Quattrocento Sans"/>
                <a:sym typeface="Quattrocento Sans"/>
              </a:rPr>
              <a:t> Destructive Malware / Wiper</a:t>
            </a:r>
            <a:endParaRPr b="0" i="0" sz="1600" u="none" cap="none" strike="noStrike"/>
          </a:p>
          <a:p>
            <a:pPr indent="0" lvl="0" marL="0" marR="0" rtl="0" algn="l">
              <a:lnSpc>
                <a:spcPct val="180000"/>
              </a:lnSpc>
              <a:spcBef>
                <a:spcPts val="0"/>
              </a:spcBef>
              <a:spcAft>
                <a:spcPts val="0"/>
              </a:spcAft>
              <a:buNone/>
            </a:pPr>
            <a:r>
              <a:rPr b="1" i="0" lang="en-US" sz="1600" u="none" cap="none" strike="noStrike">
                <a:solidFill>
                  <a:srgbClr val="8C95A5"/>
                </a:solidFill>
                <a:latin typeface="Quattrocento Sans"/>
                <a:ea typeface="Quattrocento Sans"/>
                <a:cs typeface="Quattrocento Sans"/>
                <a:sym typeface="Quattrocento Sans"/>
              </a:rPr>
              <a:t>Families:</a:t>
            </a:r>
            <a:r>
              <a:rPr b="0" i="0" lang="en-US" sz="1600" u="none" cap="none" strike="noStrike">
                <a:solidFill>
                  <a:srgbClr val="8C95A5"/>
                </a:solidFill>
                <a:latin typeface="Quattrocento Sans"/>
                <a:ea typeface="Quattrocento Sans"/>
                <a:cs typeface="Quattrocento Sans"/>
                <a:sym typeface="Quattrocento Sans"/>
              </a:rPr>
              <a:t> NotPetya (2017), KillDisk (2015-2022), Shamoon (2012-2018)</a:t>
            </a:r>
            <a:endParaRPr b="0" i="0" sz="1600" u="none" cap="none" strike="noStrike"/>
          </a:p>
          <a:p>
            <a:pPr indent="0" lvl="0" marL="0" marR="0" rtl="0" algn="l">
              <a:lnSpc>
                <a:spcPct val="180000"/>
              </a:lnSpc>
              <a:spcBef>
                <a:spcPts val="0"/>
              </a:spcBef>
              <a:spcAft>
                <a:spcPts val="0"/>
              </a:spcAft>
              <a:buNone/>
            </a:pPr>
            <a:r>
              <a:rPr b="1" i="0" lang="en-US" sz="1600" u="none" cap="none" strike="noStrike">
                <a:solidFill>
                  <a:srgbClr val="8C95A5"/>
                </a:solidFill>
                <a:latin typeface="Quattrocento Sans"/>
                <a:ea typeface="Quattrocento Sans"/>
                <a:cs typeface="Quattrocento Sans"/>
                <a:sym typeface="Quattrocento Sans"/>
              </a:rPr>
              <a:t>Language:</a:t>
            </a:r>
            <a:r>
              <a:rPr b="0" i="0" lang="en-US" sz="1600" u="none" cap="none" strike="noStrike">
                <a:solidFill>
                  <a:srgbClr val="8C95A5"/>
                </a:solidFill>
                <a:latin typeface="Quattrocento Sans"/>
                <a:ea typeface="Quattrocento Sans"/>
                <a:cs typeface="Quattrocento Sans"/>
                <a:sym typeface="Quattrocento Sans"/>
              </a:rPr>
              <a:t> C/C++ | </a:t>
            </a:r>
            <a:r>
              <a:rPr b="1" i="0" lang="en-US" sz="1600" u="none" cap="none" strike="noStrike">
                <a:solidFill>
                  <a:srgbClr val="8C95A5"/>
                </a:solidFill>
                <a:latin typeface="Quattrocento Sans"/>
                <a:ea typeface="Quattrocento Sans"/>
                <a:cs typeface="Quattrocento Sans"/>
                <a:sym typeface="Quattrocento Sans"/>
              </a:rPr>
              <a:t>Target:</a:t>
            </a:r>
            <a:r>
              <a:rPr b="0" i="0" lang="en-US" sz="1600" u="none" cap="none" strike="noStrike">
                <a:solidFill>
                  <a:srgbClr val="8C95A5"/>
                </a:solidFill>
                <a:latin typeface="Quattrocento Sans"/>
                <a:ea typeface="Quattrocento Sans"/>
                <a:cs typeface="Quattrocento Sans"/>
                <a:sym typeface="Quattrocento Sans"/>
              </a:rPr>
              <a:t> Windows, Linux (KillDisk variants)</a:t>
            </a:r>
            <a:endParaRPr b="0" i="0" sz="1600" u="none" cap="none" strike="noStrike"/>
          </a:p>
          <a:p>
            <a:pPr indent="0" lvl="0" marL="0" marR="0" rtl="0" algn="l">
              <a:lnSpc>
                <a:spcPct val="180000"/>
              </a:lnSpc>
              <a:spcBef>
                <a:spcPts val="0"/>
              </a:spcBef>
              <a:spcAft>
                <a:spcPts val="0"/>
              </a:spcAft>
              <a:buNone/>
            </a:pPr>
            <a:r>
              <a:rPr b="1" i="0" lang="en-US" sz="1600" u="none" cap="none" strike="noStrike">
                <a:solidFill>
                  <a:srgbClr val="8C95A5"/>
                </a:solidFill>
                <a:latin typeface="Quattrocento Sans"/>
                <a:ea typeface="Quattrocento Sans"/>
                <a:cs typeface="Quattrocento Sans"/>
                <a:sym typeface="Quattrocento Sans"/>
              </a:rPr>
              <a:t>Impact:</a:t>
            </a:r>
            <a:r>
              <a:rPr b="0" i="0" lang="en-US" sz="1600" u="none" cap="none" strike="noStrike">
                <a:solidFill>
                  <a:srgbClr val="8C95A5"/>
                </a:solidFill>
                <a:latin typeface="Quattrocento Sans"/>
                <a:ea typeface="Quattrocento Sans"/>
                <a:cs typeface="Quattrocento Sans"/>
                <a:sym typeface="Quattrocento Sans"/>
              </a:rPr>
              <a:t> Permanent data destruction, $10B+ in damages (NotPetya)</a:t>
            </a:r>
            <a:endParaRPr b="0" i="0" sz="1600" u="none" cap="none" strike="noStrike"/>
          </a:p>
        </p:txBody>
      </p:sp>
      <p:cxnSp>
        <p:nvCxnSpPr>
          <p:cNvPr id="58" name="Google Shape;58;p5"/>
          <p:cNvCxnSpPr/>
          <p:nvPr/>
        </p:nvCxnSpPr>
        <p:spPr>
          <a:xfrm>
            <a:off x="762000" y="8763000"/>
            <a:ext cx="14732000" cy="0"/>
          </a:xfrm>
          <a:prstGeom prst="straightConnector1">
            <a:avLst/>
          </a:prstGeom>
          <a:noFill/>
          <a:ln cap="flat" cmpd="sng" w="12700">
            <a:solidFill>
              <a:srgbClr val="5A6070"/>
            </a:solidFill>
            <a:prstDash val="solid"/>
            <a:round/>
            <a:headEnd len="sm" w="sm" type="none"/>
            <a:tailEnd len="sm" w="sm" type="none"/>
          </a:ln>
        </p:spPr>
      </p:cxnSp>
      <p:sp>
        <p:nvSpPr>
          <p:cNvPr id="59" name="Google Shape;59;p5"/>
          <p:cNvSpPr/>
          <p:nvPr/>
        </p:nvSpPr>
        <p:spPr>
          <a:xfrm>
            <a:off x="7366000" y="88265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03 / 11</a:t>
            </a:r>
            <a:endParaRPr b="0" i="0" sz="1400" u="none" cap="none" strike="noStrike"/>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418"/>
        </a:solidFill>
      </p:bgPr>
    </p:bg>
    <p:spTree>
      <p:nvGrpSpPr>
        <p:cNvPr id="64" name="Shape 64"/>
        <p:cNvGrpSpPr/>
        <p:nvPr/>
      </p:nvGrpSpPr>
      <p:grpSpPr>
        <a:xfrm>
          <a:off x="0" y="0"/>
          <a:ext cx="0" cy="0"/>
          <a:chOff x="0" y="0"/>
          <a:chExt cx="0" cy="0"/>
        </a:xfrm>
      </p:grpSpPr>
      <p:sp>
        <p:nvSpPr>
          <p:cNvPr id="65" name="Google Shape;65;p6"/>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SRC-2026-0614-WIPER</a:t>
            </a:r>
            <a:endParaRPr b="0" i="0" sz="1400" u="none" cap="none" strike="noStrike"/>
          </a:p>
        </p:txBody>
      </p:sp>
      <p:sp>
        <p:nvSpPr>
          <p:cNvPr id="66" name="Google Shape;66;p6"/>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67" name="Google Shape;67;p6"/>
          <p:cNvSpPr/>
          <p:nvPr/>
        </p:nvSpPr>
        <p:spPr>
          <a:xfrm>
            <a:off x="762000" y="698500"/>
            <a:ext cx="14732000" cy="482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600" u="none" cap="none" strike="noStrike">
                <a:solidFill>
                  <a:srgbClr val="FFFFFF"/>
                </a:solidFill>
                <a:latin typeface="Liter"/>
                <a:ea typeface="Liter"/>
                <a:cs typeface="Liter"/>
                <a:sym typeface="Liter"/>
              </a:rPr>
              <a:t>Wiper Malware — Destructive Attacks Beyond Ransomware</a:t>
            </a:r>
            <a:endParaRPr b="0" i="0" sz="2600" u="none" cap="none" strike="noStrike"/>
          </a:p>
        </p:txBody>
      </p:sp>
      <p:cxnSp>
        <p:nvCxnSpPr>
          <p:cNvPr id="68" name="Google Shape;68;p6"/>
          <p:cNvCxnSpPr/>
          <p:nvPr/>
        </p:nvCxnSpPr>
        <p:spPr>
          <a:xfrm>
            <a:off x="762000" y="1244600"/>
            <a:ext cx="14732000" cy="0"/>
          </a:xfrm>
          <a:prstGeom prst="straightConnector1">
            <a:avLst/>
          </a:prstGeom>
          <a:noFill/>
          <a:ln cap="flat" cmpd="sng" w="12700">
            <a:solidFill>
              <a:srgbClr val="5A6070"/>
            </a:solidFill>
            <a:prstDash val="solid"/>
            <a:round/>
            <a:headEnd len="sm" w="sm" type="none"/>
            <a:tailEnd len="sm" w="sm" type="none"/>
          </a:ln>
        </p:spPr>
      </p:cxnSp>
      <p:sp>
        <p:nvSpPr>
          <p:cNvPr id="69" name="Google Shape;69;p6"/>
          <p:cNvSpPr/>
          <p:nvPr/>
        </p:nvSpPr>
        <p:spPr>
          <a:xfrm>
            <a:off x="762000" y="1397000"/>
            <a:ext cx="14732000" cy="8255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1300" u="none" cap="none" strike="noStrike">
                <a:solidFill>
                  <a:srgbClr val="E8ECF1"/>
                </a:solidFill>
                <a:latin typeface="Quattrocento Sans"/>
                <a:ea typeface="Quattrocento Sans"/>
                <a:cs typeface="Quattrocento Sans"/>
                <a:sym typeface="Quattrocento Sans"/>
              </a:rPr>
              <a:t>Unlike ransomware which encrypts data for extortion, </a:t>
            </a:r>
            <a:r>
              <a:rPr b="1" i="0" lang="en-US" sz="1300" u="none" cap="none" strike="noStrike">
                <a:solidFill>
                  <a:srgbClr val="E8ECF1"/>
                </a:solidFill>
                <a:latin typeface="Quattrocento Sans"/>
                <a:ea typeface="Quattrocento Sans"/>
                <a:cs typeface="Quattrocento Sans"/>
                <a:sym typeface="Quattrocento Sans"/>
              </a:rPr>
              <a:t>wiper malware permanently destroys data</a:t>
            </a:r>
            <a:r>
              <a:rPr b="0" i="0" lang="en-US" sz="1300" u="none" cap="none" strike="noStrike">
                <a:solidFill>
                  <a:srgbClr val="E8ECF1"/>
                </a:solidFill>
                <a:latin typeface="Quattrocento Sans"/>
                <a:ea typeface="Quattrocento Sans"/>
                <a:cs typeface="Quattrocento Sans"/>
                <a:sym typeface="Quattrocento Sans"/>
              </a:rPr>
              <a:t> with no recovery mechanism. Wiper families include NotPetya (2017), KillDisk (2015-2022), Shamoon (2012-2018), and DestOver (2014). These tools overwrite the MBR, corrupt file systems, and destroy files irreversibly.</a:t>
            </a:r>
            <a:endParaRPr b="0" i="0" sz="1300" u="none" cap="none" strike="noStrike"/>
          </a:p>
        </p:txBody>
      </p:sp>
      <p:sp>
        <p:nvSpPr>
          <p:cNvPr id="70" name="Google Shape;70;p6"/>
          <p:cNvSpPr/>
          <p:nvPr/>
        </p:nvSpPr>
        <p:spPr>
          <a:xfrm>
            <a:off x="762000" y="2387600"/>
            <a:ext cx="7620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Ransomware vs. Wiper — Key Differences</a:t>
            </a:r>
            <a:endParaRPr b="0" i="0" sz="1800" u="none" cap="none" strike="noStrike"/>
          </a:p>
        </p:txBody>
      </p:sp>
      <p:graphicFrame>
        <p:nvGraphicFramePr>
          <p:cNvPr id="71" name="Google Shape;71;p6"/>
          <p:cNvGraphicFramePr/>
          <p:nvPr/>
        </p:nvGraphicFramePr>
        <p:xfrm>
          <a:off x="762000" y="2819400"/>
          <a:ext cx="3000000" cy="3000000"/>
        </p:xfrm>
        <a:graphic>
          <a:graphicData uri="http://schemas.openxmlformats.org/drawingml/2006/table">
            <a:tbl>
              <a:tblPr>
                <a:noFill/>
                <a:tableStyleId>{DBBE9389-FC80-4B17-9EAB-D5C68AD6C392}</a:tableStyleId>
              </a:tblPr>
              <a:tblGrid>
                <a:gridCol w="3683000"/>
                <a:gridCol w="5524500"/>
                <a:gridCol w="5524500"/>
              </a:tblGrid>
              <a:tr h="419100">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ATTRIBUTE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RANSOMWARE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WIPER</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r>
              <a:tr h="495300">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Objective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Encrypt files for ransom payment</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Permanently destroy data</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495300">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Recovery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Possible with decryption key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No recovery — data is gone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r h="495300">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Attribution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Financially motivated criminals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Nation-state actors, sabotage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bl>
          </a:graphicData>
        </a:graphic>
      </p:graphicFrame>
      <p:sp>
        <p:nvSpPr>
          <p:cNvPr id="72" name="Google Shape;72;p6"/>
          <p:cNvSpPr/>
          <p:nvPr/>
        </p:nvSpPr>
        <p:spPr>
          <a:xfrm>
            <a:off x="762000" y="5016500"/>
            <a:ext cx="7620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Major Wiper Families</a:t>
            </a:r>
            <a:endParaRPr b="0" i="0" sz="1800" u="none" cap="none" strike="noStrike"/>
          </a:p>
        </p:txBody>
      </p:sp>
      <p:sp>
        <p:nvSpPr>
          <p:cNvPr id="73" name="Google Shape;73;p6"/>
          <p:cNvSpPr/>
          <p:nvPr/>
        </p:nvSpPr>
        <p:spPr>
          <a:xfrm>
            <a:off x="762000" y="5461000"/>
            <a:ext cx="4699000" cy="13970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p:nvPr/>
        </p:nvSpPr>
        <p:spPr>
          <a:xfrm>
            <a:off x="762000" y="5461000"/>
            <a:ext cx="50800" cy="13970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p:nvPr/>
        </p:nvSpPr>
        <p:spPr>
          <a:xfrm>
            <a:off x="1016000" y="5562600"/>
            <a:ext cx="4254500" cy="1206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400" u="none" cap="none" strike="noStrike">
                <a:solidFill>
                  <a:srgbClr val="E8ECF1"/>
                </a:solidFill>
                <a:latin typeface="Quattrocento Sans"/>
                <a:ea typeface="Quattrocento Sans"/>
                <a:cs typeface="Quattrocento Sans"/>
                <a:sym typeface="Quattrocento Sans"/>
              </a:rPr>
              <a:t>NotPetya (2017)</a:t>
            </a:r>
            <a:endParaRPr b="0" i="0" sz="1400" u="none" cap="none" strike="noStrike"/>
          </a:p>
          <a:p>
            <a:pPr indent="0" lvl="0" marL="0" marR="0" rtl="0" algn="l">
              <a:lnSpc>
                <a:spcPct val="150000"/>
              </a:lnSpc>
              <a:spcBef>
                <a:spcPts val="0"/>
              </a:spcBef>
              <a:spcAft>
                <a:spcPts val="0"/>
              </a:spcAft>
              <a:buNone/>
            </a:pPr>
            <a:r>
              <a:rPr b="0" i="0" lang="en-US" sz="1400" u="none" cap="none" strike="noStrike">
                <a:solidFill>
                  <a:srgbClr val="E8ECF1"/>
                </a:solidFill>
                <a:latin typeface="Quattrocento Sans"/>
                <a:ea typeface="Quattrocento Sans"/>
                <a:cs typeface="Quattrocento Sans"/>
                <a:sym typeface="Quattrocento Sans"/>
              </a:rPr>
              <a:t>Disguised as ransomware but was a wiper. Used EternalBlue to spread. $10B+ damages. Targeted Ukraine, spread globally.</a:t>
            </a:r>
            <a:endParaRPr b="0" i="0" sz="1400" u="none" cap="none" strike="noStrike"/>
          </a:p>
        </p:txBody>
      </p:sp>
      <p:sp>
        <p:nvSpPr>
          <p:cNvPr id="76" name="Google Shape;76;p6"/>
          <p:cNvSpPr/>
          <p:nvPr/>
        </p:nvSpPr>
        <p:spPr>
          <a:xfrm>
            <a:off x="5778500" y="5461000"/>
            <a:ext cx="4699000" cy="13970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
          <p:cNvSpPr/>
          <p:nvPr/>
        </p:nvSpPr>
        <p:spPr>
          <a:xfrm>
            <a:off x="5778500" y="5461000"/>
            <a:ext cx="50800" cy="13970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a:off x="6032500" y="5562600"/>
            <a:ext cx="4254500" cy="1206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400" u="none" cap="none" strike="noStrike">
                <a:solidFill>
                  <a:srgbClr val="E8ECF1"/>
                </a:solidFill>
                <a:latin typeface="Quattrocento Sans"/>
                <a:ea typeface="Quattrocento Sans"/>
                <a:cs typeface="Quattrocento Sans"/>
                <a:sym typeface="Quattrocento Sans"/>
              </a:rPr>
              <a:t>KillDisk (2015-2022)</a:t>
            </a:r>
            <a:endParaRPr b="0" i="0" sz="1400" u="none" cap="none" strike="noStrike"/>
          </a:p>
          <a:p>
            <a:pPr indent="0" lvl="0" marL="0" marR="0" rtl="0" algn="l">
              <a:lnSpc>
                <a:spcPct val="150000"/>
              </a:lnSpc>
              <a:spcBef>
                <a:spcPts val="0"/>
              </a:spcBef>
              <a:spcAft>
                <a:spcPts val="0"/>
              </a:spcAft>
              <a:buNone/>
            </a:pPr>
            <a:r>
              <a:rPr b="0" i="0" lang="en-US" sz="1400" u="none" cap="none" strike="noStrike">
                <a:solidFill>
                  <a:srgbClr val="E8ECF1"/>
                </a:solidFill>
                <a:latin typeface="Quattrocento Sans"/>
                <a:ea typeface="Quattrocento Sans"/>
                <a:cs typeface="Quattrocento Sans"/>
                <a:sym typeface="Quattrocento Sans"/>
              </a:rPr>
              <a:t>Targeted Ukrainian energy sector. Overwrites MBR with nationalist message. Later variants targeted Linux and industrial control systems.</a:t>
            </a:r>
            <a:endParaRPr b="0" i="0" sz="1400" u="none" cap="none" strike="noStrike"/>
          </a:p>
        </p:txBody>
      </p:sp>
      <p:sp>
        <p:nvSpPr>
          <p:cNvPr id="79" name="Google Shape;79;p6"/>
          <p:cNvSpPr/>
          <p:nvPr/>
        </p:nvSpPr>
        <p:spPr>
          <a:xfrm>
            <a:off x="10795000" y="5461000"/>
            <a:ext cx="4699000" cy="13970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p:nvPr/>
        </p:nvSpPr>
        <p:spPr>
          <a:xfrm>
            <a:off x="10795000" y="5461000"/>
            <a:ext cx="50800" cy="13970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p:cNvSpPr/>
          <p:nvPr/>
        </p:nvSpPr>
        <p:spPr>
          <a:xfrm>
            <a:off x="11049000" y="5562600"/>
            <a:ext cx="4254500" cy="1206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400" u="none" cap="none" strike="noStrike">
                <a:solidFill>
                  <a:srgbClr val="E8ECF1"/>
                </a:solidFill>
                <a:latin typeface="Quattrocento Sans"/>
                <a:ea typeface="Quattrocento Sans"/>
                <a:cs typeface="Quattrocento Sans"/>
                <a:sym typeface="Quattrocento Sans"/>
              </a:rPr>
              <a:t>Shamoon (2012-2018)</a:t>
            </a:r>
            <a:endParaRPr b="0" i="0" sz="1400" u="none" cap="none" strike="noStrike"/>
          </a:p>
          <a:p>
            <a:pPr indent="0" lvl="0" marL="0" marR="0" rtl="0" algn="l">
              <a:lnSpc>
                <a:spcPct val="150000"/>
              </a:lnSpc>
              <a:spcBef>
                <a:spcPts val="0"/>
              </a:spcBef>
              <a:spcAft>
                <a:spcPts val="0"/>
              </a:spcAft>
              <a:buNone/>
            </a:pPr>
            <a:r>
              <a:rPr b="0" i="0" lang="en-US" sz="1400" u="none" cap="none" strike="noStrike">
                <a:solidFill>
                  <a:srgbClr val="E8ECF1"/>
                </a:solidFill>
                <a:latin typeface="Quattrocento Sans"/>
                <a:ea typeface="Quattrocento Sans"/>
                <a:cs typeface="Quattrocento Sans"/>
                <a:sym typeface="Quattrocento Sans"/>
              </a:rPr>
              <a:t>Iranian APT-associated wiper. Overwrites files with corrupted images. Stolen certificates. Targeted Saudi energy and manufacturing sectors.</a:t>
            </a:r>
            <a:endParaRPr b="0" i="0" sz="1400" u="none" cap="none" strike="noStrike"/>
          </a:p>
        </p:txBody>
      </p:sp>
      <p:cxnSp>
        <p:nvCxnSpPr>
          <p:cNvPr id="82" name="Google Shape;82;p6"/>
          <p:cNvCxnSpPr/>
          <p:nvPr/>
        </p:nvCxnSpPr>
        <p:spPr>
          <a:xfrm>
            <a:off x="762000" y="8763000"/>
            <a:ext cx="14732000" cy="0"/>
          </a:xfrm>
          <a:prstGeom prst="straightConnector1">
            <a:avLst/>
          </a:prstGeom>
          <a:noFill/>
          <a:ln cap="flat" cmpd="sng" w="12700">
            <a:solidFill>
              <a:srgbClr val="5A6070"/>
            </a:solidFill>
            <a:prstDash val="solid"/>
            <a:round/>
            <a:headEnd len="sm" w="sm" type="none"/>
            <a:tailEnd len="sm" w="sm" type="none"/>
          </a:ln>
        </p:spPr>
      </p:cxnSp>
      <p:sp>
        <p:nvSpPr>
          <p:cNvPr id="83" name="Google Shape;83;p6"/>
          <p:cNvSpPr/>
          <p:nvPr/>
        </p:nvSpPr>
        <p:spPr>
          <a:xfrm>
            <a:off x="7366000" y="88265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04 / 11</a:t>
            </a:r>
            <a:endParaRPr b="0" i="0" sz="1400" u="none" cap="none" strike="noStrike"/>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418"/>
        </a:solidFill>
      </p:bgPr>
    </p:bg>
    <p:spTree>
      <p:nvGrpSpPr>
        <p:cNvPr id="88" name="Shape 88"/>
        <p:cNvGrpSpPr/>
        <p:nvPr/>
      </p:nvGrpSpPr>
      <p:grpSpPr>
        <a:xfrm>
          <a:off x="0" y="0"/>
          <a:ext cx="0" cy="0"/>
          <a:chOff x="0" y="0"/>
          <a:chExt cx="0" cy="0"/>
        </a:xfrm>
      </p:grpSpPr>
      <p:sp>
        <p:nvSpPr>
          <p:cNvPr id="89" name="Google Shape;89;p7"/>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SRC-2026-0614-WIPER</a:t>
            </a:r>
            <a:endParaRPr b="0" i="0" sz="1400" u="none" cap="none" strike="noStrike"/>
          </a:p>
        </p:txBody>
      </p:sp>
      <p:sp>
        <p:nvSpPr>
          <p:cNvPr id="90" name="Google Shape;90;p7"/>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91" name="Google Shape;91;p7"/>
          <p:cNvSpPr/>
          <p:nvPr/>
        </p:nvSpPr>
        <p:spPr>
          <a:xfrm>
            <a:off x="762000" y="698500"/>
            <a:ext cx="14732000" cy="482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600" u="none" cap="none" strike="noStrike">
                <a:solidFill>
                  <a:srgbClr val="FFFFFF"/>
                </a:solidFill>
                <a:latin typeface="Liter"/>
                <a:ea typeface="Liter"/>
                <a:cs typeface="Liter"/>
                <a:sym typeface="Liter"/>
              </a:rPr>
              <a:t>Destruction Techniques — MBR, MFT, File Wiping</a:t>
            </a:r>
            <a:endParaRPr b="0" i="0" sz="2600" u="none" cap="none" strike="noStrike"/>
          </a:p>
        </p:txBody>
      </p:sp>
      <p:cxnSp>
        <p:nvCxnSpPr>
          <p:cNvPr id="92" name="Google Shape;92;p7"/>
          <p:cNvCxnSpPr/>
          <p:nvPr/>
        </p:nvCxnSpPr>
        <p:spPr>
          <a:xfrm>
            <a:off x="762000" y="1244600"/>
            <a:ext cx="14732000" cy="0"/>
          </a:xfrm>
          <a:prstGeom prst="straightConnector1">
            <a:avLst/>
          </a:prstGeom>
          <a:noFill/>
          <a:ln cap="flat" cmpd="sng" w="12700">
            <a:solidFill>
              <a:srgbClr val="5A6070"/>
            </a:solidFill>
            <a:prstDash val="solid"/>
            <a:round/>
            <a:headEnd len="sm" w="sm" type="none"/>
            <a:tailEnd len="sm" w="sm" type="none"/>
          </a:ln>
        </p:spPr>
      </p:cxnSp>
      <p:sp>
        <p:nvSpPr>
          <p:cNvPr id="93" name="Google Shape;93;p7"/>
          <p:cNvSpPr/>
          <p:nvPr/>
        </p:nvSpPr>
        <p:spPr>
          <a:xfrm>
            <a:off x="762000" y="1397000"/>
            <a:ext cx="14732000" cy="635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i="0" lang="en-US" sz="1300" u="none" cap="none" strike="noStrike">
                <a:solidFill>
                  <a:srgbClr val="E8ECF1"/>
                </a:solidFill>
                <a:latin typeface="Quattrocento Sans"/>
                <a:ea typeface="Quattrocento Sans"/>
                <a:cs typeface="Quattrocento Sans"/>
                <a:sym typeface="Quattrocento Sans"/>
              </a:rPr>
              <a:t>Wiper malware employs </a:t>
            </a:r>
            <a:r>
              <a:rPr b="1" i="0" lang="en-US" sz="1300" u="none" cap="none" strike="noStrike">
                <a:solidFill>
                  <a:srgbClr val="E8ECF1"/>
                </a:solidFill>
                <a:latin typeface="Quattrocento Sans"/>
                <a:ea typeface="Quattrocento Sans"/>
                <a:cs typeface="Quattrocento Sans"/>
                <a:sym typeface="Quattrocento Sans"/>
              </a:rPr>
              <a:t>multiple destruction techniques</a:t>
            </a:r>
            <a:r>
              <a:rPr b="0" i="0" lang="en-US" sz="1300" u="none" cap="none" strike="noStrike">
                <a:solidFill>
                  <a:srgbClr val="E8ECF1"/>
                </a:solidFill>
                <a:latin typeface="Quattrocento Sans"/>
                <a:ea typeface="Quattrocento Sans"/>
                <a:cs typeface="Quattrocento Sans"/>
                <a:sym typeface="Quattrocento Sans"/>
              </a:rPr>
              <a:t> to maximize damage and prevent recovery. Understanding these techniques is essential for building effective detection and response strategies.</a:t>
            </a:r>
            <a:endParaRPr b="0" i="0" sz="1300" u="none" cap="none" strike="noStrike"/>
          </a:p>
        </p:txBody>
      </p:sp>
      <p:sp>
        <p:nvSpPr>
          <p:cNvPr id="94" name="Google Shape;94;p7"/>
          <p:cNvSpPr/>
          <p:nvPr/>
        </p:nvSpPr>
        <p:spPr>
          <a:xfrm>
            <a:off x="762000" y="2222500"/>
            <a:ext cx="7048500" cy="15240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p:cNvSpPr/>
          <p:nvPr/>
        </p:nvSpPr>
        <p:spPr>
          <a:xfrm>
            <a:off x="762000" y="2222500"/>
            <a:ext cx="50800" cy="15240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
          <p:cNvSpPr/>
          <p:nvPr/>
        </p:nvSpPr>
        <p:spPr>
          <a:xfrm>
            <a:off x="1016000" y="2311400"/>
            <a:ext cx="6540500" cy="1333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400" u="none" cap="none" strike="noStrike">
                <a:solidFill>
                  <a:srgbClr val="E8ECF1"/>
                </a:solidFill>
                <a:latin typeface="Quattrocento Sans"/>
                <a:ea typeface="Quattrocento Sans"/>
                <a:cs typeface="Quattrocento Sans"/>
                <a:sym typeface="Quattrocento Sans"/>
              </a:rPr>
              <a:t>1. MASTER BOOT RECORD OVERWRITE</a:t>
            </a:r>
            <a:endParaRPr b="0" i="0" sz="1400" u="none" cap="none" strike="noStrike"/>
          </a:p>
          <a:p>
            <a:pPr indent="0" lvl="0" marL="0" marR="0" rtl="0" algn="l">
              <a:lnSpc>
                <a:spcPct val="150000"/>
              </a:lnSpc>
              <a:spcBef>
                <a:spcPts val="0"/>
              </a:spcBef>
              <a:spcAft>
                <a:spcPts val="0"/>
              </a:spcAft>
              <a:buNone/>
            </a:pPr>
            <a:r>
              <a:rPr b="0" i="0" lang="en-US" sz="1400" u="none" cap="none" strike="noStrike">
                <a:solidFill>
                  <a:srgbClr val="E8ECF1"/>
                </a:solidFill>
                <a:latin typeface="Quattrocento Sans"/>
                <a:ea typeface="Quattrocento Sans"/>
                <a:cs typeface="Quattrocento Sans"/>
                <a:sym typeface="Quattrocento Sans"/>
              </a:rPr>
              <a:t>Replaces the first 512 bytes of the boot drive with custom code. The system becomes unbootable. Often displays a message (fake ransomware note or political statement) on reboot.</a:t>
            </a:r>
            <a:endParaRPr b="0" i="0" sz="1400" u="none" cap="none" strike="noStrike"/>
          </a:p>
        </p:txBody>
      </p:sp>
      <p:sp>
        <p:nvSpPr>
          <p:cNvPr id="97" name="Google Shape;97;p7"/>
          <p:cNvSpPr/>
          <p:nvPr/>
        </p:nvSpPr>
        <p:spPr>
          <a:xfrm>
            <a:off x="8445500" y="2222500"/>
            <a:ext cx="7048500" cy="15240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p:nvPr/>
        </p:nvSpPr>
        <p:spPr>
          <a:xfrm>
            <a:off x="8445500" y="2222500"/>
            <a:ext cx="50800" cy="15240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p:nvPr/>
        </p:nvSpPr>
        <p:spPr>
          <a:xfrm>
            <a:off x="8699500" y="2311400"/>
            <a:ext cx="6540500" cy="1333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400" u="none" cap="none" strike="noStrike">
                <a:solidFill>
                  <a:srgbClr val="E8ECF1"/>
                </a:solidFill>
                <a:latin typeface="Quattrocento Sans"/>
                <a:ea typeface="Quattrocento Sans"/>
                <a:cs typeface="Quattrocento Sans"/>
                <a:sym typeface="Quattrocento Sans"/>
              </a:rPr>
              <a:t>2. MASTER FILE TABLE CORRUPTION</a:t>
            </a:r>
            <a:endParaRPr b="0" i="0" sz="1400" u="none" cap="none" strike="noStrike"/>
          </a:p>
          <a:p>
            <a:pPr indent="0" lvl="0" marL="0" marR="0" rtl="0" algn="l">
              <a:lnSpc>
                <a:spcPct val="150000"/>
              </a:lnSpc>
              <a:spcBef>
                <a:spcPts val="0"/>
              </a:spcBef>
              <a:spcAft>
                <a:spcPts val="0"/>
              </a:spcAft>
              <a:buNone/>
            </a:pPr>
            <a:r>
              <a:rPr b="0" i="0" lang="en-US" sz="1400" u="none" cap="none" strike="noStrike">
                <a:solidFill>
                  <a:srgbClr val="E8ECF1"/>
                </a:solidFill>
                <a:latin typeface="Quattrocento Sans"/>
                <a:ea typeface="Quattrocento Sans"/>
                <a:cs typeface="Quattrocento Sans"/>
                <a:sym typeface="Quattrocento Sans"/>
              </a:rPr>
              <a:t>Destroys NTFS file system metadata. The MFT tracks all files on disk. Without it, the OS cannot locate any files even if data still exists on the physical drive. Fast and devastating.</a:t>
            </a:r>
            <a:endParaRPr b="0" i="0" sz="1400" u="none" cap="none" strike="noStrike"/>
          </a:p>
        </p:txBody>
      </p:sp>
      <p:sp>
        <p:nvSpPr>
          <p:cNvPr id="100" name="Google Shape;100;p7"/>
          <p:cNvSpPr/>
          <p:nvPr/>
        </p:nvSpPr>
        <p:spPr>
          <a:xfrm>
            <a:off x="762000" y="4000500"/>
            <a:ext cx="7048500" cy="15240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
          <p:cNvSpPr/>
          <p:nvPr/>
        </p:nvSpPr>
        <p:spPr>
          <a:xfrm>
            <a:off x="762000" y="4000500"/>
            <a:ext cx="50800" cy="15240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7"/>
          <p:cNvSpPr/>
          <p:nvPr/>
        </p:nvSpPr>
        <p:spPr>
          <a:xfrm>
            <a:off x="1016000" y="4089400"/>
            <a:ext cx="6540500" cy="1333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400" u="none" cap="none" strike="noStrike">
                <a:solidFill>
                  <a:srgbClr val="E8ECF1"/>
                </a:solidFill>
                <a:latin typeface="Quattrocento Sans"/>
                <a:ea typeface="Quattrocento Sans"/>
                <a:cs typeface="Quattrocento Sans"/>
                <a:sym typeface="Quattrocento Sans"/>
              </a:rPr>
              <a:t>3. DIRECT FILE OVERWRITE</a:t>
            </a:r>
            <a:endParaRPr b="0" i="0" sz="1400" u="none" cap="none" strike="noStrike"/>
          </a:p>
          <a:p>
            <a:pPr indent="0" lvl="0" marL="0" marR="0" rtl="0" algn="l">
              <a:lnSpc>
                <a:spcPct val="150000"/>
              </a:lnSpc>
              <a:spcBef>
                <a:spcPts val="0"/>
              </a:spcBef>
              <a:spcAft>
                <a:spcPts val="0"/>
              </a:spcAft>
              <a:buNone/>
            </a:pPr>
            <a:r>
              <a:rPr b="0" i="0" lang="en-US" sz="1400" u="none" cap="none" strike="noStrike">
                <a:solidFill>
                  <a:srgbClr val="E8ECF1"/>
                </a:solidFill>
                <a:latin typeface="Quattrocento Sans"/>
                <a:ea typeface="Quattrocento Sans"/>
                <a:cs typeface="Quattrocento Sans"/>
                <a:sym typeface="Quattrocento Sans"/>
              </a:rPr>
              <a:t>Overwrites file contents with random data, zeros (0x00), or specific patterns. Some wipers use images or messages as overwrite data. Targeted file types include documents, databases, and configuration files.</a:t>
            </a:r>
            <a:endParaRPr b="0" i="0" sz="1400" u="none" cap="none" strike="noStrike"/>
          </a:p>
        </p:txBody>
      </p:sp>
      <p:sp>
        <p:nvSpPr>
          <p:cNvPr id="103" name="Google Shape;103;p7"/>
          <p:cNvSpPr/>
          <p:nvPr/>
        </p:nvSpPr>
        <p:spPr>
          <a:xfrm>
            <a:off x="8445500" y="4000500"/>
            <a:ext cx="7048500" cy="15240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7"/>
          <p:cNvSpPr/>
          <p:nvPr/>
        </p:nvSpPr>
        <p:spPr>
          <a:xfrm>
            <a:off x="8445500" y="4000500"/>
            <a:ext cx="50800" cy="15240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7"/>
          <p:cNvSpPr/>
          <p:nvPr/>
        </p:nvSpPr>
        <p:spPr>
          <a:xfrm>
            <a:off x="8699500" y="4089400"/>
            <a:ext cx="6540500" cy="1333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400" u="none" cap="none" strike="noStrike">
                <a:solidFill>
                  <a:srgbClr val="E8ECF1"/>
                </a:solidFill>
                <a:latin typeface="Quattrocento Sans"/>
                <a:ea typeface="Quattrocento Sans"/>
                <a:cs typeface="Quattrocento Sans"/>
                <a:sym typeface="Quattrocento Sans"/>
              </a:rPr>
              <a:t>4. PARTITION TABLE DESTRUCTION</a:t>
            </a:r>
            <a:endParaRPr b="0" i="0" sz="1400" u="none" cap="none" strike="noStrike"/>
          </a:p>
          <a:p>
            <a:pPr indent="0" lvl="0" marL="0" marR="0" rtl="0" algn="l">
              <a:lnSpc>
                <a:spcPct val="150000"/>
              </a:lnSpc>
              <a:spcBef>
                <a:spcPts val="0"/>
              </a:spcBef>
              <a:spcAft>
                <a:spcPts val="0"/>
              </a:spcAft>
              <a:buNone/>
            </a:pPr>
            <a:r>
              <a:rPr b="0" i="0" lang="en-US" sz="1400" u="none" cap="none" strike="noStrike">
                <a:solidFill>
                  <a:srgbClr val="E8ECF1"/>
                </a:solidFill>
                <a:latin typeface="Quattrocento Sans"/>
                <a:ea typeface="Quattrocento Sans"/>
                <a:cs typeface="Quattrocento Sans"/>
                <a:sym typeface="Quattrocento Sans"/>
              </a:rPr>
              <a:t>Wipes GPT/MBR partition structures. Without partition tables, the OS cannot identify disk boundaries or file system locations. Combined with MFT corruption, this makes data recovery nearly impossible.</a:t>
            </a:r>
            <a:endParaRPr b="0" i="0" sz="1400" u="none" cap="none" strike="noStrike"/>
          </a:p>
        </p:txBody>
      </p:sp>
      <p:sp>
        <p:nvSpPr>
          <p:cNvPr id="106" name="Google Shape;106;p7"/>
          <p:cNvSpPr/>
          <p:nvPr/>
        </p:nvSpPr>
        <p:spPr>
          <a:xfrm>
            <a:off x="762000" y="5816600"/>
            <a:ext cx="7620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MBR Overwrite Code Pattern</a:t>
            </a:r>
            <a:endParaRPr b="0" i="0" sz="1800" u="none" cap="none" strike="noStrike"/>
          </a:p>
        </p:txBody>
      </p:sp>
      <p:sp>
        <p:nvSpPr>
          <p:cNvPr id="107" name="Google Shape;107;p7"/>
          <p:cNvSpPr/>
          <p:nvPr/>
        </p:nvSpPr>
        <p:spPr>
          <a:xfrm>
            <a:off x="762000" y="6223000"/>
            <a:ext cx="14732000" cy="12700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a:off x="762000" y="6223000"/>
            <a:ext cx="50800" cy="12700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a:off x="1016000" y="6324600"/>
            <a:ext cx="14287500" cy="1079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300" u="none" cap="none" strike="noStrike">
                <a:solidFill>
                  <a:srgbClr val="8C95A5"/>
                </a:solidFill>
                <a:latin typeface="Liter"/>
                <a:ea typeface="Liter"/>
                <a:cs typeface="Liter"/>
                <a:sym typeface="Liter"/>
              </a:rPr>
              <a:t>// Wiper MBR overwrite — opens physical drive and overwrites boot sector</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A0AEBF"/>
                </a:solidFill>
                <a:latin typeface="Liter"/>
                <a:ea typeface="Liter"/>
                <a:cs typeface="Liter"/>
                <a:sym typeface="Liter"/>
              </a:rPr>
              <a:t>HANDLE hDrive = CreateFile(</a:t>
            </a:r>
            <a:r>
              <a:rPr b="0" i="0" lang="en-US" sz="1300" u="none" cap="none" strike="noStrike">
                <a:solidFill>
                  <a:srgbClr val="4CAF50"/>
                </a:solidFill>
                <a:latin typeface="Liter"/>
                <a:ea typeface="Liter"/>
                <a:cs typeface="Liter"/>
                <a:sym typeface="Liter"/>
              </a:rPr>
              <a:t>"\\\\.\\PhysicalDrive0"</a:t>
            </a:r>
            <a:r>
              <a:rPr b="0" i="0" lang="en-US" sz="1300" u="none" cap="none" strike="noStrike">
                <a:solidFill>
                  <a:srgbClr val="A0AEBF"/>
                </a:solidFill>
                <a:latin typeface="Liter"/>
                <a:ea typeface="Liter"/>
                <a:cs typeface="Liter"/>
                <a:sym typeface="Liter"/>
              </a:rPr>
              <a:t>, GENERIC_READ | GENERIC_WRITE, ...);</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D92525"/>
                </a:solidFill>
                <a:latin typeface="Liter"/>
                <a:ea typeface="Liter"/>
                <a:cs typeface="Liter"/>
                <a:sym typeface="Liter"/>
              </a:rPr>
              <a:t>unsigned char</a:t>
            </a:r>
            <a:r>
              <a:rPr b="0" i="0" lang="en-US" sz="1300" u="none" cap="none" strike="noStrike">
                <a:solidFill>
                  <a:srgbClr val="A0AEBF"/>
                </a:solidFill>
                <a:latin typeface="Liter"/>
                <a:ea typeface="Liter"/>
                <a:cs typeface="Liter"/>
                <a:sym typeface="Liter"/>
              </a:rPr>
              <a:t> newMBR[</a:t>
            </a:r>
            <a:r>
              <a:rPr b="0" i="0" lang="en-US" sz="1300" u="none" cap="none" strike="noStrike">
                <a:solidFill>
                  <a:srgbClr val="E8A020"/>
                </a:solidFill>
                <a:latin typeface="Liter"/>
                <a:ea typeface="Liter"/>
                <a:cs typeface="Liter"/>
                <a:sym typeface="Liter"/>
              </a:rPr>
              <a:t>512</a:t>
            </a:r>
            <a:r>
              <a:rPr b="0" i="0" lang="en-US" sz="1300" u="none" cap="none" strike="noStrike">
                <a:solidFill>
                  <a:srgbClr val="A0AEBF"/>
                </a:solidFill>
                <a:latin typeface="Liter"/>
                <a:ea typeface="Liter"/>
                <a:cs typeface="Liter"/>
                <a:sym typeface="Liter"/>
              </a:rPr>
              <a:t>] = { </a:t>
            </a:r>
            <a:r>
              <a:rPr b="0" i="0" lang="en-US" sz="1300" u="none" cap="none" strike="noStrike">
                <a:solidFill>
                  <a:srgbClr val="E8A020"/>
                </a:solidFill>
                <a:latin typeface="Liter"/>
                <a:ea typeface="Liter"/>
                <a:cs typeface="Liter"/>
                <a:sym typeface="Liter"/>
              </a:rPr>
              <a:t>0xE9</a:t>
            </a:r>
            <a:r>
              <a:rPr b="0" i="0" lang="en-US" sz="1300" u="none" cap="none" strike="noStrike">
                <a:solidFill>
                  <a:srgbClr val="A0AEBF"/>
                </a:solidFill>
                <a:latin typeface="Liter"/>
                <a:ea typeface="Liter"/>
                <a:cs typeface="Liter"/>
                <a:sym typeface="Liter"/>
              </a:rPr>
              <a:t>, </a:t>
            </a:r>
            <a:r>
              <a:rPr b="0" i="0" lang="en-US" sz="1300" u="none" cap="none" strike="noStrike">
                <a:solidFill>
                  <a:srgbClr val="E8A020"/>
                </a:solidFill>
                <a:latin typeface="Liter"/>
                <a:ea typeface="Liter"/>
                <a:cs typeface="Liter"/>
                <a:sym typeface="Liter"/>
              </a:rPr>
              <a:t>0xFD</a:t>
            </a:r>
            <a:r>
              <a:rPr b="0" i="0" lang="en-US" sz="1300" u="none" cap="none" strike="noStrike">
                <a:solidFill>
                  <a:srgbClr val="A0AEBF"/>
                </a:solidFill>
                <a:latin typeface="Liter"/>
                <a:ea typeface="Liter"/>
                <a:cs typeface="Liter"/>
                <a:sym typeface="Liter"/>
              </a:rPr>
              <a:t>, </a:t>
            </a:r>
            <a:r>
              <a:rPr b="0" i="0" lang="en-US" sz="1300" u="none" cap="none" strike="noStrike">
                <a:solidFill>
                  <a:srgbClr val="E8A020"/>
                </a:solidFill>
                <a:latin typeface="Liter"/>
                <a:ea typeface="Liter"/>
                <a:cs typeface="Liter"/>
                <a:sym typeface="Liter"/>
              </a:rPr>
              <a:t>0xFF</a:t>
            </a:r>
            <a:r>
              <a:rPr b="0" i="0" lang="en-US" sz="1300" u="none" cap="none" strike="noStrike">
                <a:solidFill>
                  <a:srgbClr val="A0AEBF"/>
                </a:solidFill>
                <a:latin typeface="Liter"/>
                <a:ea typeface="Liter"/>
                <a:cs typeface="Liter"/>
                <a:sym typeface="Liter"/>
              </a:rPr>
              <a:t>, ... };  </a:t>
            </a:r>
            <a:r>
              <a:rPr b="0" i="0" lang="en-US" sz="1300" u="none" cap="none" strike="noStrike">
                <a:solidFill>
                  <a:srgbClr val="8C95A5"/>
                </a:solidFill>
                <a:latin typeface="Liter"/>
                <a:ea typeface="Liter"/>
                <a:cs typeface="Liter"/>
                <a:sym typeface="Liter"/>
              </a:rPr>
              <a:t>// Custom bootloader + message</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A0AEBF"/>
                </a:solidFill>
                <a:latin typeface="Liter"/>
                <a:ea typeface="Liter"/>
                <a:cs typeface="Liter"/>
                <a:sym typeface="Liter"/>
              </a:rPr>
              <a:t>WriteFile(hDrive, newMBR, </a:t>
            </a:r>
            <a:r>
              <a:rPr b="0" i="0" lang="en-US" sz="1300" u="none" cap="none" strike="noStrike">
                <a:solidFill>
                  <a:srgbClr val="E8A020"/>
                </a:solidFill>
                <a:latin typeface="Liter"/>
                <a:ea typeface="Liter"/>
                <a:cs typeface="Liter"/>
                <a:sym typeface="Liter"/>
              </a:rPr>
              <a:t>512</a:t>
            </a:r>
            <a:r>
              <a:rPr b="0" i="0" lang="en-US" sz="1300" u="none" cap="none" strike="noStrike">
                <a:solidFill>
                  <a:srgbClr val="A0AEBF"/>
                </a:solidFill>
                <a:latin typeface="Liter"/>
                <a:ea typeface="Liter"/>
                <a:cs typeface="Liter"/>
                <a:sym typeface="Liter"/>
              </a:rPr>
              <a:t>, &amp;written, NULL);  </a:t>
            </a:r>
            <a:r>
              <a:rPr b="0" i="0" lang="en-US" sz="1300" u="none" cap="none" strike="noStrike">
                <a:solidFill>
                  <a:srgbClr val="8C95A5"/>
                </a:solidFill>
                <a:latin typeface="Liter"/>
                <a:ea typeface="Liter"/>
                <a:cs typeface="Liter"/>
                <a:sym typeface="Liter"/>
              </a:rPr>
              <a:t>// Overwrite original MBR</a:t>
            </a:r>
            <a:endParaRPr b="0" i="0" sz="1300" u="none" cap="none" strike="noStrike"/>
          </a:p>
        </p:txBody>
      </p:sp>
      <p:cxnSp>
        <p:nvCxnSpPr>
          <p:cNvPr id="110" name="Google Shape;110;p7"/>
          <p:cNvCxnSpPr/>
          <p:nvPr/>
        </p:nvCxnSpPr>
        <p:spPr>
          <a:xfrm>
            <a:off x="762000" y="8763000"/>
            <a:ext cx="14732000" cy="0"/>
          </a:xfrm>
          <a:prstGeom prst="straightConnector1">
            <a:avLst/>
          </a:prstGeom>
          <a:noFill/>
          <a:ln cap="flat" cmpd="sng" w="12700">
            <a:solidFill>
              <a:srgbClr val="5A6070"/>
            </a:solidFill>
            <a:prstDash val="solid"/>
            <a:round/>
            <a:headEnd len="sm" w="sm" type="none"/>
            <a:tailEnd len="sm" w="sm" type="none"/>
          </a:ln>
        </p:spPr>
      </p:cxnSp>
      <p:sp>
        <p:nvSpPr>
          <p:cNvPr id="111" name="Google Shape;111;p7"/>
          <p:cNvSpPr/>
          <p:nvPr/>
        </p:nvSpPr>
        <p:spPr>
          <a:xfrm>
            <a:off x="7366000" y="88265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05 / 11</a:t>
            </a:r>
            <a:endParaRPr b="0" i="0" sz="1400" u="none" cap="none" strike="noStrike"/>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418"/>
        </a:solidFill>
      </p:bgPr>
    </p:bg>
    <p:spTree>
      <p:nvGrpSpPr>
        <p:cNvPr id="116" name="Shape 116"/>
        <p:cNvGrpSpPr/>
        <p:nvPr/>
      </p:nvGrpSpPr>
      <p:grpSpPr>
        <a:xfrm>
          <a:off x="0" y="0"/>
          <a:ext cx="0" cy="0"/>
          <a:chOff x="0" y="0"/>
          <a:chExt cx="0" cy="0"/>
        </a:xfrm>
      </p:grpSpPr>
      <p:sp>
        <p:nvSpPr>
          <p:cNvPr id="117" name="Google Shape;117;p8"/>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SRC-2026-0614-WIPER</a:t>
            </a:r>
            <a:endParaRPr b="0" i="0" sz="1400" u="none" cap="none" strike="noStrike"/>
          </a:p>
        </p:txBody>
      </p:sp>
      <p:sp>
        <p:nvSpPr>
          <p:cNvPr id="118" name="Google Shape;118;p8"/>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119" name="Google Shape;119;p8"/>
          <p:cNvSpPr/>
          <p:nvPr/>
        </p:nvSpPr>
        <p:spPr>
          <a:xfrm>
            <a:off x="762000" y="698500"/>
            <a:ext cx="14732000" cy="482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600" u="none" cap="none" strike="noStrike">
                <a:solidFill>
                  <a:srgbClr val="FFFFFF"/>
                </a:solidFill>
                <a:latin typeface="Liter"/>
                <a:ea typeface="Liter"/>
                <a:cs typeface="Liter"/>
                <a:sym typeface="Liter"/>
              </a:rPr>
              <a:t>NotPetya — The Most Destructive Wiper in History</a:t>
            </a:r>
            <a:endParaRPr b="0" i="0" sz="2600" u="none" cap="none" strike="noStrike"/>
          </a:p>
        </p:txBody>
      </p:sp>
      <p:cxnSp>
        <p:nvCxnSpPr>
          <p:cNvPr id="120" name="Google Shape;120;p8"/>
          <p:cNvCxnSpPr/>
          <p:nvPr/>
        </p:nvCxnSpPr>
        <p:spPr>
          <a:xfrm>
            <a:off x="762000" y="1244600"/>
            <a:ext cx="14732000" cy="0"/>
          </a:xfrm>
          <a:prstGeom prst="straightConnector1">
            <a:avLst/>
          </a:prstGeom>
          <a:noFill/>
          <a:ln cap="flat" cmpd="sng" w="12700">
            <a:solidFill>
              <a:srgbClr val="5A6070"/>
            </a:solidFill>
            <a:prstDash val="solid"/>
            <a:round/>
            <a:headEnd len="sm" w="sm" type="none"/>
            <a:tailEnd len="sm" w="sm" type="none"/>
          </a:ln>
        </p:spPr>
      </p:cxnSp>
      <p:sp>
        <p:nvSpPr>
          <p:cNvPr id="121" name="Google Shape;121;p8"/>
          <p:cNvSpPr/>
          <p:nvPr/>
        </p:nvSpPr>
        <p:spPr>
          <a:xfrm>
            <a:off x="762000" y="1397000"/>
            <a:ext cx="14732000" cy="635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300" u="none" cap="none" strike="noStrike">
                <a:solidFill>
                  <a:srgbClr val="E8ECF1"/>
                </a:solidFill>
                <a:latin typeface="Quattrocento Sans"/>
                <a:ea typeface="Quattrocento Sans"/>
                <a:cs typeface="Quattrocento Sans"/>
                <a:sym typeface="Quattrocento Sans"/>
              </a:rPr>
              <a:t>NotPetya</a:t>
            </a:r>
            <a:r>
              <a:rPr b="0" i="0" lang="en-US" sz="1300" u="none" cap="none" strike="noStrike">
                <a:solidFill>
                  <a:srgbClr val="E8ECF1"/>
                </a:solidFill>
                <a:latin typeface="Quattrocento Sans"/>
                <a:ea typeface="Quattrocento Sans"/>
                <a:cs typeface="Quattrocento Sans"/>
                <a:sym typeface="Quattrocento Sans"/>
              </a:rPr>
              <a:t> (June 2017) propagated via the </a:t>
            </a:r>
            <a:r>
              <a:rPr b="1" i="0" lang="en-US" sz="1300" u="none" cap="none" strike="noStrike">
                <a:solidFill>
                  <a:srgbClr val="E8ECF1"/>
                </a:solidFill>
                <a:latin typeface="Quattrocento Sans"/>
                <a:ea typeface="Quattrocento Sans"/>
                <a:cs typeface="Quattrocento Sans"/>
                <a:sym typeface="Quattrocento Sans"/>
              </a:rPr>
              <a:t>EternalBlue exploit</a:t>
            </a:r>
            <a:r>
              <a:rPr b="0" i="0" lang="en-US" sz="1300" u="none" cap="none" strike="noStrike">
                <a:solidFill>
                  <a:srgbClr val="E8ECF1"/>
                </a:solidFill>
                <a:latin typeface="Quattrocento Sans"/>
                <a:ea typeface="Quattrocento Sans"/>
                <a:cs typeface="Quattrocento Sans"/>
                <a:sym typeface="Quattrocento Sans"/>
              </a:rPr>
              <a:t> (MS17-010) and credential theft through PsExec and WMI. Despite displaying a ransomware screen, it was actually a wiper — the decryption key was randomly generated and immediately discarded.</a:t>
            </a:r>
            <a:endParaRPr b="0" i="0" sz="1300" u="none" cap="none" strike="noStrike"/>
          </a:p>
        </p:txBody>
      </p:sp>
      <p:sp>
        <p:nvSpPr>
          <p:cNvPr id="122" name="Google Shape;122;p8"/>
          <p:cNvSpPr/>
          <p:nvPr/>
        </p:nvSpPr>
        <p:spPr>
          <a:xfrm>
            <a:off x="762000" y="2222500"/>
            <a:ext cx="3492500" cy="10160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
          <p:cNvSpPr/>
          <p:nvPr/>
        </p:nvSpPr>
        <p:spPr>
          <a:xfrm>
            <a:off x="762000" y="2222500"/>
            <a:ext cx="3492500" cy="10160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2800" u="none" cap="none" strike="noStrike">
                <a:solidFill>
                  <a:srgbClr val="FFFFFF"/>
                </a:solidFill>
                <a:latin typeface="Liter"/>
                <a:ea typeface="Liter"/>
                <a:cs typeface="Liter"/>
                <a:sym typeface="Liter"/>
              </a:rPr>
              <a:t>2000+</a:t>
            </a:r>
            <a:endParaRPr b="0" i="0" sz="2800" u="none" cap="none" strike="noStrike"/>
          </a:p>
          <a:p>
            <a:pPr indent="0" lvl="0" marL="0" marR="0" rtl="0" algn="ctr">
              <a:lnSpc>
                <a:spcPct val="120000"/>
              </a:lnSpc>
              <a:spcBef>
                <a:spcPts val="0"/>
              </a:spcBef>
              <a:spcAft>
                <a:spcPts val="0"/>
              </a:spcAft>
              <a:buNone/>
            </a:pPr>
            <a:r>
              <a:rPr b="0" i="0" lang="en-US" sz="1400" u="none" cap="none" strike="noStrike">
                <a:solidFill>
                  <a:srgbClr val="FFFFFF"/>
                </a:solidFill>
                <a:latin typeface="Liter"/>
                <a:ea typeface="Liter"/>
                <a:cs typeface="Liter"/>
                <a:sym typeface="Liter"/>
              </a:rPr>
              <a:t>Organizations Infected</a:t>
            </a:r>
            <a:endParaRPr b="0" i="0" sz="2800" u="none" cap="none" strike="noStrike"/>
          </a:p>
        </p:txBody>
      </p:sp>
      <p:sp>
        <p:nvSpPr>
          <p:cNvPr id="124" name="Google Shape;124;p8"/>
          <p:cNvSpPr/>
          <p:nvPr/>
        </p:nvSpPr>
        <p:spPr>
          <a:xfrm>
            <a:off x="4508500" y="2222500"/>
            <a:ext cx="3492500" cy="10160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
          <p:cNvSpPr/>
          <p:nvPr/>
        </p:nvSpPr>
        <p:spPr>
          <a:xfrm>
            <a:off x="4508500" y="2222500"/>
            <a:ext cx="3492500" cy="10160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2800" u="none" cap="none" strike="noStrike">
                <a:solidFill>
                  <a:srgbClr val="FFFFFF"/>
                </a:solidFill>
                <a:latin typeface="Liter"/>
                <a:ea typeface="Liter"/>
                <a:cs typeface="Liter"/>
                <a:sym typeface="Liter"/>
              </a:rPr>
              <a:t>65+</a:t>
            </a:r>
            <a:endParaRPr b="0" i="0" sz="2800" u="none" cap="none" strike="noStrike"/>
          </a:p>
          <a:p>
            <a:pPr indent="0" lvl="0" marL="0" marR="0" rtl="0" algn="ctr">
              <a:lnSpc>
                <a:spcPct val="120000"/>
              </a:lnSpc>
              <a:spcBef>
                <a:spcPts val="0"/>
              </a:spcBef>
              <a:spcAft>
                <a:spcPts val="0"/>
              </a:spcAft>
              <a:buNone/>
            </a:pPr>
            <a:r>
              <a:rPr b="0" i="0" lang="en-US" sz="1400" u="none" cap="none" strike="noStrike">
                <a:solidFill>
                  <a:srgbClr val="FFFFFF"/>
                </a:solidFill>
                <a:latin typeface="Liter"/>
                <a:ea typeface="Liter"/>
                <a:cs typeface="Liter"/>
                <a:sym typeface="Liter"/>
              </a:rPr>
              <a:t>Countries Affected</a:t>
            </a:r>
            <a:endParaRPr b="0" i="0" sz="2800" u="none" cap="none" strike="noStrike"/>
          </a:p>
        </p:txBody>
      </p:sp>
      <p:sp>
        <p:nvSpPr>
          <p:cNvPr id="126" name="Google Shape;126;p8"/>
          <p:cNvSpPr/>
          <p:nvPr/>
        </p:nvSpPr>
        <p:spPr>
          <a:xfrm>
            <a:off x="8255000" y="2222500"/>
            <a:ext cx="3492500" cy="10160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
          <p:cNvSpPr/>
          <p:nvPr/>
        </p:nvSpPr>
        <p:spPr>
          <a:xfrm>
            <a:off x="8255000" y="2222500"/>
            <a:ext cx="3492500" cy="10160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2800" u="none" cap="none" strike="noStrike">
                <a:solidFill>
                  <a:srgbClr val="FFFFFF"/>
                </a:solidFill>
                <a:latin typeface="Liter"/>
                <a:ea typeface="Liter"/>
                <a:cs typeface="Liter"/>
                <a:sym typeface="Liter"/>
              </a:rPr>
              <a:t>$10B+</a:t>
            </a:r>
            <a:endParaRPr b="0" i="0" sz="2800" u="none" cap="none" strike="noStrike"/>
          </a:p>
          <a:p>
            <a:pPr indent="0" lvl="0" marL="0" marR="0" rtl="0" algn="ctr">
              <a:lnSpc>
                <a:spcPct val="120000"/>
              </a:lnSpc>
              <a:spcBef>
                <a:spcPts val="0"/>
              </a:spcBef>
              <a:spcAft>
                <a:spcPts val="0"/>
              </a:spcAft>
              <a:buNone/>
            </a:pPr>
            <a:r>
              <a:rPr b="0" i="0" lang="en-US" sz="1400" u="none" cap="none" strike="noStrike">
                <a:solidFill>
                  <a:srgbClr val="FFFFFF"/>
                </a:solidFill>
                <a:latin typeface="Liter"/>
                <a:ea typeface="Liter"/>
                <a:cs typeface="Liter"/>
                <a:sym typeface="Liter"/>
              </a:rPr>
              <a:t>Total Damages</a:t>
            </a:r>
            <a:endParaRPr b="0" i="0" sz="2800" u="none" cap="none" strike="noStrike"/>
          </a:p>
        </p:txBody>
      </p:sp>
      <p:sp>
        <p:nvSpPr>
          <p:cNvPr id="128" name="Google Shape;128;p8"/>
          <p:cNvSpPr/>
          <p:nvPr/>
        </p:nvSpPr>
        <p:spPr>
          <a:xfrm>
            <a:off x="12001500" y="2222500"/>
            <a:ext cx="3492500" cy="10160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p:nvPr/>
        </p:nvSpPr>
        <p:spPr>
          <a:xfrm>
            <a:off x="12001500" y="2222500"/>
            <a:ext cx="3492500" cy="10160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2800" u="none" cap="none" strike="noStrike">
                <a:solidFill>
                  <a:srgbClr val="FFFFFF"/>
                </a:solidFill>
                <a:latin typeface="Liter"/>
                <a:ea typeface="Liter"/>
                <a:cs typeface="Liter"/>
                <a:sym typeface="Liter"/>
              </a:rPr>
              <a:t>0%</a:t>
            </a:r>
            <a:endParaRPr b="0" i="0" sz="2800" u="none" cap="none" strike="noStrike"/>
          </a:p>
          <a:p>
            <a:pPr indent="0" lvl="0" marL="0" marR="0" rtl="0" algn="ctr">
              <a:lnSpc>
                <a:spcPct val="120000"/>
              </a:lnSpc>
              <a:spcBef>
                <a:spcPts val="0"/>
              </a:spcBef>
              <a:spcAft>
                <a:spcPts val="0"/>
              </a:spcAft>
              <a:buNone/>
            </a:pPr>
            <a:r>
              <a:rPr b="0" i="0" lang="en-US" sz="1400" u="none" cap="none" strike="noStrike">
                <a:solidFill>
                  <a:srgbClr val="FFFFFF"/>
                </a:solidFill>
                <a:latin typeface="Liter"/>
                <a:ea typeface="Liter"/>
                <a:cs typeface="Liter"/>
                <a:sym typeface="Liter"/>
              </a:rPr>
              <a:t>Data Recoverable</a:t>
            </a:r>
            <a:endParaRPr b="0" i="0" sz="2800" u="none" cap="none" strike="noStrike"/>
          </a:p>
        </p:txBody>
      </p:sp>
      <p:sp>
        <p:nvSpPr>
          <p:cNvPr id="130" name="Google Shape;130;p8"/>
          <p:cNvSpPr/>
          <p:nvPr/>
        </p:nvSpPr>
        <p:spPr>
          <a:xfrm>
            <a:off x="762000" y="3530600"/>
            <a:ext cx="6858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Propagation Methods</a:t>
            </a:r>
            <a:endParaRPr b="0" i="0" sz="1800" u="none" cap="none" strike="noStrike"/>
          </a:p>
        </p:txBody>
      </p:sp>
      <p:sp>
        <p:nvSpPr>
          <p:cNvPr id="131" name="Google Shape;131;p8"/>
          <p:cNvSpPr/>
          <p:nvPr/>
        </p:nvSpPr>
        <p:spPr>
          <a:xfrm>
            <a:off x="762000" y="3937000"/>
            <a:ext cx="6858000" cy="2286000"/>
          </a:xfrm>
          <a:prstGeom prst="rect">
            <a:avLst/>
          </a:prstGeom>
          <a:noFill/>
          <a:ln>
            <a:noFill/>
          </a:ln>
        </p:spPr>
        <p:txBody>
          <a:bodyPr anchorCtr="0" anchor="t" bIns="0" lIns="0" spcFirstLastPara="1" rIns="0" wrap="square" tIns="0">
            <a:noAutofit/>
          </a:bodyPr>
          <a:lstStyle/>
          <a:p>
            <a:pPr indent="0" lvl="0" marL="0" marR="0" rtl="0" algn="l">
              <a:lnSpc>
                <a:spcPct val="165000"/>
              </a:lnSpc>
              <a:spcBef>
                <a:spcPts val="0"/>
              </a:spcBef>
              <a:spcAft>
                <a:spcPts val="0"/>
              </a:spcAft>
              <a:buNone/>
            </a:pPr>
            <a:r>
              <a:rPr b="0" i="0" lang="en-US" sz="1500" u="none" cap="none" strike="noStrike">
                <a:solidFill>
                  <a:srgbClr val="D92525"/>
                </a:solidFill>
                <a:latin typeface="Quattrocento Sans"/>
                <a:ea typeface="Quattrocento Sans"/>
                <a:cs typeface="Quattrocento Sans"/>
                <a:sym typeface="Quattrocento Sans"/>
              </a:rPr>
              <a:t>▶</a:t>
            </a:r>
            <a:r>
              <a:rPr b="0" i="0" lang="en-US" sz="1500" u="none" cap="none" strike="noStrike">
                <a:solidFill>
                  <a:srgbClr val="E8ECF1"/>
                </a:solidFill>
                <a:latin typeface="Quattrocento Sans"/>
                <a:ea typeface="Quattrocento Sans"/>
                <a:cs typeface="Quattrocento Sans"/>
                <a:sym typeface="Quattrocento Sans"/>
              </a:rPr>
              <a:t> </a:t>
            </a:r>
            <a:r>
              <a:rPr b="1" i="0" lang="en-US" sz="1500" u="none" cap="none" strike="noStrike">
                <a:solidFill>
                  <a:srgbClr val="E8ECF1"/>
                </a:solidFill>
                <a:latin typeface="Quattrocento Sans"/>
                <a:ea typeface="Quattrocento Sans"/>
                <a:cs typeface="Quattrocento Sans"/>
                <a:sym typeface="Quattrocento Sans"/>
              </a:rPr>
              <a:t>EternalBlue</a:t>
            </a:r>
            <a:r>
              <a:rPr b="0" i="0" lang="en-US" sz="1500" u="none" cap="none" strike="noStrike">
                <a:solidFill>
                  <a:srgbClr val="E8ECF1"/>
                </a:solidFill>
                <a:latin typeface="Quattrocento Sans"/>
                <a:ea typeface="Quattrocento Sans"/>
                <a:cs typeface="Quattrocento Sans"/>
                <a:sym typeface="Quattrocento Sans"/>
              </a:rPr>
              <a:t> (MS17-010) — SMB exploit for worm-like propagation</a:t>
            </a:r>
            <a:endParaRPr b="0" i="0" sz="1500" u="none" cap="none" strike="noStrike"/>
          </a:p>
          <a:p>
            <a:pPr indent="0" lvl="0" marL="0" marR="0" rtl="0" algn="l">
              <a:lnSpc>
                <a:spcPct val="165000"/>
              </a:lnSpc>
              <a:spcBef>
                <a:spcPts val="0"/>
              </a:spcBef>
              <a:spcAft>
                <a:spcPts val="0"/>
              </a:spcAft>
              <a:buNone/>
            </a:pPr>
            <a:r>
              <a:rPr b="0" i="0" lang="en-US" sz="1500" u="none" cap="none" strike="noStrike">
                <a:solidFill>
                  <a:srgbClr val="D92525"/>
                </a:solidFill>
                <a:latin typeface="Quattrocento Sans"/>
                <a:ea typeface="Quattrocento Sans"/>
                <a:cs typeface="Quattrocento Sans"/>
                <a:sym typeface="Quattrocento Sans"/>
              </a:rPr>
              <a:t>▶</a:t>
            </a:r>
            <a:r>
              <a:rPr b="0" i="0" lang="en-US" sz="1500" u="none" cap="none" strike="noStrike">
                <a:solidFill>
                  <a:srgbClr val="E8ECF1"/>
                </a:solidFill>
                <a:latin typeface="Quattrocento Sans"/>
                <a:ea typeface="Quattrocento Sans"/>
                <a:cs typeface="Quattrocento Sans"/>
                <a:sym typeface="Quattrocento Sans"/>
              </a:rPr>
              <a:t> </a:t>
            </a:r>
            <a:r>
              <a:rPr b="1" i="0" lang="en-US" sz="1500" u="none" cap="none" strike="noStrike">
                <a:solidFill>
                  <a:srgbClr val="E8ECF1"/>
                </a:solidFill>
                <a:latin typeface="Quattrocento Sans"/>
                <a:ea typeface="Quattrocento Sans"/>
                <a:cs typeface="Quattrocento Sans"/>
                <a:sym typeface="Quattrocento Sans"/>
              </a:rPr>
              <a:t>EternalRomance</a:t>
            </a:r>
            <a:r>
              <a:rPr b="0" i="0" lang="en-US" sz="1500" u="none" cap="none" strike="noStrike">
                <a:solidFill>
                  <a:srgbClr val="E8ECF1"/>
                </a:solidFill>
                <a:latin typeface="Quattrocento Sans"/>
                <a:ea typeface="Quattrocento Sans"/>
                <a:cs typeface="Quattrocento Sans"/>
                <a:sym typeface="Quattrocento Sans"/>
              </a:rPr>
              <a:t> — Alternative SMB exploit</a:t>
            </a:r>
            <a:endParaRPr b="0" i="0" sz="1500" u="none" cap="none" strike="noStrike"/>
          </a:p>
          <a:p>
            <a:pPr indent="0" lvl="0" marL="0" marR="0" rtl="0" algn="l">
              <a:lnSpc>
                <a:spcPct val="165000"/>
              </a:lnSpc>
              <a:spcBef>
                <a:spcPts val="0"/>
              </a:spcBef>
              <a:spcAft>
                <a:spcPts val="0"/>
              </a:spcAft>
              <a:buNone/>
            </a:pPr>
            <a:r>
              <a:rPr b="0" i="0" lang="en-US" sz="1500" u="none" cap="none" strike="noStrike">
                <a:solidFill>
                  <a:srgbClr val="D92525"/>
                </a:solidFill>
                <a:latin typeface="Quattrocento Sans"/>
                <a:ea typeface="Quattrocento Sans"/>
                <a:cs typeface="Quattrocento Sans"/>
                <a:sym typeface="Quattrocento Sans"/>
              </a:rPr>
              <a:t>▶</a:t>
            </a:r>
            <a:r>
              <a:rPr b="0" i="0" lang="en-US" sz="1500" u="none" cap="none" strike="noStrike">
                <a:solidFill>
                  <a:srgbClr val="E8ECF1"/>
                </a:solidFill>
                <a:latin typeface="Quattrocento Sans"/>
                <a:ea typeface="Quattrocento Sans"/>
                <a:cs typeface="Quattrocento Sans"/>
                <a:sym typeface="Quattrocento Sans"/>
              </a:rPr>
              <a:t> </a:t>
            </a:r>
            <a:r>
              <a:rPr b="1" i="0" lang="en-US" sz="1500" u="none" cap="none" strike="noStrike">
                <a:solidFill>
                  <a:srgbClr val="E8ECF1"/>
                </a:solidFill>
                <a:latin typeface="Quattrocento Sans"/>
                <a:ea typeface="Quattrocento Sans"/>
                <a:cs typeface="Quattrocento Sans"/>
                <a:sym typeface="Quattrocento Sans"/>
              </a:rPr>
              <a:t>PsExec</a:t>
            </a:r>
            <a:r>
              <a:rPr b="0" i="0" lang="en-US" sz="1500" u="none" cap="none" strike="noStrike">
                <a:solidFill>
                  <a:srgbClr val="E8ECF1"/>
                </a:solidFill>
                <a:latin typeface="Quattrocento Sans"/>
                <a:ea typeface="Quattrocento Sans"/>
                <a:cs typeface="Quattrocento Sans"/>
                <a:sym typeface="Quattrocento Sans"/>
              </a:rPr>
              <a:t> — Lateral movement via stolen credentials</a:t>
            </a:r>
            <a:endParaRPr b="0" i="0" sz="1500" u="none" cap="none" strike="noStrike"/>
          </a:p>
          <a:p>
            <a:pPr indent="0" lvl="0" marL="0" marR="0" rtl="0" algn="l">
              <a:lnSpc>
                <a:spcPct val="165000"/>
              </a:lnSpc>
              <a:spcBef>
                <a:spcPts val="0"/>
              </a:spcBef>
              <a:spcAft>
                <a:spcPts val="0"/>
              </a:spcAft>
              <a:buNone/>
            </a:pPr>
            <a:r>
              <a:rPr b="0" i="0" lang="en-US" sz="1500" u="none" cap="none" strike="noStrike">
                <a:solidFill>
                  <a:srgbClr val="D92525"/>
                </a:solidFill>
                <a:latin typeface="Quattrocento Sans"/>
                <a:ea typeface="Quattrocento Sans"/>
                <a:cs typeface="Quattrocento Sans"/>
                <a:sym typeface="Quattrocento Sans"/>
              </a:rPr>
              <a:t>▶</a:t>
            </a:r>
            <a:r>
              <a:rPr b="0" i="0" lang="en-US" sz="1500" u="none" cap="none" strike="noStrike">
                <a:solidFill>
                  <a:srgbClr val="E8ECF1"/>
                </a:solidFill>
                <a:latin typeface="Quattrocento Sans"/>
                <a:ea typeface="Quattrocento Sans"/>
                <a:cs typeface="Quattrocento Sans"/>
                <a:sym typeface="Quattrocento Sans"/>
              </a:rPr>
              <a:t> </a:t>
            </a:r>
            <a:r>
              <a:rPr b="1" i="0" lang="en-US" sz="1500" u="none" cap="none" strike="noStrike">
                <a:solidFill>
                  <a:srgbClr val="E8ECF1"/>
                </a:solidFill>
                <a:latin typeface="Quattrocento Sans"/>
                <a:ea typeface="Quattrocento Sans"/>
                <a:cs typeface="Quattrocento Sans"/>
                <a:sym typeface="Quattrocento Sans"/>
              </a:rPr>
              <a:t>WMI</a:t>
            </a:r>
            <a:r>
              <a:rPr b="0" i="0" lang="en-US" sz="1500" u="none" cap="none" strike="noStrike">
                <a:solidFill>
                  <a:srgbClr val="E8ECF1"/>
                </a:solidFill>
                <a:latin typeface="Quattrocento Sans"/>
                <a:ea typeface="Quattrocento Sans"/>
                <a:cs typeface="Quattrocento Sans"/>
                <a:sym typeface="Quattrocento Sans"/>
              </a:rPr>
              <a:t> — Windows Management Instrumentation for remote execution</a:t>
            </a:r>
            <a:endParaRPr b="0" i="0" sz="1500" u="none" cap="none" strike="noStrike"/>
          </a:p>
          <a:p>
            <a:pPr indent="0" lvl="0" marL="0" marR="0" rtl="0" algn="l">
              <a:lnSpc>
                <a:spcPct val="165000"/>
              </a:lnSpc>
              <a:spcBef>
                <a:spcPts val="0"/>
              </a:spcBef>
              <a:spcAft>
                <a:spcPts val="0"/>
              </a:spcAft>
              <a:buNone/>
            </a:pPr>
            <a:r>
              <a:rPr b="0" i="0" lang="en-US" sz="1500" u="none" cap="none" strike="noStrike">
                <a:solidFill>
                  <a:srgbClr val="D92525"/>
                </a:solidFill>
                <a:latin typeface="Quattrocento Sans"/>
                <a:ea typeface="Quattrocento Sans"/>
                <a:cs typeface="Quattrocento Sans"/>
                <a:sym typeface="Quattrocento Sans"/>
              </a:rPr>
              <a:t>▶</a:t>
            </a:r>
            <a:r>
              <a:rPr b="0" i="0" lang="en-US" sz="1500" u="none" cap="none" strike="noStrike">
                <a:solidFill>
                  <a:srgbClr val="E8ECF1"/>
                </a:solidFill>
                <a:latin typeface="Quattrocento Sans"/>
                <a:ea typeface="Quattrocento Sans"/>
                <a:cs typeface="Quattrocento Sans"/>
                <a:sym typeface="Quattrocento Sans"/>
              </a:rPr>
              <a:t> </a:t>
            </a:r>
            <a:r>
              <a:rPr b="1" i="0" lang="en-US" sz="1500" u="none" cap="none" strike="noStrike">
                <a:solidFill>
                  <a:srgbClr val="E8ECF1"/>
                </a:solidFill>
                <a:latin typeface="Quattrocento Sans"/>
                <a:ea typeface="Quattrocento Sans"/>
                <a:cs typeface="Quattrocento Sans"/>
                <a:sym typeface="Quattrocento Sans"/>
              </a:rPr>
              <a:t>Credential theft</a:t>
            </a:r>
            <a:r>
              <a:rPr b="0" i="0" lang="en-US" sz="1500" u="none" cap="none" strike="noStrike">
                <a:solidFill>
                  <a:srgbClr val="E8ECF1"/>
                </a:solidFill>
                <a:latin typeface="Quattrocento Sans"/>
                <a:ea typeface="Quattrocento Sans"/>
                <a:cs typeface="Quattrocento Sans"/>
                <a:sym typeface="Quattrocento Sans"/>
              </a:rPr>
              <a:t> — Mimikatz for harvesting local passwords</a:t>
            </a:r>
            <a:endParaRPr b="0" i="0" sz="1500" u="none" cap="none" strike="noStrike"/>
          </a:p>
        </p:txBody>
      </p:sp>
      <p:sp>
        <p:nvSpPr>
          <p:cNvPr id="132" name="Google Shape;132;p8"/>
          <p:cNvSpPr/>
          <p:nvPr/>
        </p:nvSpPr>
        <p:spPr>
          <a:xfrm>
            <a:off x="8128000" y="3530600"/>
            <a:ext cx="7366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Destruction Method</a:t>
            </a:r>
            <a:endParaRPr b="0" i="0" sz="1800" u="none" cap="none" strike="noStrike"/>
          </a:p>
        </p:txBody>
      </p:sp>
      <p:sp>
        <p:nvSpPr>
          <p:cNvPr id="133" name="Google Shape;133;p8"/>
          <p:cNvSpPr/>
          <p:nvPr/>
        </p:nvSpPr>
        <p:spPr>
          <a:xfrm>
            <a:off x="8128000" y="3937000"/>
            <a:ext cx="7366000" cy="22860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8128000" y="3937000"/>
            <a:ext cx="50800" cy="22860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p:nvPr/>
        </p:nvSpPr>
        <p:spPr>
          <a:xfrm>
            <a:off x="8382000" y="4038600"/>
            <a:ext cx="6921500" cy="20955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1" i="0" lang="en-US" sz="1500" u="none" cap="none" strike="noStrike">
                <a:solidFill>
                  <a:srgbClr val="E8ECF1"/>
                </a:solidFill>
                <a:latin typeface="Quattrocento Sans"/>
                <a:ea typeface="Quattrocento Sans"/>
                <a:cs typeface="Quattrocento Sans"/>
                <a:sym typeface="Quattrocento Sans"/>
              </a:rPr>
              <a:t>1.</a:t>
            </a:r>
            <a:r>
              <a:rPr b="0" i="0" lang="en-US" sz="1500" u="none" cap="none" strike="noStrike">
                <a:solidFill>
                  <a:srgbClr val="E8ECF1"/>
                </a:solidFill>
                <a:latin typeface="Quattrocento Sans"/>
                <a:ea typeface="Quattrocento Sans"/>
                <a:cs typeface="Quattrocento Sans"/>
                <a:sym typeface="Quattrocento Sans"/>
              </a:rPr>
              <a:t> Encrypts the first 1MB of each file using AES-128</a:t>
            </a:r>
            <a:endParaRPr b="0" i="0" sz="1500" u="none" cap="none" strike="noStrike"/>
          </a:p>
          <a:p>
            <a:pPr indent="0" lvl="0" marL="0" marR="0" rtl="0" algn="l">
              <a:lnSpc>
                <a:spcPct val="160000"/>
              </a:lnSpc>
              <a:spcBef>
                <a:spcPts val="0"/>
              </a:spcBef>
              <a:spcAft>
                <a:spcPts val="0"/>
              </a:spcAft>
              <a:buNone/>
            </a:pPr>
            <a:r>
              <a:rPr b="1" i="0" lang="en-US" sz="1500" u="none" cap="none" strike="noStrike">
                <a:solidFill>
                  <a:srgbClr val="E8ECF1"/>
                </a:solidFill>
                <a:latin typeface="Quattrocento Sans"/>
                <a:ea typeface="Quattrocento Sans"/>
                <a:cs typeface="Quattrocento Sans"/>
                <a:sym typeface="Quattrocento Sans"/>
              </a:rPr>
              <a:t>2.</a:t>
            </a:r>
            <a:r>
              <a:rPr b="0" i="0" lang="en-US" sz="1500" u="none" cap="none" strike="noStrike">
                <a:solidFill>
                  <a:srgbClr val="E8ECF1"/>
                </a:solidFill>
                <a:latin typeface="Quattrocento Sans"/>
                <a:ea typeface="Quattrocento Sans"/>
                <a:cs typeface="Quattrocento Sans"/>
                <a:sym typeface="Quattrocento Sans"/>
              </a:rPr>
              <a:t> The encryption key is randomly generated per file</a:t>
            </a:r>
            <a:endParaRPr b="0" i="0" sz="1500" u="none" cap="none" strike="noStrike"/>
          </a:p>
          <a:p>
            <a:pPr indent="0" lvl="0" marL="0" marR="0" rtl="0" algn="l">
              <a:lnSpc>
                <a:spcPct val="160000"/>
              </a:lnSpc>
              <a:spcBef>
                <a:spcPts val="0"/>
              </a:spcBef>
              <a:spcAft>
                <a:spcPts val="0"/>
              </a:spcAft>
              <a:buNone/>
            </a:pPr>
            <a:r>
              <a:rPr b="1" i="0" lang="en-US" sz="1500" u="none" cap="none" strike="noStrike">
                <a:solidFill>
                  <a:srgbClr val="E8ECF1"/>
                </a:solidFill>
                <a:latin typeface="Quattrocento Sans"/>
                <a:ea typeface="Quattrocento Sans"/>
                <a:cs typeface="Quattrocento Sans"/>
                <a:sym typeface="Quattrocento Sans"/>
              </a:rPr>
              <a:t>3.</a:t>
            </a:r>
            <a:r>
              <a:rPr b="0" i="0" lang="en-US" sz="1500" u="none" cap="none" strike="noStrike">
                <a:solidFill>
                  <a:srgbClr val="E8ECF1"/>
                </a:solidFill>
                <a:latin typeface="Quattrocento Sans"/>
                <a:ea typeface="Quattrocento Sans"/>
                <a:cs typeface="Quattrocento Sans"/>
                <a:sym typeface="Quattrocento Sans"/>
              </a:rPr>
              <a:t> The key is encrypted with the attacker's RSA public key</a:t>
            </a:r>
            <a:endParaRPr b="0" i="0" sz="1500" u="none" cap="none" strike="noStrike"/>
          </a:p>
          <a:p>
            <a:pPr indent="0" lvl="0" marL="0" marR="0" rtl="0" algn="l">
              <a:lnSpc>
                <a:spcPct val="160000"/>
              </a:lnSpc>
              <a:spcBef>
                <a:spcPts val="0"/>
              </a:spcBef>
              <a:spcAft>
                <a:spcPts val="0"/>
              </a:spcAft>
              <a:buNone/>
            </a:pPr>
            <a:r>
              <a:rPr b="1" i="0" lang="en-US" sz="1500" u="none" cap="none" strike="noStrike">
                <a:solidFill>
                  <a:srgbClr val="E8ECF1"/>
                </a:solidFill>
                <a:latin typeface="Quattrocento Sans"/>
                <a:ea typeface="Quattrocento Sans"/>
                <a:cs typeface="Quattrocento Sans"/>
                <a:sym typeface="Quattrocento Sans"/>
              </a:rPr>
              <a:t>4.</a:t>
            </a:r>
            <a:r>
              <a:rPr b="0" i="0" lang="en-US" sz="1500" u="none" cap="none" strike="noStrike">
                <a:solidFill>
                  <a:srgbClr val="E8ECF1"/>
                </a:solidFill>
                <a:latin typeface="Quattrocento Sans"/>
                <a:ea typeface="Quattrocento Sans"/>
                <a:cs typeface="Quattrocento Sans"/>
                <a:sym typeface="Quattrocento Sans"/>
              </a:rPr>
              <a:t> </a:t>
            </a:r>
            <a:r>
              <a:rPr b="1" i="0" lang="en-US" sz="1500" u="none" cap="none" strike="noStrike">
                <a:solidFill>
                  <a:srgbClr val="E8ECF1"/>
                </a:solidFill>
                <a:latin typeface="Quattrocento Sans"/>
                <a:ea typeface="Quattrocento Sans"/>
                <a:cs typeface="Quattrocento Sans"/>
                <a:sym typeface="Quattrocento Sans"/>
              </a:rPr>
              <a:t>The encrypted key is overwritten with garbage</a:t>
            </a:r>
            <a:endParaRPr b="0" i="0" sz="1500" u="none" cap="none" strike="noStrike"/>
          </a:p>
          <a:p>
            <a:pPr indent="0" lvl="0" marL="0" marR="0" rtl="0" algn="l">
              <a:lnSpc>
                <a:spcPct val="160000"/>
              </a:lnSpc>
              <a:spcBef>
                <a:spcPts val="0"/>
              </a:spcBef>
              <a:spcAft>
                <a:spcPts val="0"/>
              </a:spcAft>
              <a:buNone/>
            </a:pPr>
            <a:r>
              <a:rPr b="1" i="0" lang="en-US" sz="1500" u="none" cap="none" strike="noStrike">
                <a:solidFill>
                  <a:srgbClr val="E8ECF1"/>
                </a:solidFill>
                <a:latin typeface="Quattrocento Sans"/>
                <a:ea typeface="Quattrocento Sans"/>
                <a:cs typeface="Quattrocento Sans"/>
                <a:sym typeface="Quattrocento Sans"/>
              </a:rPr>
              <a:t>5.</a:t>
            </a:r>
            <a:r>
              <a:rPr b="0" i="0" lang="en-US" sz="1500" u="none" cap="none" strike="noStrike">
                <a:solidFill>
                  <a:srgbClr val="E8ECF1"/>
                </a:solidFill>
                <a:latin typeface="Quattrocento Sans"/>
                <a:ea typeface="Quattrocento Sans"/>
                <a:cs typeface="Quattrocento Sans"/>
                <a:sym typeface="Quattrocento Sans"/>
              </a:rPr>
              <a:t> MBR is overwritten with custom bootloader</a:t>
            </a:r>
            <a:endParaRPr b="0" i="0" sz="1500" u="none" cap="none" strike="noStrike"/>
          </a:p>
          <a:p>
            <a:pPr indent="0" lvl="0" marL="0" marR="0" rtl="0" algn="l">
              <a:lnSpc>
                <a:spcPct val="160000"/>
              </a:lnSpc>
              <a:spcBef>
                <a:spcPts val="0"/>
              </a:spcBef>
              <a:spcAft>
                <a:spcPts val="0"/>
              </a:spcAft>
              <a:buNone/>
            </a:pPr>
            <a:r>
              <a:rPr b="1" i="0" lang="en-US" sz="1500" u="none" cap="none" strike="noStrike">
                <a:solidFill>
                  <a:srgbClr val="E8ECF1"/>
                </a:solidFill>
                <a:latin typeface="Quattrocento Sans"/>
                <a:ea typeface="Quattrocento Sans"/>
                <a:cs typeface="Quattrocento Sans"/>
                <a:sym typeface="Quattrocento Sans"/>
              </a:rPr>
              <a:t>6.</a:t>
            </a:r>
            <a:r>
              <a:rPr b="0" i="0" lang="en-US" sz="1500" u="none" cap="none" strike="noStrike">
                <a:solidFill>
                  <a:srgbClr val="E8ECF1"/>
                </a:solidFill>
                <a:latin typeface="Quattrocento Sans"/>
                <a:ea typeface="Quattrocento Sans"/>
                <a:cs typeface="Quattrocento Sans"/>
                <a:sym typeface="Quattrocento Sans"/>
              </a:rPr>
              <a:t> System reboots to fake ransom note</a:t>
            </a:r>
            <a:endParaRPr b="0" i="0" sz="1500" u="none" cap="none" strike="noStrike"/>
          </a:p>
          <a:p>
            <a:pPr indent="0" lvl="0" marL="0" marR="0" rtl="0" algn="l">
              <a:lnSpc>
                <a:spcPct val="160000"/>
              </a:lnSpc>
              <a:spcBef>
                <a:spcPts val="0"/>
              </a:spcBef>
              <a:spcAft>
                <a:spcPts val="0"/>
              </a:spcAft>
              <a:buNone/>
            </a:pPr>
            <a:r>
              <a:rPr b="1" i="0" lang="en-US" sz="1500" u="none" cap="none" strike="noStrike">
                <a:solidFill>
                  <a:srgbClr val="E8ECF1"/>
                </a:solidFill>
                <a:latin typeface="Quattrocento Sans"/>
                <a:ea typeface="Quattrocento Sans"/>
                <a:cs typeface="Quattrocento Sans"/>
                <a:sym typeface="Quattrocento Sans"/>
              </a:rPr>
              <a:t>Result:</a:t>
            </a:r>
            <a:r>
              <a:rPr b="0" i="0" lang="en-US" sz="1500" u="none" cap="none" strike="noStrike">
                <a:solidFill>
                  <a:srgbClr val="E8ECF1"/>
                </a:solidFill>
                <a:latin typeface="Quattrocento Sans"/>
                <a:ea typeface="Quattrocento Sans"/>
                <a:cs typeface="Quattrocento Sans"/>
                <a:sym typeface="Quattrocento Sans"/>
              </a:rPr>
              <a:t> Decryption is mathematically impossible</a:t>
            </a:r>
            <a:endParaRPr b="0" i="0" sz="1500" u="none" cap="none" strike="noStrike"/>
          </a:p>
        </p:txBody>
      </p:sp>
      <p:sp>
        <p:nvSpPr>
          <p:cNvPr id="136" name="Google Shape;136;p8"/>
          <p:cNvSpPr/>
          <p:nvPr/>
        </p:nvSpPr>
        <p:spPr>
          <a:xfrm>
            <a:off x="762000" y="6540500"/>
            <a:ext cx="7620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Detection Opportunities — NotPetya</a:t>
            </a:r>
            <a:endParaRPr b="0" i="0" sz="1800" u="none" cap="none" strike="noStrike"/>
          </a:p>
        </p:txBody>
      </p:sp>
      <p:graphicFrame>
        <p:nvGraphicFramePr>
          <p:cNvPr id="137" name="Google Shape;137;p8"/>
          <p:cNvGraphicFramePr/>
          <p:nvPr/>
        </p:nvGraphicFramePr>
        <p:xfrm>
          <a:off x="762000" y="6985000"/>
          <a:ext cx="3000000" cy="3000000"/>
        </p:xfrm>
        <a:graphic>
          <a:graphicData uri="http://schemas.openxmlformats.org/drawingml/2006/table">
            <a:tbl>
              <a:tblPr>
                <a:noFill/>
                <a:tableStyleId>{DBBE9389-FC80-4B17-9EAB-D5C68AD6C392}</a:tableStyleId>
              </a:tblPr>
              <a:tblGrid>
                <a:gridCol w="4419600"/>
                <a:gridCol w="10312400"/>
              </a:tblGrid>
              <a:tr h="381000">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DETECTION OPPORTUNITY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WHY IT WORKS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r>
              <a:tr h="444500">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Write operations to \\Device\\Harddisk0\\DR0</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MBR overwrite requires direct write to the physical drive. Monitor for processes opening PhysicalDrive0 with write access.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444500">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SMB EternalBlue exploit patterns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EternalBlue has distinctive SMB packet patterns. IDS signatures detect the exploit even before payload delivery. Patch MS17-010 eliminates this vector entirely.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bl>
          </a:graphicData>
        </a:graphic>
      </p:graphicFrame>
      <p:cxnSp>
        <p:nvCxnSpPr>
          <p:cNvPr id="138" name="Google Shape;138;p8"/>
          <p:cNvCxnSpPr/>
          <p:nvPr/>
        </p:nvCxnSpPr>
        <p:spPr>
          <a:xfrm>
            <a:off x="762000" y="8763000"/>
            <a:ext cx="14732000" cy="0"/>
          </a:xfrm>
          <a:prstGeom prst="straightConnector1">
            <a:avLst/>
          </a:prstGeom>
          <a:noFill/>
          <a:ln cap="flat" cmpd="sng" w="12700">
            <a:solidFill>
              <a:srgbClr val="5A6070"/>
            </a:solidFill>
            <a:prstDash val="solid"/>
            <a:round/>
            <a:headEnd len="sm" w="sm" type="none"/>
            <a:tailEnd len="sm" w="sm" type="none"/>
          </a:ln>
        </p:spPr>
      </p:cxnSp>
      <p:sp>
        <p:nvSpPr>
          <p:cNvPr id="139" name="Google Shape;139;p8"/>
          <p:cNvSpPr/>
          <p:nvPr/>
        </p:nvSpPr>
        <p:spPr>
          <a:xfrm>
            <a:off x="7366000" y="88265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06 / 11</a:t>
            </a:r>
            <a:endParaRPr b="0" i="0" sz="1400" u="none" cap="none" strike="noStrike"/>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D21"/>
        </a:solidFill>
      </p:bgPr>
    </p:bg>
    <p:spTree>
      <p:nvGrpSpPr>
        <p:cNvPr id="144" name="Shape 144"/>
        <p:cNvGrpSpPr/>
        <p:nvPr/>
      </p:nvGrpSpPr>
      <p:grpSpPr>
        <a:xfrm>
          <a:off x="0" y="0"/>
          <a:ext cx="0" cy="0"/>
          <a:chOff x="0" y="0"/>
          <a:chExt cx="0" cy="0"/>
        </a:xfrm>
      </p:grpSpPr>
      <p:sp>
        <p:nvSpPr>
          <p:cNvPr id="145" name="Google Shape;145;p9"/>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SRC-2026-0614-WIPER</a:t>
            </a:r>
            <a:endParaRPr b="0" i="0" sz="1400" u="none" cap="none" strike="noStrike"/>
          </a:p>
        </p:txBody>
      </p:sp>
      <p:sp>
        <p:nvSpPr>
          <p:cNvPr id="146" name="Google Shape;146;p9"/>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147" name="Google Shape;147;p9"/>
          <p:cNvSpPr/>
          <p:nvPr/>
        </p:nvSpPr>
        <p:spPr>
          <a:xfrm>
            <a:off x="762000" y="2286000"/>
            <a:ext cx="2540000" cy="1016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7200" u="none" cap="none" strike="noStrike">
                <a:solidFill>
                  <a:srgbClr val="D92525"/>
                </a:solidFill>
                <a:latin typeface="Liter"/>
                <a:ea typeface="Liter"/>
                <a:cs typeface="Liter"/>
                <a:sym typeface="Liter"/>
              </a:rPr>
              <a:t>02</a:t>
            </a:r>
            <a:endParaRPr b="0" i="0" sz="7200" u="none" cap="none" strike="noStrike"/>
          </a:p>
        </p:txBody>
      </p:sp>
      <p:cxnSp>
        <p:nvCxnSpPr>
          <p:cNvPr id="148" name="Google Shape;148;p9"/>
          <p:cNvCxnSpPr/>
          <p:nvPr/>
        </p:nvCxnSpPr>
        <p:spPr>
          <a:xfrm>
            <a:off x="762000" y="3556000"/>
            <a:ext cx="2540000" cy="0"/>
          </a:xfrm>
          <a:prstGeom prst="straightConnector1">
            <a:avLst/>
          </a:prstGeom>
          <a:noFill/>
          <a:ln cap="flat" cmpd="sng" w="38100">
            <a:solidFill>
              <a:srgbClr val="D92525"/>
            </a:solidFill>
            <a:prstDash val="solid"/>
            <a:round/>
            <a:headEnd len="sm" w="sm" type="none"/>
            <a:tailEnd len="sm" w="sm" type="none"/>
          </a:ln>
        </p:spPr>
      </p:cxnSp>
      <p:sp>
        <p:nvSpPr>
          <p:cNvPr id="149" name="Google Shape;149;p9"/>
          <p:cNvSpPr/>
          <p:nvPr/>
        </p:nvSpPr>
        <p:spPr>
          <a:xfrm>
            <a:off x="762000" y="3810000"/>
            <a:ext cx="12700000" cy="698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4400" u="none" cap="none" strike="noStrike">
                <a:solidFill>
                  <a:srgbClr val="FFFFFF"/>
                </a:solidFill>
                <a:latin typeface="Liter"/>
                <a:ea typeface="Liter"/>
                <a:cs typeface="Liter"/>
                <a:sym typeface="Liter"/>
              </a:rPr>
              <a:t>TECHNICAL DEEP DIVES</a:t>
            </a:r>
            <a:endParaRPr b="0" i="0" sz="4400" u="none" cap="none" strike="noStrike"/>
          </a:p>
        </p:txBody>
      </p:sp>
      <p:sp>
        <p:nvSpPr>
          <p:cNvPr id="150" name="Google Shape;150;p9"/>
          <p:cNvSpPr/>
          <p:nvPr/>
        </p:nvSpPr>
        <p:spPr>
          <a:xfrm>
            <a:off x="762000" y="4699000"/>
            <a:ext cx="11430000" cy="444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2200" u="none" cap="none" strike="noStrike">
                <a:solidFill>
                  <a:srgbClr val="8C95A5"/>
                </a:solidFill>
                <a:latin typeface="Quattrocento Sans"/>
                <a:ea typeface="Quattrocento Sans"/>
                <a:cs typeface="Quattrocento Sans"/>
                <a:sym typeface="Quattrocento Sans"/>
              </a:rPr>
              <a:t>KillDisk Energy Sector Attacks, Shamoon APT Campaigns</a:t>
            </a:r>
            <a:endParaRPr b="0" i="0" sz="2200" u="none" cap="none" strike="noStrike"/>
          </a:p>
        </p:txBody>
      </p:sp>
      <p:cxnSp>
        <p:nvCxnSpPr>
          <p:cNvPr id="151" name="Google Shape;151;p9"/>
          <p:cNvCxnSpPr/>
          <p:nvPr/>
        </p:nvCxnSpPr>
        <p:spPr>
          <a:xfrm>
            <a:off x="762000" y="8763000"/>
            <a:ext cx="14732000" cy="0"/>
          </a:xfrm>
          <a:prstGeom prst="straightConnector1">
            <a:avLst/>
          </a:prstGeom>
          <a:noFill/>
          <a:ln cap="flat" cmpd="sng" w="12700">
            <a:solidFill>
              <a:srgbClr val="5A6070"/>
            </a:solidFill>
            <a:prstDash val="solid"/>
            <a:round/>
            <a:headEnd len="sm" w="sm" type="none"/>
            <a:tailEnd len="sm" w="sm" type="none"/>
          </a:ln>
        </p:spPr>
      </p:cxnSp>
      <p:sp>
        <p:nvSpPr>
          <p:cNvPr id="152" name="Google Shape;152;p9"/>
          <p:cNvSpPr/>
          <p:nvPr/>
        </p:nvSpPr>
        <p:spPr>
          <a:xfrm>
            <a:off x="7366000" y="88265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07 / 11</a:t>
            </a:r>
            <a:endParaRPr b="0" i="0" sz="1400" u="none" cap="none" strike="noStrike"/>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418"/>
        </a:solidFill>
      </p:bgPr>
    </p:bg>
    <p:spTree>
      <p:nvGrpSpPr>
        <p:cNvPr id="157" name="Shape 157"/>
        <p:cNvGrpSpPr/>
        <p:nvPr/>
      </p:nvGrpSpPr>
      <p:grpSpPr>
        <a:xfrm>
          <a:off x="0" y="0"/>
          <a:ext cx="0" cy="0"/>
          <a:chOff x="0" y="0"/>
          <a:chExt cx="0" cy="0"/>
        </a:xfrm>
      </p:grpSpPr>
      <p:sp>
        <p:nvSpPr>
          <p:cNvPr id="158" name="Google Shape;158;p10"/>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SRC-2026-0614-WIPER</a:t>
            </a:r>
            <a:endParaRPr b="0" i="0" sz="1400" u="none" cap="none" strike="noStrike"/>
          </a:p>
        </p:txBody>
      </p:sp>
      <p:sp>
        <p:nvSpPr>
          <p:cNvPr id="159" name="Google Shape;159;p10"/>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160" name="Google Shape;160;p10"/>
          <p:cNvSpPr/>
          <p:nvPr/>
        </p:nvSpPr>
        <p:spPr>
          <a:xfrm>
            <a:off x="762000" y="698500"/>
            <a:ext cx="14732000" cy="482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600" u="none" cap="none" strike="noStrike">
                <a:solidFill>
                  <a:srgbClr val="FFFFFF"/>
                </a:solidFill>
                <a:latin typeface="Liter"/>
                <a:ea typeface="Liter"/>
                <a:cs typeface="Liter"/>
                <a:sym typeface="Liter"/>
              </a:rPr>
              <a:t>KillDisk — Targeting Industrial Control Systems</a:t>
            </a:r>
            <a:endParaRPr b="0" i="0" sz="2600" u="none" cap="none" strike="noStrike"/>
          </a:p>
        </p:txBody>
      </p:sp>
      <p:cxnSp>
        <p:nvCxnSpPr>
          <p:cNvPr id="161" name="Google Shape;161;p10"/>
          <p:cNvCxnSpPr/>
          <p:nvPr/>
        </p:nvCxnSpPr>
        <p:spPr>
          <a:xfrm>
            <a:off x="762000" y="1244600"/>
            <a:ext cx="14732000" cy="0"/>
          </a:xfrm>
          <a:prstGeom prst="straightConnector1">
            <a:avLst/>
          </a:prstGeom>
          <a:noFill/>
          <a:ln cap="flat" cmpd="sng" w="12700">
            <a:solidFill>
              <a:srgbClr val="5A6070"/>
            </a:solidFill>
            <a:prstDash val="solid"/>
            <a:round/>
            <a:headEnd len="sm" w="sm" type="none"/>
            <a:tailEnd len="sm" w="sm" type="none"/>
          </a:ln>
        </p:spPr>
      </p:cxnSp>
      <p:sp>
        <p:nvSpPr>
          <p:cNvPr id="162" name="Google Shape;162;p10"/>
          <p:cNvSpPr/>
          <p:nvPr/>
        </p:nvSpPr>
        <p:spPr>
          <a:xfrm>
            <a:off x="762000" y="1397000"/>
            <a:ext cx="14732000" cy="635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300" u="none" cap="none" strike="noStrike">
                <a:solidFill>
                  <a:srgbClr val="E8ECF1"/>
                </a:solidFill>
                <a:latin typeface="Quattrocento Sans"/>
                <a:ea typeface="Quattrocento Sans"/>
                <a:cs typeface="Quattrocento Sans"/>
                <a:sym typeface="Quattrocento Sans"/>
              </a:rPr>
              <a:t>KillDisk</a:t>
            </a:r>
            <a:r>
              <a:rPr b="0" i="0" lang="en-US" sz="1300" u="none" cap="none" strike="noStrike">
                <a:solidFill>
                  <a:srgbClr val="E8ECF1"/>
                </a:solidFill>
                <a:latin typeface="Quattrocento Sans"/>
                <a:ea typeface="Quattrocento Sans"/>
                <a:cs typeface="Quattrocento Sans"/>
                <a:sym typeface="Quattrocento Sans"/>
              </a:rPr>
              <a:t> first appeared in 2015 targeting Ukrainian energy sector organizations. It overwrites the MBR with a skeleton bootloader displaying a nationalist message, then overwrites files with a 0x00 byte pattern. Later variants (2022) expanded to target </a:t>
            </a:r>
            <a:r>
              <a:rPr b="1" i="0" lang="en-US" sz="1300" u="none" cap="none" strike="noStrike">
                <a:solidFill>
                  <a:srgbClr val="E8ECF1"/>
                </a:solidFill>
                <a:latin typeface="Quattrocento Sans"/>
                <a:ea typeface="Quattrocento Sans"/>
                <a:cs typeface="Quattrocento Sans"/>
                <a:sym typeface="Quattrocento Sans"/>
              </a:rPr>
              <a:t>Linux systems and industrial control systems</a:t>
            </a:r>
            <a:r>
              <a:rPr b="0" i="0" lang="en-US" sz="1300" u="none" cap="none" strike="noStrike">
                <a:solidFill>
                  <a:srgbClr val="E8ECF1"/>
                </a:solidFill>
                <a:latin typeface="Quattrocento Sans"/>
                <a:ea typeface="Quattrocento Sans"/>
                <a:cs typeface="Quattrocento Sans"/>
                <a:sym typeface="Quattrocento Sans"/>
              </a:rPr>
              <a:t>.</a:t>
            </a:r>
            <a:endParaRPr b="0" i="0" sz="1300" u="none" cap="none" strike="noStrike"/>
          </a:p>
        </p:txBody>
      </p:sp>
      <p:sp>
        <p:nvSpPr>
          <p:cNvPr id="163" name="Google Shape;163;p10"/>
          <p:cNvSpPr/>
          <p:nvPr/>
        </p:nvSpPr>
        <p:spPr>
          <a:xfrm>
            <a:off x="762000" y="2222500"/>
            <a:ext cx="6858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Technical Capabilities</a:t>
            </a:r>
            <a:endParaRPr b="0" i="0" sz="1800" u="none" cap="none" strike="noStrike"/>
          </a:p>
        </p:txBody>
      </p:sp>
      <p:sp>
        <p:nvSpPr>
          <p:cNvPr id="164" name="Google Shape;164;p10"/>
          <p:cNvSpPr/>
          <p:nvPr/>
        </p:nvSpPr>
        <p:spPr>
          <a:xfrm>
            <a:off x="762000" y="2641600"/>
            <a:ext cx="6858000" cy="3175000"/>
          </a:xfrm>
          <a:prstGeom prst="rect">
            <a:avLst/>
          </a:prstGeom>
          <a:noFill/>
          <a:ln>
            <a:noFill/>
          </a:ln>
        </p:spPr>
        <p:txBody>
          <a:bodyPr anchorCtr="0" anchor="t" bIns="0" lIns="0" spcFirstLastPara="1" rIns="0" wrap="square" tIns="0">
            <a:noAutofit/>
          </a:bodyPr>
          <a:lstStyle/>
          <a:p>
            <a:pPr indent="0" lvl="0" marL="0" marR="0" rtl="0" algn="l">
              <a:lnSpc>
                <a:spcPct val="165000"/>
              </a:lnSpc>
              <a:spcBef>
                <a:spcPts val="0"/>
              </a:spcBef>
              <a:spcAft>
                <a:spcPts val="0"/>
              </a:spcAft>
              <a:buNone/>
            </a:pPr>
            <a:r>
              <a:rPr b="0" i="0" lang="en-US" sz="1500" u="none" cap="none" strike="noStrike">
                <a:solidFill>
                  <a:srgbClr val="D92525"/>
                </a:solidFill>
                <a:latin typeface="Quattrocento Sans"/>
                <a:ea typeface="Quattrocento Sans"/>
                <a:cs typeface="Quattrocento Sans"/>
                <a:sym typeface="Quattrocento Sans"/>
              </a:rPr>
              <a:t>▶</a:t>
            </a:r>
            <a:r>
              <a:rPr b="0" i="0" lang="en-US" sz="1500" u="none" cap="none" strike="noStrike">
                <a:solidFill>
                  <a:srgbClr val="E8ECF1"/>
                </a:solidFill>
                <a:latin typeface="Quattrocento Sans"/>
                <a:ea typeface="Quattrocento Sans"/>
                <a:cs typeface="Quattrocento Sans"/>
                <a:sym typeface="Quattrocento Sans"/>
              </a:rPr>
              <a:t> </a:t>
            </a:r>
            <a:r>
              <a:rPr b="1" i="0" lang="en-US" sz="1500" u="none" cap="none" strike="noStrike">
                <a:solidFill>
                  <a:srgbClr val="E8ECF1"/>
                </a:solidFill>
                <a:latin typeface="Quattrocento Sans"/>
                <a:ea typeface="Quattrocento Sans"/>
                <a:cs typeface="Quattrocento Sans"/>
                <a:sym typeface="Quattrocento Sans"/>
              </a:rPr>
              <a:t>MBR Overwrite</a:t>
            </a:r>
            <a:r>
              <a:rPr b="0" i="0" lang="en-US" sz="1500" u="none" cap="none" strike="noStrike">
                <a:solidFill>
                  <a:srgbClr val="E8ECF1"/>
                </a:solidFill>
                <a:latin typeface="Quattrocento Sans"/>
                <a:ea typeface="Quattrocento Sans"/>
                <a:cs typeface="Quattrocento Sans"/>
                <a:sym typeface="Quattrocento Sans"/>
              </a:rPr>
              <a:t> — Replaces boot code with skeleton loader</a:t>
            </a:r>
            <a:endParaRPr b="0" i="0" sz="1500" u="none" cap="none" strike="noStrike"/>
          </a:p>
          <a:p>
            <a:pPr indent="0" lvl="0" marL="0" marR="0" rtl="0" algn="l">
              <a:lnSpc>
                <a:spcPct val="165000"/>
              </a:lnSpc>
              <a:spcBef>
                <a:spcPts val="0"/>
              </a:spcBef>
              <a:spcAft>
                <a:spcPts val="0"/>
              </a:spcAft>
              <a:buNone/>
            </a:pPr>
            <a:r>
              <a:rPr b="0" i="0" lang="en-US" sz="1500" u="none" cap="none" strike="noStrike">
                <a:solidFill>
                  <a:srgbClr val="D92525"/>
                </a:solidFill>
                <a:latin typeface="Quattrocento Sans"/>
                <a:ea typeface="Quattrocento Sans"/>
                <a:cs typeface="Quattrocento Sans"/>
                <a:sym typeface="Quattrocento Sans"/>
              </a:rPr>
              <a:t>▶</a:t>
            </a:r>
            <a:r>
              <a:rPr b="0" i="0" lang="en-US" sz="1500" u="none" cap="none" strike="noStrike">
                <a:solidFill>
                  <a:srgbClr val="E8ECF1"/>
                </a:solidFill>
                <a:latin typeface="Quattrocento Sans"/>
                <a:ea typeface="Quattrocento Sans"/>
                <a:cs typeface="Quattrocento Sans"/>
                <a:sym typeface="Quattrocento Sans"/>
              </a:rPr>
              <a:t> </a:t>
            </a:r>
            <a:r>
              <a:rPr b="1" i="0" lang="en-US" sz="1500" u="none" cap="none" strike="noStrike">
                <a:solidFill>
                  <a:srgbClr val="E8ECF1"/>
                </a:solidFill>
                <a:latin typeface="Quattrocento Sans"/>
                <a:ea typeface="Quattrocento Sans"/>
                <a:cs typeface="Quattrocento Sans"/>
                <a:sym typeface="Quattrocento Sans"/>
              </a:rPr>
              <a:t>File Wiping</a:t>
            </a:r>
            <a:r>
              <a:rPr b="0" i="0" lang="en-US" sz="1500" u="none" cap="none" strike="noStrike">
                <a:solidFill>
                  <a:srgbClr val="E8ECF1"/>
                </a:solidFill>
                <a:latin typeface="Quattrocento Sans"/>
                <a:ea typeface="Quattrocento Sans"/>
                <a:cs typeface="Quattrocento Sans"/>
                <a:sym typeface="Quattrocento Sans"/>
              </a:rPr>
              <a:t> — Overwrites with 0x00 byte pattern</a:t>
            </a:r>
            <a:endParaRPr b="0" i="0" sz="1500" u="none" cap="none" strike="noStrike"/>
          </a:p>
          <a:p>
            <a:pPr indent="0" lvl="0" marL="0" marR="0" rtl="0" algn="l">
              <a:lnSpc>
                <a:spcPct val="165000"/>
              </a:lnSpc>
              <a:spcBef>
                <a:spcPts val="0"/>
              </a:spcBef>
              <a:spcAft>
                <a:spcPts val="0"/>
              </a:spcAft>
              <a:buNone/>
            </a:pPr>
            <a:r>
              <a:rPr b="0" i="0" lang="en-US" sz="1500" u="none" cap="none" strike="noStrike">
                <a:solidFill>
                  <a:srgbClr val="D92525"/>
                </a:solidFill>
                <a:latin typeface="Quattrocento Sans"/>
                <a:ea typeface="Quattrocento Sans"/>
                <a:cs typeface="Quattrocento Sans"/>
                <a:sym typeface="Quattrocento Sans"/>
              </a:rPr>
              <a:t>▶</a:t>
            </a:r>
            <a:r>
              <a:rPr b="0" i="0" lang="en-US" sz="1500" u="none" cap="none" strike="noStrike">
                <a:solidFill>
                  <a:srgbClr val="E8ECF1"/>
                </a:solidFill>
                <a:latin typeface="Quattrocento Sans"/>
                <a:ea typeface="Quattrocento Sans"/>
                <a:cs typeface="Quattrocento Sans"/>
                <a:sym typeface="Quattrocento Sans"/>
              </a:rPr>
              <a:t> </a:t>
            </a:r>
            <a:r>
              <a:rPr b="1" i="0" lang="en-US" sz="1500" u="none" cap="none" strike="noStrike">
                <a:solidFill>
                  <a:srgbClr val="E8ECF1"/>
                </a:solidFill>
                <a:latin typeface="Quattrocento Sans"/>
                <a:ea typeface="Quattrocento Sans"/>
                <a:cs typeface="Quattrocento Sans"/>
                <a:sym typeface="Quattrocento Sans"/>
              </a:rPr>
              <a:t>Process Termination</a:t>
            </a:r>
            <a:r>
              <a:rPr b="0" i="0" lang="en-US" sz="1500" u="none" cap="none" strike="noStrike">
                <a:solidFill>
                  <a:srgbClr val="E8ECF1"/>
                </a:solidFill>
                <a:latin typeface="Quattrocento Sans"/>
                <a:ea typeface="Quattrocento Sans"/>
                <a:cs typeface="Quattrocento Sans"/>
                <a:sym typeface="Quattrocento Sans"/>
              </a:rPr>
              <a:t> — Kills critical processes before wiping</a:t>
            </a:r>
            <a:endParaRPr b="0" i="0" sz="1500" u="none" cap="none" strike="noStrike"/>
          </a:p>
          <a:p>
            <a:pPr indent="0" lvl="0" marL="0" marR="0" rtl="0" algn="l">
              <a:lnSpc>
                <a:spcPct val="165000"/>
              </a:lnSpc>
              <a:spcBef>
                <a:spcPts val="0"/>
              </a:spcBef>
              <a:spcAft>
                <a:spcPts val="0"/>
              </a:spcAft>
              <a:buNone/>
            </a:pPr>
            <a:r>
              <a:rPr b="0" i="0" lang="en-US" sz="1500" u="none" cap="none" strike="noStrike">
                <a:solidFill>
                  <a:srgbClr val="D92525"/>
                </a:solidFill>
                <a:latin typeface="Quattrocento Sans"/>
                <a:ea typeface="Quattrocento Sans"/>
                <a:cs typeface="Quattrocento Sans"/>
                <a:sym typeface="Quattrocento Sans"/>
              </a:rPr>
              <a:t>▶</a:t>
            </a:r>
            <a:r>
              <a:rPr b="0" i="0" lang="en-US" sz="1500" u="none" cap="none" strike="noStrike">
                <a:solidFill>
                  <a:srgbClr val="E8ECF1"/>
                </a:solidFill>
                <a:latin typeface="Quattrocento Sans"/>
                <a:ea typeface="Quattrocento Sans"/>
                <a:cs typeface="Quattrocento Sans"/>
                <a:sym typeface="Quattrocento Sans"/>
              </a:rPr>
              <a:t> </a:t>
            </a:r>
            <a:r>
              <a:rPr b="1" i="0" lang="en-US" sz="1500" u="none" cap="none" strike="noStrike">
                <a:solidFill>
                  <a:srgbClr val="E8ECF1"/>
                </a:solidFill>
                <a:latin typeface="Quattrocento Sans"/>
                <a:ea typeface="Quattrocento Sans"/>
                <a:cs typeface="Quattrocento Sans"/>
                <a:sym typeface="Quattrocento Sans"/>
              </a:rPr>
              <a:t>Service Stop</a:t>
            </a:r>
            <a:r>
              <a:rPr b="0" i="0" lang="en-US" sz="1500" u="none" cap="none" strike="noStrike">
                <a:solidFill>
                  <a:srgbClr val="E8ECF1"/>
                </a:solidFill>
                <a:latin typeface="Quattrocento Sans"/>
                <a:ea typeface="Quattrocento Sans"/>
                <a:cs typeface="Quattrocento Sans"/>
                <a:sym typeface="Quattrocento Sans"/>
              </a:rPr>
              <a:t> — Stops Windows services to unlock files</a:t>
            </a:r>
            <a:endParaRPr b="0" i="0" sz="1500" u="none" cap="none" strike="noStrike"/>
          </a:p>
          <a:p>
            <a:pPr indent="0" lvl="0" marL="0" marR="0" rtl="0" algn="l">
              <a:lnSpc>
                <a:spcPct val="165000"/>
              </a:lnSpc>
              <a:spcBef>
                <a:spcPts val="0"/>
              </a:spcBef>
              <a:spcAft>
                <a:spcPts val="0"/>
              </a:spcAft>
              <a:buNone/>
            </a:pPr>
            <a:r>
              <a:rPr b="0" i="0" lang="en-US" sz="1500" u="none" cap="none" strike="noStrike">
                <a:solidFill>
                  <a:srgbClr val="D92525"/>
                </a:solidFill>
                <a:latin typeface="Quattrocento Sans"/>
                <a:ea typeface="Quattrocento Sans"/>
                <a:cs typeface="Quattrocento Sans"/>
                <a:sym typeface="Quattrocento Sans"/>
              </a:rPr>
              <a:t>▶</a:t>
            </a:r>
            <a:r>
              <a:rPr b="0" i="0" lang="en-US" sz="1500" u="none" cap="none" strike="noStrike">
                <a:solidFill>
                  <a:srgbClr val="E8ECF1"/>
                </a:solidFill>
                <a:latin typeface="Quattrocento Sans"/>
                <a:ea typeface="Quattrocento Sans"/>
                <a:cs typeface="Quattrocento Sans"/>
                <a:sym typeface="Quattrocento Sans"/>
              </a:rPr>
              <a:t> </a:t>
            </a:r>
            <a:r>
              <a:rPr b="1" i="0" lang="en-US" sz="1500" u="none" cap="none" strike="noStrike">
                <a:solidFill>
                  <a:srgbClr val="E8ECF1"/>
                </a:solidFill>
                <a:latin typeface="Quattrocento Sans"/>
                <a:ea typeface="Quattrocento Sans"/>
                <a:cs typeface="Quattrocento Sans"/>
                <a:sym typeface="Quattrocento Sans"/>
              </a:rPr>
              <a:t>Linux Targeting</a:t>
            </a:r>
            <a:r>
              <a:rPr b="0" i="0" lang="en-US" sz="1500" u="none" cap="none" strike="noStrike">
                <a:solidFill>
                  <a:srgbClr val="E8ECF1"/>
                </a:solidFill>
                <a:latin typeface="Quattrocento Sans"/>
                <a:ea typeface="Quattrocento Sans"/>
                <a:cs typeface="Quattrocento Sans"/>
                <a:sym typeface="Quattrocento Sans"/>
              </a:rPr>
              <a:t> — 2022 variants target Linux systems</a:t>
            </a:r>
            <a:endParaRPr b="0" i="0" sz="1500" u="none" cap="none" strike="noStrike"/>
          </a:p>
          <a:p>
            <a:pPr indent="0" lvl="0" marL="0" marR="0" rtl="0" algn="l">
              <a:lnSpc>
                <a:spcPct val="165000"/>
              </a:lnSpc>
              <a:spcBef>
                <a:spcPts val="0"/>
              </a:spcBef>
              <a:spcAft>
                <a:spcPts val="0"/>
              </a:spcAft>
              <a:buNone/>
            </a:pPr>
            <a:r>
              <a:rPr b="0" i="0" lang="en-US" sz="1500" u="none" cap="none" strike="noStrike">
                <a:solidFill>
                  <a:srgbClr val="D92525"/>
                </a:solidFill>
                <a:latin typeface="Quattrocento Sans"/>
                <a:ea typeface="Quattrocento Sans"/>
                <a:cs typeface="Quattrocento Sans"/>
                <a:sym typeface="Quattrocento Sans"/>
              </a:rPr>
              <a:t>▶</a:t>
            </a:r>
            <a:r>
              <a:rPr b="0" i="0" lang="en-US" sz="1500" u="none" cap="none" strike="noStrike">
                <a:solidFill>
                  <a:srgbClr val="E8ECF1"/>
                </a:solidFill>
                <a:latin typeface="Quattrocento Sans"/>
                <a:ea typeface="Quattrocento Sans"/>
                <a:cs typeface="Quattrocento Sans"/>
                <a:sym typeface="Quattrocento Sans"/>
              </a:rPr>
              <a:t> </a:t>
            </a:r>
            <a:r>
              <a:rPr b="1" i="0" lang="en-US" sz="1500" u="none" cap="none" strike="noStrike">
                <a:solidFill>
                  <a:srgbClr val="E8ECF1"/>
                </a:solidFill>
                <a:latin typeface="Quattrocento Sans"/>
                <a:ea typeface="Quattrocento Sans"/>
                <a:cs typeface="Quattrocento Sans"/>
                <a:sym typeface="Quattrocento Sans"/>
              </a:rPr>
              <a:t>ICS Targeting</a:t>
            </a:r>
            <a:r>
              <a:rPr b="0" i="0" lang="en-US" sz="1500" u="none" cap="none" strike="noStrike">
                <a:solidFill>
                  <a:srgbClr val="E8ECF1"/>
                </a:solidFill>
                <a:latin typeface="Quattrocento Sans"/>
                <a:ea typeface="Quattrocento Sans"/>
                <a:cs typeface="Quattrocento Sans"/>
                <a:sym typeface="Quattrocento Sans"/>
              </a:rPr>
              <a:t> — Targets industrial control systems</a:t>
            </a:r>
            <a:endParaRPr b="0" i="0" sz="1500" u="none" cap="none" strike="noStrike"/>
          </a:p>
          <a:p>
            <a:pPr indent="0" lvl="0" marL="0" marR="0" rtl="0" algn="l">
              <a:lnSpc>
                <a:spcPct val="165000"/>
              </a:lnSpc>
              <a:spcBef>
                <a:spcPts val="0"/>
              </a:spcBef>
              <a:spcAft>
                <a:spcPts val="0"/>
              </a:spcAft>
              <a:buNone/>
            </a:pPr>
            <a:r>
              <a:rPr b="0" i="0" lang="en-US" sz="1500" u="none" cap="none" strike="noStrike">
                <a:solidFill>
                  <a:srgbClr val="D92525"/>
                </a:solidFill>
                <a:latin typeface="Quattrocento Sans"/>
                <a:ea typeface="Quattrocento Sans"/>
                <a:cs typeface="Quattrocento Sans"/>
                <a:sym typeface="Quattrocento Sans"/>
              </a:rPr>
              <a:t>▶</a:t>
            </a:r>
            <a:r>
              <a:rPr b="0" i="0" lang="en-US" sz="1500" u="none" cap="none" strike="noStrike">
                <a:solidFill>
                  <a:srgbClr val="E8ECF1"/>
                </a:solidFill>
                <a:latin typeface="Quattrocento Sans"/>
                <a:ea typeface="Quattrocento Sans"/>
                <a:cs typeface="Quattrocento Sans"/>
                <a:sym typeface="Quattrocento Sans"/>
              </a:rPr>
              <a:t> </a:t>
            </a:r>
            <a:r>
              <a:rPr b="1" i="0" lang="en-US" sz="1500" u="none" cap="none" strike="noStrike">
                <a:solidFill>
                  <a:srgbClr val="E8ECF1"/>
                </a:solidFill>
                <a:latin typeface="Quattrocento Sans"/>
                <a:ea typeface="Quattrocento Sans"/>
                <a:cs typeface="Quattrocento Sans"/>
                <a:sym typeface="Quattrocento Sans"/>
              </a:rPr>
              <a:t>Timed Execution</a:t>
            </a:r>
            <a:r>
              <a:rPr b="0" i="0" lang="en-US" sz="1500" u="none" cap="none" strike="noStrike">
                <a:solidFill>
                  <a:srgbClr val="E8ECF1"/>
                </a:solidFill>
                <a:latin typeface="Quattrocento Sans"/>
                <a:ea typeface="Quattrocento Sans"/>
                <a:cs typeface="Quattrocento Sans"/>
                <a:sym typeface="Quattrocento Sans"/>
              </a:rPr>
              <a:t> — Can be configured to trigger at specific times</a:t>
            </a:r>
            <a:endParaRPr b="0" i="0" sz="1500" u="none" cap="none" strike="noStrike"/>
          </a:p>
        </p:txBody>
      </p:sp>
      <p:sp>
        <p:nvSpPr>
          <p:cNvPr id="165" name="Google Shape;165;p10"/>
          <p:cNvSpPr/>
          <p:nvPr/>
        </p:nvSpPr>
        <p:spPr>
          <a:xfrm>
            <a:off x="8128000" y="2222500"/>
            <a:ext cx="7366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File Wipe and Process Termination</a:t>
            </a:r>
            <a:endParaRPr b="0" i="0" sz="1800" u="none" cap="none" strike="noStrike"/>
          </a:p>
        </p:txBody>
      </p:sp>
      <p:sp>
        <p:nvSpPr>
          <p:cNvPr id="166" name="Google Shape;166;p10"/>
          <p:cNvSpPr/>
          <p:nvPr/>
        </p:nvSpPr>
        <p:spPr>
          <a:xfrm>
            <a:off x="8128000" y="2641600"/>
            <a:ext cx="7366000" cy="31750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0"/>
          <p:cNvSpPr/>
          <p:nvPr/>
        </p:nvSpPr>
        <p:spPr>
          <a:xfrm>
            <a:off x="8128000" y="2641600"/>
            <a:ext cx="50800" cy="31750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0"/>
          <p:cNvSpPr/>
          <p:nvPr/>
        </p:nvSpPr>
        <p:spPr>
          <a:xfrm>
            <a:off x="8382000" y="2768600"/>
            <a:ext cx="6921500" cy="2921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300" u="none" cap="none" strike="noStrike">
                <a:solidFill>
                  <a:srgbClr val="8C95A5"/>
                </a:solidFill>
                <a:latin typeface="Liter"/>
                <a:ea typeface="Liter"/>
                <a:cs typeface="Liter"/>
                <a:sym typeface="Liter"/>
              </a:rPr>
              <a:t>// KillDisk — terminate processes then wipe files</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D92525"/>
                </a:solidFill>
                <a:latin typeface="Liter"/>
                <a:ea typeface="Liter"/>
                <a:cs typeface="Liter"/>
                <a:sym typeface="Liter"/>
              </a:rPr>
              <a:t>void</a:t>
            </a:r>
            <a:r>
              <a:rPr b="0" i="0" lang="en-US" sz="1300" u="none" cap="none" strike="noStrike">
                <a:solidFill>
                  <a:srgbClr val="A0AEBF"/>
                </a:solidFill>
                <a:latin typeface="Liter"/>
                <a:ea typeface="Liter"/>
                <a:cs typeface="Liter"/>
                <a:sym typeface="Liter"/>
              </a:rPr>
              <a:t> </a:t>
            </a:r>
            <a:r>
              <a:rPr b="1" i="0" lang="en-US" sz="1300" u="none" cap="none" strike="noStrike">
                <a:solidFill>
                  <a:srgbClr val="A0AEBF"/>
                </a:solidFill>
                <a:latin typeface="Liter"/>
                <a:ea typeface="Liter"/>
                <a:cs typeface="Liter"/>
                <a:sym typeface="Liter"/>
              </a:rPr>
              <a:t>WipeFiles</a:t>
            </a:r>
            <a:r>
              <a:rPr b="0" i="0" lang="en-US" sz="1300" u="none" cap="none" strike="noStrike">
                <a:solidFill>
                  <a:srgbClr val="A0AEBF"/>
                </a:solidFill>
                <a:latin typeface="Liter"/>
                <a:ea typeface="Liter"/>
                <a:cs typeface="Liter"/>
                <a:sym typeface="Liter"/>
              </a:rPr>
              <a:t>() {</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A0AEBF"/>
                </a:solidFill>
                <a:latin typeface="Liter"/>
                <a:ea typeface="Liter"/>
                <a:cs typeface="Liter"/>
                <a:sym typeface="Liter"/>
              </a:rPr>
              <a:t>    </a:t>
            </a:r>
            <a:r>
              <a:rPr b="0" i="0" lang="en-US" sz="1300" u="none" cap="none" strike="noStrike">
                <a:solidFill>
                  <a:srgbClr val="8C95A5"/>
                </a:solidFill>
                <a:latin typeface="Liter"/>
                <a:ea typeface="Liter"/>
                <a:cs typeface="Liter"/>
                <a:sym typeface="Liter"/>
              </a:rPr>
              <a:t>// 1. Terminate critical processes</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A0AEBF"/>
                </a:solidFill>
                <a:latin typeface="Liter"/>
                <a:ea typeface="Liter"/>
                <a:cs typeface="Liter"/>
                <a:sym typeface="Liter"/>
              </a:rPr>
              <a:t>    </a:t>
            </a:r>
            <a:r>
              <a:rPr b="0" i="0" lang="en-US" sz="1300" u="none" cap="none" strike="noStrike">
                <a:solidFill>
                  <a:srgbClr val="D92525"/>
                </a:solidFill>
                <a:latin typeface="Liter"/>
                <a:ea typeface="Liter"/>
                <a:cs typeface="Liter"/>
                <a:sym typeface="Liter"/>
              </a:rPr>
              <a:t>char*</a:t>
            </a:r>
            <a:r>
              <a:rPr b="0" i="0" lang="en-US" sz="1300" u="none" cap="none" strike="noStrike">
                <a:solidFill>
                  <a:srgbClr val="A0AEBF"/>
                </a:solidFill>
                <a:latin typeface="Liter"/>
                <a:ea typeface="Liter"/>
                <a:cs typeface="Liter"/>
                <a:sym typeface="Liter"/>
              </a:rPr>
              <a:t> targets[] = { </a:t>
            </a:r>
            <a:r>
              <a:rPr b="0" i="0" lang="en-US" sz="1300" u="none" cap="none" strike="noStrike">
                <a:solidFill>
                  <a:srgbClr val="4CAF50"/>
                </a:solidFill>
                <a:latin typeface="Liter"/>
                <a:ea typeface="Liter"/>
                <a:cs typeface="Liter"/>
                <a:sym typeface="Liter"/>
              </a:rPr>
              <a:t>"lsass.exe"</a:t>
            </a:r>
            <a:r>
              <a:rPr b="0" i="0" lang="en-US" sz="1300" u="none" cap="none" strike="noStrike">
                <a:solidFill>
                  <a:srgbClr val="A0AEBF"/>
                </a:solidFill>
                <a:latin typeface="Liter"/>
                <a:ea typeface="Liter"/>
                <a:cs typeface="Liter"/>
                <a:sym typeface="Liter"/>
              </a:rPr>
              <a:t>, </a:t>
            </a:r>
            <a:r>
              <a:rPr b="0" i="0" lang="en-US" sz="1300" u="none" cap="none" strike="noStrike">
                <a:solidFill>
                  <a:srgbClr val="4CAF50"/>
                </a:solidFill>
                <a:latin typeface="Liter"/>
                <a:ea typeface="Liter"/>
                <a:cs typeface="Liter"/>
                <a:sym typeface="Liter"/>
              </a:rPr>
              <a:t>"services.exe"</a:t>
            </a:r>
            <a:r>
              <a:rPr b="0" i="0" lang="en-US" sz="1300" u="none" cap="none" strike="noStrike">
                <a:solidFill>
                  <a:srgbClr val="A0AEBF"/>
                </a:solidFill>
                <a:latin typeface="Liter"/>
                <a:ea typeface="Liter"/>
                <a:cs typeface="Liter"/>
                <a:sym typeface="Liter"/>
              </a:rPr>
              <a:t>, </a:t>
            </a:r>
            <a:r>
              <a:rPr b="0" i="0" lang="en-US" sz="1300" u="none" cap="none" strike="noStrike">
                <a:solidFill>
                  <a:srgbClr val="4CAF50"/>
                </a:solidFill>
                <a:latin typeface="Liter"/>
                <a:ea typeface="Liter"/>
                <a:cs typeface="Liter"/>
                <a:sym typeface="Liter"/>
              </a:rPr>
              <a:t>"csrss.exe"</a:t>
            </a:r>
            <a:r>
              <a:rPr b="0" i="0" lang="en-US" sz="1300" u="none" cap="none" strike="noStrike">
                <a:solidFill>
                  <a:srgbClr val="A0AEBF"/>
                </a:solidFill>
                <a:latin typeface="Liter"/>
                <a:ea typeface="Liter"/>
                <a:cs typeface="Liter"/>
                <a:sym typeface="Liter"/>
              </a:rPr>
              <a:t> };</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A0AEBF"/>
                </a:solidFill>
                <a:latin typeface="Liter"/>
                <a:ea typeface="Liter"/>
                <a:cs typeface="Liter"/>
                <a:sym typeface="Liter"/>
              </a:rPr>
              <a:t>    </a:t>
            </a:r>
            <a:r>
              <a:rPr b="0" i="0" lang="en-US" sz="1300" u="none" cap="none" strike="noStrike">
                <a:solidFill>
                  <a:srgbClr val="D92525"/>
                </a:solidFill>
                <a:latin typeface="Liter"/>
                <a:ea typeface="Liter"/>
                <a:cs typeface="Liter"/>
                <a:sym typeface="Liter"/>
              </a:rPr>
              <a:t>for</a:t>
            </a:r>
            <a:r>
              <a:rPr b="0" i="0" lang="en-US" sz="1300" u="none" cap="none" strike="noStrike">
                <a:solidFill>
                  <a:srgbClr val="A0AEBF"/>
                </a:solidFill>
                <a:latin typeface="Liter"/>
                <a:ea typeface="Liter"/>
                <a:cs typeface="Liter"/>
                <a:sym typeface="Liter"/>
              </a:rPr>
              <a:t> (</a:t>
            </a:r>
            <a:r>
              <a:rPr b="0" i="0" lang="en-US" sz="1300" u="none" cap="none" strike="noStrike">
                <a:solidFill>
                  <a:srgbClr val="D92525"/>
                </a:solidFill>
                <a:latin typeface="Liter"/>
                <a:ea typeface="Liter"/>
                <a:cs typeface="Liter"/>
                <a:sym typeface="Liter"/>
              </a:rPr>
              <a:t>int</a:t>
            </a:r>
            <a:r>
              <a:rPr b="0" i="0" lang="en-US" sz="1300" u="none" cap="none" strike="noStrike">
                <a:solidFill>
                  <a:srgbClr val="A0AEBF"/>
                </a:solidFill>
                <a:latin typeface="Liter"/>
                <a:ea typeface="Liter"/>
                <a:cs typeface="Liter"/>
                <a:sym typeface="Liter"/>
              </a:rPr>
              <a:t> i = </a:t>
            </a:r>
            <a:r>
              <a:rPr b="0" i="0" lang="en-US" sz="1300" u="none" cap="none" strike="noStrike">
                <a:solidFill>
                  <a:srgbClr val="E8A020"/>
                </a:solidFill>
                <a:latin typeface="Liter"/>
                <a:ea typeface="Liter"/>
                <a:cs typeface="Liter"/>
                <a:sym typeface="Liter"/>
              </a:rPr>
              <a:t>0</a:t>
            </a:r>
            <a:r>
              <a:rPr b="0" i="0" lang="en-US" sz="1300" u="none" cap="none" strike="noStrike">
                <a:solidFill>
                  <a:srgbClr val="A0AEBF"/>
                </a:solidFill>
                <a:latin typeface="Liter"/>
                <a:ea typeface="Liter"/>
                <a:cs typeface="Liter"/>
                <a:sym typeface="Liter"/>
              </a:rPr>
              <a:t>; i &lt; </a:t>
            </a:r>
            <a:r>
              <a:rPr b="0" i="0" lang="en-US" sz="1300" u="none" cap="none" strike="noStrike">
                <a:solidFill>
                  <a:srgbClr val="E8A020"/>
                </a:solidFill>
                <a:latin typeface="Liter"/>
                <a:ea typeface="Liter"/>
                <a:cs typeface="Liter"/>
                <a:sym typeface="Liter"/>
              </a:rPr>
              <a:t>3</a:t>
            </a:r>
            <a:r>
              <a:rPr b="0" i="0" lang="en-US" sz="1300" u="none" cap="none" strike="noStrike">
                <a:solidFill>
                  <a:srgbClr val="A0AEBF"/>
                </a:solidFill>
                <a:latin typeface="Liter"/>
                <a:ea typeface="Liter"/>
                <a:cs typeface="Liter"/>
                <a:sym typeface="Liter"/>
              </a:rPr>
              <a:t>; i++)</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A0AEBF"/>
                </a:solidFill>
                <a:latin typeface="Liter"/>
                <a:ea typeface="Liter"/>
                <a:cs typeface="Liter"/>
                <a:sym typeface="Liter"/>
              </a:rPr>
              <a:t>        TerminateProcessByName(targets[i]);</a:t>
            </a:r>
            <a:endParaRPr b="0" i="0" sz="1300" u="none" cap="none" strike="noStrike"/>
          </a:p>
          <a:p>
            <a:pPr indent="0" lvl="0" marL="0" marR="0" rtl="0" algn="l">
              <a:lnSpc>
                <a:spcPct val="150000"/>
              </a:lnSpc>
              <a:spcBef>
                <a:spcPts val="0"/>
              </a:spcBef>
              <a:spcAft>
                <a:spcPts val="0"/>
              </a:spcAft>
              <a:buNone/>
            </a:pPr>
            <a:r>
              <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A0AEBF"/>
                </a:solidFill>
                <a:latin typeface="Liter"/>
                <a:ea typeface="Liter"/>
                <a:cs typeface="Liter"/>
                <a:sym typeface="Liter"/>
              </a:rPr>
              <a:t>    </a:t>
            </a:r>
            <a:r>
              <a:rPr b="0" i="0" lang="en-US" sz="1300" u="none" cap="none" strike="noStrike">
                <a:solidFill>
                  <a:srgbClr val="8C95A5"/>
                </a:solidFill>
                <a:latin typeface="Liter"/>
                <a:ea typeface="Liter"/>
                <a:cs typeface="Liter"/>
                <a:sym typeface="Liter"/>
              </a:rPr>
              <a:t>// 2. Enumerate and overwrite files</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A0AEBF"/>
                </a:solidFill>
                <a:latin typeface="Liter"/>
                <a:ea typeface="Liter"/>
                <a:cs typeface="Liter"/>
                <a:sym typeface="Liter"/>
              </a:rPr>
              <a:t>    HANDLE hFind; WIN32_FIND_DATA data;</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A0AEBF"/>
                </a:solidFill>
                <a:latin typeface="Liter"/>
                <a:ea typeface="Liter"/>
                <a:cs typeface="Liter"/>
                <a:sym typeface="Liter"/>
              </a:rPr>
              <a:t>    hFind = FindFirstFile(</a:t>
            </a:r>
            <a:r>
              <a:rPr b="0" i="0" lang="en-US" sz="1300" u="none" cap="none" strike="noStrike">
                <a:solidFill>
                  <a:srgbClr val="4CAF50"/>
                </a:solidFill>
                <a:latin typeface="Liter"/>
                <a:ea typeface="Liter"/>
                <a:cs typeface="Liter"/>
                <a:sym typeface="Liter"/>
              </a:rPr>
              <a:t>"C:\\\\*.*"</a:t>
            </a:r>
            <a:r>
              <a:rPr b="0" i="0" lang="en-US" sz="1300" u="none" cap="none" strike="noStrike">
                <a:solidFill>
                  <a:srgbClr val="A0AEBF"/>
                </a:solidFill>
                <a:latin typeface="Liter"/>
                <a:ea typeface="Liter"/>
                <a:cs typeface="Liter"/>
                <a:sym typeface="Liter"/>
              </a:rPr>
              <a:t>, &amp;data);</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A0AEBF"/>
                </a:solidFill>
                <a:latin typeface="Liter"/>
                <a:ea typeface="Liter"/>
                <a:cs typeface="Liter"/>
                <a:sym typeface="Liter"/>
              </a:rPr>
              <a:t>    </a:t>
            </a:r>
            <a:r>
              <a:rPr b="0" i="0" lang="en-US" sz="1300" u="none" cap="none" strike="noStrike">
                <a:solidFill>
                  <a:srgbClr val="D92525"/>
                </a:solidFill>
                <a:latin typeface="Liter"/>
                <a:ea typeface="Liter"/>
                <a:cs typeface="Liter"/>
                <a:sym typeface="Liter"/>
              </a:rPr>
              <a:t>do</a:t>
            </a:r>
            <a:r>
              <a:rPr b="0" i="0" lang="en-US" sz="1300" u="none" cap="none" strike="noStrike">
                <a:solidFill>
                  <a:srgbClr val="A0AEBF"/>
                </a:solidFill>
                <a:latin typeface="Liter"/>
                <a:ea typeface="Liter"/>
                <a:cs typeface="Liter"/>
                <a:sym typeface="Liter"/>
              </a:rPr>
              <a:t> { OverwriteFile(data.cFileName, </a:t>
            </a:r>
            <a:r>
              <a:rPr b="0" i="0" lang="en-US" sz="1300" u="none" cap="none" strike="noStrike">
                <a:solidFill>
                  <a:srgbClr val="E8A020"/>
                </a:solidFill>
                <a:latin typeface="Liter"/>
                <a:ea typeface="Liter"/>
                <a:cs typeface="Liter"/>
                <a:sym typeface="Liter"/>
              </a:rPr>
              <a:t>0x00</a:t>
            </a:r>
            <a:r>
              <a:rPr b="0" i="0" lang="en-US" sz="1300" u="none" cap="none" strike="noStrike">
                <a:solidFill>
                  <a:srgbClr val="A0AEBF"/>
                </a:solidFill>
                <a:latin typeface="Liter"/>
                <a:ea typeface="Liter"/>
                <a:cs typeface="Liter"/>
                <a:sym typeface="Liter"/>
              </a:rPr>
              <a:t>); }</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A0AEBF"/>
                </a:solidFill>
                <a:latin typeface="Liter"/>
                <a:ea typeface="Liter"/>
                <a:cs typeface="Liter"/>
                <a:sym typeface="Liter"/>
              </a:rPr>
              <a:t>    </a:t>
            </a:r>
            <a:r>
              <a:rPr b="0" i="0" lang="en-US" sz="1300" u="none" cap="none" strike="noStrike">
                <a:solidFill>
                  <a:srgbClr val="D92525"/>
                </a:solidFill>
                <a:latin typeface="Liter"/>
                <a:ea typeface="Liter"/>
                <a:cs typeface="Liter"/>
                <a:sym typeface="Liter"/>
              </a:rPr>
              <a:t>while</a:t>
            </a:r>
            <a:r>
              <a:rPr b="0" i="0" lang="en-US" sz="1300" u="none" cap="none" strike="noStrike">
                <a:solidFill>
                  <a:srgbClr val="A0AEBF"/>
                </a:solidFill>
                <a:latin typeface="Liter"/>
                <a:ea typeface="Liter"/>
                <a:cs typeface="Liter"/>
                <a:sym typeface="Liter"/>
              </a:rPr>
              <a:t> (FindNextFile(hFind, &amp;data));</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A0AEBF"/>
                </a:solidFill>
                <a:latin typeface="Liter"/>
                <a:ea typeface="Liter"/>
                <a:cs typeface="Liter"/>
                <a:sym typeface="Liter"/>
              </a:rPr>
              <a:t>}</a:t>
            </a:r>
            <a:endParaRPr b="0" i="0" sz="1300" u="none" cap="none" strike="noStrike"/>
          </a:p>
        </p:txBody>
      </p:sp>
      <p:sp>
        <p:nvSpPr>
          <p:cNvPr id="169" name="Google Shape;169;p10"/>
          <p:cNvSpPr/>
          <p:nvPr/>
        </p:nvSpPr>
        <p:spPr>
          <a:xfrm>
            <a:off x="762000" y="6159500"/>
            <a:ext cx="7620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Detection Opportunities — KillDisk</a:t>
            </a:r>
            <a:endParaRPr b="0" i="0" sz="1800" u="none" cap="none" strike="noStrike"/>
          </a:p>
        </p:txBody>
      </p:sp>
      <p:graphicFrame>
        <p:nvGraphicFramePr>
          <p:cNvPr id="170" name="Google Shape;170;p10"/>
          <p:cNvGraphicFramePr/>
          <p:nvPr/>
        </p:nvGraphicFramePr>
        <p:xfrm>
          <a:off x="762000" y="6604000"/>
          <a:ext cx="3000000" cy="3000000"/>
        </p:xfrm>
        <a:graphic>
          <a:graphicData uri="http://schemas.openxmlformats.org/drawingml/2006/table">
            <a:tbl>
              <a:tblPr>
                <a:noFill/>
                <a:tableStyleId>{DBBE9389-FC80-4B17-9EAB-D5C68AD6C392}</a:tableStyleId>
              </a:tblPr>
              <a:tblGrid>
                <a:gridCol w="4419600"/>
                <a:gridCol w="10312400"/>
              </a:tblGrid>
              <a:tr h="462925">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DETECTION OPPORTUNITY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WHY IT WORKS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r>
              <a:tr h="625800">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Mass process termination of system processes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KillDisk terminates lsass.exe, services.exe, and csrss.exe before wiping. Simultaneous termination of multiple critical system processes is a high-fidelity alert.</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625800">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Rapid file overwrite operations with 0x00</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A process rapidly opening files for write access and writing zeros is a definitive wiper indicator. File system monitoring catches this pattern before significant damage occurs.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bl>
          </a:graphicData>
        </a:graphic>
      </p:graphicFrame>
      <p:cxnSp>
        <p:nvCxnSpPr>
          <p:cNvPr id="171" name="Google Shape;171;p10"/>
          <p:cNvCxnSpPr/>
          <p:nvPr/>
        </p:nvCxnSpPr>
        <p:spPr>
          <a:xfrm>
            <a:off x="762000" y="8763000"/>
            <a:ext cx="14732000" cy="0"/>
          </a:xfrm>
          <a:prstGeom prst="straightConnector1">
            <a:avLst/>
          </a:prstGeom>
          <a:noFill/>
          <a:ln cap="flat" cmpd="sng" w="12700">
            <a:solidFill>
              <a:srgbClr val="5A6070"/>
            </a:solidFill>
            <a:prstDash val="solid"/>
            <a:round/>
            <a:headEnd len="sm" w="sm" type="none"/>
            <a:tailEnd len="sm" w="sm" type="none"/>
          </a:ln>
        </p:spPr>
      </p:cxnSp>
      <p:sp>
        <p:nvSpPr>
          <p:cNvPr id="172" name="Google Shape;172;p10"/>
          <p:cNvSpPr/>
          <p:nvPr/>
        </p:nvSpPr>
        <p:spPr>
          <a:xfrm>
            <a:off x="7366000" y="88265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08 / 11</a:t>
            </a:r>
            <a:endParaRPr b="0" i="0" sz="1400" u="none" cap="none" strike="noStrike"/>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418"/>
        </a:solidFill>
      </p:bgPr>
    </p:bg>
    <p:spTree>
      <p:nvGrpSpPr>
        <p:cNvPr id="177" name="Shape 177"/>
        <p:cNvGrpSpPr/>
        <p:nvPr/>
      </p:nvGrpSpPr>
      <p:grpSpPr>
        <a:xfrm>
          <a:off x="0" y="0"/>
          <a:ext cx="0" cy="0"/>
          <a:chOff x="0" y="0"/>
          <a:chExt cx="0" cy="0"/>
        </a:xfrm>
      </p:grpSpPr>
      <p:sp>
        <p:nvSpPr>
          <p:cNvPr id="178" name="Google Shape;178;p11"/>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SRC-2026-0614-WIPER</a:t>
            </a:r>
            <a:endParaRPr b="0" i="0" sz="1400" u="none" cap="none" strike="noStrike"/>
          </a:p>
        </p:txBody>
      </p:sp>
      <p:sp>
        <p:nvSpPr>
          <p:cNvPr id="179" name="Google Shape;179;p11"/>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180" name="Google Shape;180;p11"/>
          <p:cNvSpPr/>
          <p:nvPr/>
        </p:nvSpPr>
        <p:spPr>
          <a:xfrm>
            <a:off x="762000" y="698500"/>
            <a:ext cx="14732000" cy="482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600" u="none" cap="none" strike="noStrike">
                <a:solidFill>
                  <a:srgbClr val="FFFFFF"/>
                </a:solidFill>
                <a:latin typeface="Liter"/>
                <a:ea typeface="Liter"/>
                <a:cs typeface="Liter"/>
                <a:sym typeface="Liter"/>
              </a:rPr>
              <a:t>Shamoon — The APT Wiper with Distinctive Features</a:t>
            </a:r>
            <a:endParaRPr b="0" i="0" sz="2600" u="none" cap="none" strike="noStrike"/>
          </a:p>
        </p:txBody>
      </p:sp>
      <p:cxnSp>
        <p:nvCxnSpPr>
          <p:cNvPr id="181" name="Google Shape;181;p11"/>
          <p:cNvCxnSpPr/>
          <p:nvPr/>
        </p:nvCxnSpPr>
        <p:spPr>
          <a:xfrm>
            <a:off x="762000" y="1244600"/>
            <a:ext cx="14732000" cy="0"/>
          </a:xfrm>
          <a:prstGeom prst="straightConnector1">
            <a:avLst/>
          </a:prstGeom>
          <a:noFill/>
          <a:ln cap="flat" cmpd="sng" w="12700">
            <a:solidFill>
              <a:srgbClr val="5A6070"/>
            </a:solidFill>
            <a:prstDash val="solid"/>
            <a:round/>
            <a:headEnd len="sm" w="sm" type="none"/>
            <a:tailEnd len="sm" w="sm" type="none"/>
          </a:ln>
        </p:spPr>
      </p:cxnSp>
      <p:sp>
        <p:nvSpPr>
          <p:cNvPr id="182" name="Google Shape;182;p11"/>
          <p:cNvSpPr/>
          <p:nvPr/>
        </p:nvSpPr>
        <p:spPr>
          <a:xfrm>
            <a:off x="762000" y="1397000"/>
            <a:ext cx="14732000" cy="635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300" u="none" cap="none" strike="noStrike">
                <a:solidFill>
                  <a:srgbClr val="E8ECF1"/>
                </a:solidFill>
                <a:latin typeface="Quattrocento Sans"/>
                <a:ea typeface="Quattrocento Sans"/>
                <a:cs typeface="Quattrocento Sans"/>
                <a:sym typeface="Quattrocento Sans"/>
              </a:rPr>
              <a:t>Shamoon</a:t>
            </a:r>
            <a:r>
              <a:rPr b="0" i="0" lang="en-US" sz="1300" u="none" cap="none" strike="noStrike">
                <a:solidFill>
                  <a:srgbClr val="E8ECF1"/>
                </a:solidFill>
                <a:latin typeface="Quattrocento Sans"/>
                <a:ea typeface="Quattrocento Sans"/>
                <a:cs typeface="Quattrocento Sans"/>
                <a:sym typeface="Quattrocento Sans"/>
              </a:rPr>
              <a:t> (2012, 2016, 2018) is associated with </a:t>
            </a:r>
            <a:r>
              <a:rPr b="1" i="0" lang="en-US" sz="1300" u="none" cap="none" strike="noStrike">
                <a:solidFill>
                  <a:srgbClr val="E8ECF1"/>
                </a:solidFill>
                <a:latin typeface="Quattrocento Sans"/>
                <a:ea typeface="Quattrocento Sans"/>
                <a:cs typeface="Quattrocento Sans"/>
                <a:sym typeface="Quattrocento Sans"/>
              </a:rPr>
              <a:t>Iranian APT groups</a:t>
            </a:r>
            <a:r>
              <a:rPr b="0" i="0" lang="en-US" sz="1300" u="none" cap="none" strike="noStrike">
                <a:solidFill>
                  <a:srgbClr val="E8ECF1"/>
                </a:solidFill>
                <a:latin typeface="Quattrocento Sans"/>
                <a:ea typeface="Quattrocento Sans"/>
                <a:cs typeface="Quattrocento Sans"/>
                <a:sym typeface="Quattrocento Sans"/>
              </a:rPr>
              <a:t>. It features distinctive capabilities including raw disk access to overwrite files with corrupted images, stolen certificate usage, service-based persistence, and network share enumeration for lateral wiping.</a:t>
            </a:r>
            <a:endParaRPr b="0" i="0" sz="1300" u="none" cap="none" strike="noStrike"/>
          </a:p>
        </p:txBody>
      </p:sp>
      <p:sp>
        <p:nvSpPr>
          <p:cNvPr id="183" name="Google Shape;183;p11"/>
          <p:cNvSpPr/>
          <p:nvPr/>
        </p:nvSpPr>
        <p:spPr>
          <a:xfrm>
            <a:off x="762000" y="2222500"/>
            <a:ext cx="7048500" cy="13970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1"/>
          <p:cNvSpPr/>
          <p:nvPr/>
        </p:nvSpPr>
        <p:spPr>
          <a:xfrm>
            <a:off x="762000" y="2222500"/>
            <a:ext cx="50800" cy="13970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1"/>
          <p:cNvSpPr/>
          <p:nvPr/>
        </p:nvSpPr>
        <p:spPr>
          <a:xfrm>
            <a:off x="1016000" y="2311400"/>
            <a:ext cx="6540500" cy="1206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400" u="none" cap="none" strike="noStrike">
                <a:solidFill>
                  <a:srgbClr val="E8ECF1"/>
                </a:solidFill>
                <a:latin typeface="Quattrocento Sans"/>
                <a:ea typeface="Quattrocento Sans"/>
                <a:cs typeface="Quattrocento Sans"/>
                <a:sym typeface="Quattrocento Sans"/>
              </a:rPr>
              <a:t>RAW DISK ACCESS</a:t>
            </a:r>
            <a:endParaRPr b="0" i="0" sz="1400" u="none" cap="none" strike="noStrike"/>
          </a:p>
          <a:p>
            <a:pPr indent="0" lvl="0" marL="0" marR="0" rtl="0" algn="l">
              <a:lnSpc>
                <a:spcPct val="150000"/>
              </a:lnSpc>
              <a:spcBef>
                <a:spcPts val="0"/>
              </a:spcBef>
              <a:spcAft>
                <a:spcPts val="0"/>
              </a:spcAft>
              <a:buNone/>
            </a:pPr>
            <a:r>
              <a:rPr b="0" i="0" lang="en-US" sz="1400" u="none" cap="none" strike="noStrike">
                <a:solidFill>
                  <a:srgbClr val="E8ECF1"/>
                </a:solidFill>
                <a:latin typeface="Quattrocento Sans"/>
                <a:ea typeface="Quattrocento Sans"/>
                <a:cs typeface="Quattrocento Sans"/>
                <a:sym typeface="Quattrocento Sans"/>
              </a:rPr>
              <a:t>Overwrites files directly on disk using raw NTFS access, bypassing file system protections. Replaces file content with a corrupted image (burning US flag in early variants).</a:t>
            </a:r>
            <a:endParaRPr b="0" i="0" sz="1400" u="none" cap="none" strike="noStrike"/>
          </a:p>
        </p:txBody>
      </p:sp>
      <p:sp>
        <p:nvSpPr>
          <p:cNvPr id="186" name="Google Shape;186;p11"/>
          <p:cNvSpPr/>
          <p:nvPr/>
        </p:nvSpPr>
        <p:spPr>
          <a:xfrm>
            <a:off x="8445500" y="2222500"/>
            <a:ext cx="7048500" cy="13970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a:off x="8445500" y="2222500"/>
            <a:ext cx="50800" cy="13970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a:off x="8699500" y="2311400"/>
            <a:ext cx="6540500" cy="1206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400" u="none" cap="none" strike="noStrike">
                <a:solidFill>
                  <a:srgbClr val="E8ECF1"/>
                </a:solidFill>
                <a:latin typeface="Quattrocento Sans"/>
                <a:ea typeface="Quattrocento Sans"/>
                <a:cs typeface="Quattrocento Sans"/>
                <a:sym typeface="Quattrocento Sans"/>
              </a:rPr>
              <a:t>STOLEN CERTIFICATES</a:t>
            </a:r>
            <a:endParaRPr b="0" i="0" sz="1400" u="none" cap="none" strike="noStrike"/>
          </a:p>
          <a:p>
            <a:pPr indent="0" lvl="0" marL="0" marR="0" rtl="0" algn="l">
              <a:lnSpc>
                <a:spcPct val="150000"/>
              </a:lnSpc>
              <a:spcBef>
                <a:spcPts val="0"/>
              </a:spcBef>
              <a:spcAft>
                <a:spcPts val="0"/>
              </a:spcAft>
              <a:buNone/>
            </a:pPr>
            <a:r>
              <a:rPr b="0" i="0" lang="en-US" sz="1400" u="none" cap="none" strike="noStrike">
                <a:solidFill>
                  <a:srgbClr val="E8ECF1"/>
                </a:solidFill>
                <a:latin typeface="Quattrocento Sans"/>
                <a:ea typeface="Quattrocento Sans"/>
                <a:cs typeface="Quattrocento Sans"/>
                <a:sym typeface="Quattrocento Sans"/>
              </a:rPr>
              <a:t>Uses stolen or compromised code signing certificates to sign its drivers and executables. This bypasses Windows driver signature validation and reduces suspicion.</a:t>
            </a:r>
            <a:endParaRPr b="0" i="0" sz="1400" u="none" cap="none" strike="noStrike"/>
          </a:p>
        </p:txBody>
      </p:sp>
      <p:sp>
        <p:nvSpPr>
          <p:cNvPr id="189" name="Google Shape;189;p11"/>
          <p:cNvSpPr/>
          <p:nvPr/>
        </p:nvSpPr>
        <p:spPr>
          <a:xfrm>
            <a:off x="762000" y="3873500"/>
            <a:ext cx="7048500" cy="13970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1"/>
          <p:cNvSpPr/>
          <p:nvPr/>
        </p:nvSpPr>
        <p:spPr>
          <a:xfrm>
            <a:off x="762000" y="3873500"/>
            <a:ext cx="50800" cy="13970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a:off x="1016000" y="3962400"/>
            <a:ext cx="6540500" cy="1206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400" u="none" cap="none" strike="noStrike">
                <a:solidFill>
                  <a:srgbClr val="E8ECF1"/>
                </a:solidFill>
                <a:latin typeface="Quattrocento Sans"/>
                <a:ea typeface="Quattrocento Sans"/>
                <a:cs typeface="Quattrocento Sans"/>
                <a:sym typeface="Quattrocento Sans"/>
              </a:rPr>
              <a:t>SERVICE PERSISTENCE</a:t>
            </a:r>
            <a:endParaRPr b="0" i="0" sz="1400" u="none" cap="none" strike="noStrike"/>
          </a:p>
          <a:p>
            <a:pPr indent="0" lvl="0" marL="0" marR="0" rtl="0" algn="l">
              <a:lnSpc>
                <a:spcPct val="150000"/>
              </a:lnSpc>
              <a:spcBef>
                <a:spcPts val="0"/>
              </a:spcBef>
              <a:spcAft>
                <a:spcPts val="0"/>
              </a:spcAft>
              <a:buNone/>
            </a:pPr>
            <a:r>
              <a:rPr b="0" i="0" lang="en-US" sz="1400" u="none" cap="none" strike="noStrike">
                <a:solidFill>
                  <a:srgbClr val="E8ECF1"/>
                </a:solidFill>
                <a:latin typeface="Quattrocento Sans"/>
                <a:ea typeface="Quattrocento Sans"/>
                <a:cs typeface="Quattrocento Sans"/>
                <a:sym typeface="Quattrocento Sans"/>
              </a:rPr>
              <a:t>Installs itself as a Windows service before triggering destruction. The service name is designed to blend in (e.g., "Ntsrv"). Ensures execution with SYSTEM privileges.</a:t>
            </a:r>
            <a:endParaRPr b="0" i="0" sz="1400" u="none" cap="none" strike="noStrike"/>
          </a:p>
        </p:txBody>
      </p:sp>
      <p:sp>
        <p:nvSpPr>
          <p:cNvPr id="192" name="Google Shape;192;p11"/>
          <p:cNvSpPr/>
          <p:nvPr/>
        </p:nvSpPr>
        <p:spPr>
          <a:xfrm>
            <a:off x="8445500" y="3873500"/>
            <a:ext cx="7048500" cy="13970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a:off x="8445500" y="3873500"/>
            <a:ext cx="50800" cy="13970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1"/>
          <p:cNvSpPr/>
          <p:nvPr/>
        </p:nvSpPr>
        <p:spPr>
          <a:xfrm>
            <a:off x="8699500" y="3962400"/>
            <a:ext cx="6540500" cy="1206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400" u="none" cap="none" strike="noStrike">
                <a:solidFill>
                  <a:srgbClr val="E8ECF1"/>
                </a:solidFill>
                <a:latin typeface="Quattrocento Sans"/>
                <a:ea typeface="Quattrocento Sans"/>
                <a:cs typeface="Quattrocento Sans"/>
                <a:sym typeface="Quattrocento Sans"/>
              </a:rPr>
              <a:t>NETWORK SHARE ENUMERATION</a:t>
            </a:r>
            <a:endParaRPr b="0" i="0" sz="1400" u="none" cap="none" strike="noStrike"/>
          </a:p>
          <a:p>
            <a:pPr indent="0" lvl="0" marL="0" marR="0" rtl="0" algn="l">
              <a:lnSpc>
                <a:spcPct val="150000"/>
              </a:lnSpc>
              <a:spcBef>
                <a:spcPts val="0"/>
              </a:spcBef>
              <a:spcAft>
                <a:spcPts val="0"/>
              </a:spcAft>
              <a:buNone/>
            </a:pPr>
            <a:r>
              <a:rPr b="0" i="0" lang="en-US" sz="1400" u="none" cap="none" strike="noStrike">
                <a:solidFill>
                  <a:srgbClr val="E8ECF1"/>
                </a:solidFill>
                <a:latin typeface="Quattrocento Sans"/>
                <a:ea typeface="Quattrocento Sans"/>
                <a:cs typeface="Quattrocento Sans"/>
                <a:sym typeface="Quattrocento Sans"/>
              </a:rPr>
              <a:t>Enumerates network shares and mapped drives, then wipes files across the network. A single infected workstation can destroy data on file servers and NAS devices.</a:t>
            </a:r>
            <a:endParaRPr b="0" i="0" sz="1400" u="none" cap="none" strike="noStrike"/>
          </a:p>
        </p:txBody>
      </p:sp>
      <p:sp>
        <p:nvSpPr>
          <p:cNvPr id="195" name="Google Shape;195;p11"/>
          <p:cNvSpPr/>
          <p:nvPr/>
        </p:nvSpPr>
        <p:spPr>
          <a:xfrm>
            <a:off x="762000" y="5588000"/>
            <a:ext cx="7620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Shamoon Attack Timeline</a:t>
            </a:r>
            <a:endParaRPr b="0" i="0" sz="1800" u="none" cap="none" strike="noStrike"/>
          </a:p>
        </p:txBody>
      </p:sp>
      <p:graphicFrame>
        <p:nvGraphicFramePr>
          <p:cNvPr id="196" name="Google Shape;196;p11"/>
          <p:cNvGraphicFramePr/>
          <p:nvPr/>
        </p:nvGraphicFramePr>
        <p:xfrm>
          <a:off x="762000" y="6032500"/>
          <a:ext cx="3000000" cy="3000000"/>
        </p:xfrm>
        <a:graphic>
          <a:graphicData uri="http://schemas.openxmlformats.org/drawingml/2006/table">
            <a:tbl>
              <a:tblPr>
                <a:noFill/>
                <a:tableStyleId>{DBBE9389-FC80-4B17-9EAB-D5C68AD6C392}</a:tableStyleId>
              </a:tblPr>
              <a:tblGrid>
                <a:gridCol w="1767850"/>
                <a:gridCol w="2946400"/>
                <a:gridCol w="5156200"/>
                <a:gridCol w="4861550"/>
              </a:tblGrid>
              <a:tr h="355600">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YEAR</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VARIANT</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TARGETS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DISTINCTIVE FEATURE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r>
              <a:tr h="480050">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2012</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Shamoon 1</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Saudi Aramco (35,000+ computers)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Burning US flag image overwrite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480050">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2016</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Shamoon 2</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Saudi organizations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Improved network wiping, 32-bit driver</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r h="462275">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2018</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Shamoon 3</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Saudi energy, Bapco (Bahrain)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Stonedrill variant, disk image wiper</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bl>
          </a:graphicData>
        </a:graphic>
      </p:graphicFrame>
      <p:cxnSp>
        <p:nvCxnSpPr>
          <p:cNvPr id="197" name="Google Shape;197;p11"/>
          <p:cNvCxnSpPr/>
          <p:nvPr/>
        </p:nvCxnSpPr>
        <p:spPr>
          <a:xfrm>
            <a:off x="762000" y="8763000"/>
            <a:ext cx="14732000" cy="0"/>
          </a:xfrm>
          <a:prstGeom prst="straightConnector1">
            <a:avLst/>
          </a:prstGeom>
          <a:noFill/>
          <a:ln cap="flat" cmpd="sng" w="12700">
            <a:solidFill>
              <a:srgbClr val="5A6070"/>
            </a:solidFill>
            <a:prstDash val="solid"/>
            <a:round/>
            <a:headEnd len="sm" w="sm" type="none"/>
            <a:tailEnd len="sm" w="sm" type="none"/>
          </a:ln>
        </p:spPr>
      </p:cxnSp>
      <p:sp>
        <p:nvSpPr>
          <p:cNvPr id="198" name="Google Shape;198;p11"/>
          <p:cNvSpPr/>
          <p:nvPr/>
        </p:nvSpPr>
        <p:spPr>
          <a:xfrm>
            <a:off x="7366000" y="88265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09 / 11</a:t>
            </a:r>
            <a:endParaRPr b="0" i="0" sz="1400" u="none" cap="none" strike="noStrike"/>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418"/>
        </a:solidFill>
      </p:bgPr>
    </p:bg>
    <p:spTree>
      <p:nvGrpSpPr>
        <p:cNvPr id="203" name="Shape 203"/>
        <p:cNvGrpSpPr/>
        <p:nvPr/>
      </p:nvGrpSpPr>
      <p:grpSpPr>
        <a:xfrm>
          <a:off x="0" y="0"/>
          <a:ext cx="0" cy="0"/>
          <a:chOff x="0" y="0"/>
          <a:chExt cx="0" cy="0"/>
        </a:xfrm>
      </p:grpSpPr>
      <p:sp>
        <p:nvSpPr>
          <p:cNvPr id="204" name="Google Shape;204;p12"/>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SRC-2026-0614-WIPER</a:t>
            </a:r>
            <a:endParaRPr b="0" i="0" sz="1400" u="none" cap="none" strike="noStrike"/>
          </a:p>
        </p:txBody>
      </p:sp>
      <p:sp>
        <p:nvSpPr>
          <p:cNvPr id="205" name="Google Shape;205;p12"/>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206" name="Google Shape;206;p12"/>
          <p:cNvSpPr/>
          <p:nvPr/>
        </p:nvSpPr>
        <p:spPr>
          <a:xfrm>
            <a:off x="762000" y="698500"/>
            <a:ext cx="14732000" cy="482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600" u="none" cap="none" strike="noStrike">
                <a:solidFill>
                  <a:srgbClr val="FFFFFF"/>
                </a:solidFill>
                <a:latin typeface="Liter"/>
                <a:ea typeface="Liter"/>
                <a:cs typeface="Liter"/>
                <a:sym typeface="Liter"/>
              </a:rPr>
              <a:t>Wiper Malware MITRE ATT&amp;CK Mapping</a:t>
            </a:r>
            <a:endParaRPr b="0" i="0" sz="2600" u="none" cap="none" strike="noStrike"/>
          </a:p>
        </p:txBody>
      </p:sp>
      <p:cxnSp>
        <p:nvCxnSpPr>
          <p:cNvPr id="207" name="Google Shape;207;p12"/>
          <p:cNvCxnSpPr/>
          <p:nvPr/>
        </p:nvCxnSpPr>
        <p:spPr>
          <a:xfrm>
            <a:off x="762000" y="1244600"/>
            <a:ext cx="14732000" cy="0"/>
          </a:xfrm>
          <a:prstGeom prst="straightConnector1">
            <a:avLst/>
          </a:prstGeom>
          <a:noFill/>
          <a:ln cap="flat" cmpd="sng" w="12700">
            <a:solidFill>
              <a:srgbClr val="5A6070"/>
            </a:solidFill>
            <a:prstDash val="solid"/>
            <a:round/>
            <a:headEnd len="sm" w="sm" type="none"/>
            <a:tailEnd len="sm" w="sm" type="none"/>
          </a:ln>
        </p:spPr>
      </p:cxnSp>
      <p:sp>
        <p:nvSpPr>
          <p:cNvPr id="208" name="Google Shape;208;p12"/>
          <p:cNvSpPr/>
          <p:nvPr/>
        </p:nvSpPr>
        <p:spPr>
          <a:xfrm>
            <a:off x="762000" y="1371600"/>
            <a:ext cx="3810000" cy="2794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FRAMEWORK MAPPING</a:t>
            </a:r>
            <a:endParaRPr b="0" i="0" sz="1200" u="none" cap="none" strike="noStrike"/>
          </a:p>
        </p:txBody>
      </p:sp>
      <p:graphicFrame>
        <p:nvGraphicFramePr>
          <p:cNvPr id="209" name="Google Shape;209;p12"/>
          <p:cNvGraphicFramePr/>
          <p:nvPr/>
        </p:nvGraphicFramePr>
        <p:xfrm>
          <a:off x="762000" y="1778000"/>
          <a:ext cx="3000000" cy="3000000"/>
        </p:xfrm>
        <a:graphic>
          <a:graphicData uri="http://schemas.openxmlformats.org/drawingml/2006/table">
            <a:tbl>
              <a:tblPr>
                <a:noFill/>
                <a:tableStyleId>{DBBE9389-FC80-4B17-9EAB-D5C68AD6C392}</a:tableStyleId>
              </a:tblPr>
              <a:tblGrid>
                <a:gridCol w="2062475"/>
                <a:gridCol w="3830325"/>
                <a:gridCol w="4714250"/>
                <a:gridCol w="4124950"/>
              </a:tblGrid>
              <a:tr h="485775">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MITRE ID</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TECHNIQUE NAME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WIPER IMPLEMENTATION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DEFENSIVE CONTROL</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r>
              <a:tr h="50197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T1490</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Inhibit System Recovery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MBR overwrite, shadow copy deletion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Monitor PhysicalDrive0 writes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50197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T1561</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Disk Wipe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Full disk destruction via multiple methods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Disk write monitoring, integrity checks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r h="50197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T1561.001</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Disk Content Wipe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File overwrite with zeros/random data</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File integrity monitoring</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50197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T1561.002</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Disk Structure Wipe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MBR, GPT, partition table destruction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Boot sector integrity monitoring</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r h="50197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T1485</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Data Destruction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Permanent file content destruction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Immutable backups, air-gapped storage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50197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T1078</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Valid Accounts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Stolen credentials for lateral movement</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Credential monitoring, MFA enforcement</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r h="50197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T1021</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Remote Services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SMB/WMI for lateral propagation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SMB monitoring, lateral movement detection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50197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T1057</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Process Discovery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Enumerate processes before termination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Process enumeration monitoring</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r h="50197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T1083</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File and Directory Discovery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Enumerate files for targeted wiping</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File system access monitoring</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50197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T1018</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Remote System Discovery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Network scanning for lateral targets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Network segmentation, scan detection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r h="50197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T1499</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Endpoint Denial of Service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System unbootability via MBR wipe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UEFI Secure Boot, TPM measurements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bl>
          </a:graphicData>
        </a:graphic>
      </p:graphicFrame>
      <p:cxnSp>
        <p:nvCxnSpPr>
          <p:cNvPr id="210" name="Google Shape;210;p12"/>
          <p:cNvCxnSpPr/>
          <p:nvPr/>
        </p:nvCxnSpPr>
        <p:spPr>
          <a:xfrm>
            <a:off x="762000" y="8763000"/>
            <a:ext cx="14732000" cy="0"/>
          </a:xfrm>
          <a:prstGeom prst="straightConnector1">
            <a:avLst/>
          </a:prstGeom>
          <a:noFill/>
          <a:ln cap="flat" cmpd="sng" w="12700">
            <a:solidFill>
              <a:srgbClr val="5A6070"/>
            </a:solidFill>
            <a:prstDash val="solid"/>
            <a:round/>
            <a:headEnd len="sm" w="sm" type="none"/>
            <a:tailEnd len="sm" w="sm" type="none"/>
          </a:ln>
        </p:spPr>
      </p:cxnSp>
      <p:sp>
        <p:nvSpPr>
          <p:cNvPr id="211" name="Google Shape;211;p12"/>
          <p:cNvSpPr/>
          <p:nvPr/>
        </p:nvSpPr>
        <p:spPr>
          <a:xfrm>
            <a:off x="7366000" y="88265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10 / 11</a:t>
            </a:r>
            <a:endParaRPr b="0" i="0" sz="1400" u="none" cap="none" strike="noStrike"/>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418"/>
        </a:solidFill>
      </p:bgPr>
    </p:bg>
    <p:spTree>
      <p:nvGrpSpPr>
        <p:cNvPr id="216" name="Shape 216"/>
        <p:cNvGrpSpPr/>
        <p:nvPr/>
      </p:nvGrpSpPr>
      <p:grpSpPr>
        <a:xfrm>
          <a:off x="0" y="0"/>
          <a:ext cx="0" cy="0"/>
          <a:chOff x="0" y="0"/>
          <a:chExt cx="0" cy="0"/>
        </a:xfrm>
      </p:grpSpPr>
      <p:sp>
        <p:nvSpPr>
          <p:cNvPr id="217" name="Google Shape;217;p13"/>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SRC-2026-0614-WIPER</a:t>
            </a:r>
            <a:endParaRPr b="0" i="0" sz="1400" u="none" cap="none" strike="noStrike"/>
          </a:p>
        </p:txBody>
      </p:sp>
      <p:sp>
        <p:nvSpPr>
          <p:cNvPr id="218" name="Google Shape;218;p13"/>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219" name="Google Shape;219;p13"/>
          <p:cNvSpPr/>
          <p:nvPr/>
        </p:nvSpPr>
        <p:spPr>
          <a:xfrm>
            <a:off x="762000" y="762000"/>
            <a:ext cx="13970000" cy="571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600" u="none" cap="none" strike="noStrike">
                <a:solidFill>
                  <a:srgbClr val="FFFFFF"/>
                </a:solidFill>
                <a:latin typeface="Liter"/>
                <a:ea typeface="Liter"/>
                <a:cs typeface="Liter"/>
                <a:sym typeface="Liter"/>
              </a:rPr>
              <a:t>SUMMARY: OFFENSIVE KNOWLEDGE FOR DEFENSE</a:t>
            </a:r>
            <a:endParaRPr b="0" i="0" sz="3600" u="none" cap="none" strike="noStrike"/>
          </a:p>
        </p:txBody>
      </p:sp>
      <p:cxnSp>
        <p:nvCxnSpPr>
          <p:cNvPr id="220" name="Google Shape;220;p13"/>
          <p:cNvCxnSpPr/>
          <p:nvPr/>
        </p:nvCxnSpPr>
        <p:spPr>
          <a:xfrm>
            <a:off x="762000" y="1397000"/>
            <a:ext cx="14732000" cy="0"/>
          </a:xfrm>
          <a:prstGeom prst="straightConnector1">
            <a:avLst/>
          </a:prstGeom>
          <a:noFill/>
          <a:ln cap="flat" cmpd="sng" w="25400">
            <a:solidFill>
              <a:srgbClr val="D92525"/>
            </a:solidFill>
            <a:prstDash val="solid"/>
            <a:round/>
            <a:headEnd len="sm" w="sm" type="none"/>
            <a:tailEnd len="sm" w="sm" type="none"/>
          </a:ln>
        </p:spPr>
      </p:cxnSp>
      <p:sp>
        <p:nvSpPr>
          <p:cNvPr id="221" name="Google Shape;221;p13"/>
          <p:cNvSpPr/>
          <p:nvPr/>
        </p:nvSpPr>
        <p:spPr>
          <a:xfrm>
            <a:off x="762000" y="1778000"/>
            <a:ext cx="698500" cy="444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800" u="none" cap="none" strike="noStrike">
                <a:solidFill>
                  <a:srgbClr val="D92525"/>
                </a:solidFill>
                <a:latin typeface="Liter"/>
                <a:ea typeface="Liter"/>
                <a:cs typeface="Liter"/>
                <a:sym typeface="Liter"/>
              </a:rPr>
              <a:t>01</a:t>
            </a:r>
            <a:endParaRPr b="0" i="0" sz="2800" u="none" cap="none" strike="noStrike"/>
          </a:p>
        </p:txBody>
      </p:sp>
      <p:sp>
        <p:nvSpPr>
          <p:cNvPr id="222" name="Google Shape;222;p13"/>
          <p:cNvSpPr/>
          <p:nvPr/>
        </p:nvSpPr>
        <p:spPr>
          <a:xfrm>
            <a:off x="1524000" y="1778000"/>
            <a:ext cx="5842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NO RECOVERY OPTION EXISTS</a:t>
            </a:r>
            <a:endParaRPr b="0" i="0" sz="1800" u="none" cap="none" strike="noStrike"/>
          </a:p>
        </p:txBody>
      </p:sp>
      <p:sp>
        <p:nvSpPr>
          <p:cNvPr id="223" name="Google Shape;223;p13"/>
          <p:cNvSpPr/>
          <p:nvPr/>
        </p:nvSpPr>
        <p:spPr>
          <a:xfrm>
            <a:off x="1524000" y="2159000"/>
            <a:ext cx="5842000" cy="825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500" u="none" cap="none" strike="noStrike">
                <a:solidFill>
                  <a:srgbClr val="E8ECF1"/>
                </a:solidFill>
                <a:latin typeface="Quattrocento Sans"/>
                <a:ea typeface="Quattrocento Sans"/>
                <a:cs typeface="Quattrocento Sans"/>
                <a:sym typeface="Quattrocento Sans"/>
              </a:rPr>
              <a:t>Unlike ransomware, wiper malware permanently destroys data. Prevention and offline backups are the only defense. There is no decryption or recovery.</a:t>
            </a:r>
            <a:endParaRPr b="0" i="0" sz="1500" u="none" cap="none" strike="noStrike"/>
          </a:p>
        </p:txBody>
      </p:sp>
      <p:sp>
        <p:nvSpPr>
          <p:cNvPr id="224" name="Google Shape;224;p13"/>
          <p:cNvSpPr/>
          <p:nvPr/>
        </p:nvSpPr>
        <p:spPr>
          <a:xfrm>
            <a:off x="8128000" y="1778000"/>
            <a:ext cx="698500" cy="444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800" u="none" cap="none" strike="noStrike">
                <a:solidFill>
                  <a:srgbClr val="D92525"/>
                </a:solidFill>
                <a:latin typeface="Liter"/>
                <a:ea typeface="Liter"/>
                <a:cs typeface="Liter"/>
                <a:sym typeface="Liter"/>
              </a:rPr>
              <a:t>02</a:t>
            </a:r>
            <a:endParaRPr b="0" i="0" sz="2800" u="none" cap="none" strike="noStrike"/>
          </a:p>
        </p:txBody>
      </p:sp>
      <p:sp>
        <p:nvSpPr>
          <p:cNvPr id="225" name="Google Shape;225;p13"/>
          <p:cNvSpPr/>
          <p:nvPr/>
        </p:nvSpPr>
        <p:spPr>
          <a:xfrm>
            <a:off x="8890000" y="1778000"/>
            <a:ext cx="6604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NOTPETYA PROVED WORM+WIPER = CATASTROPHE</a:t>
            </a:r>
            <a:endParaRPr b="0" i="0" sz="1800" u="none" cap="none" strike="noStrike"/>
          </a:p>
        </p:txBody>
      </p:sp>
      <p:sp>
        <p:nvSpPr>
          <p:cNvPr id="226" name="Google Shape;226;p13"/>
          <p:cNvSpPr/>
          <p:nvPr/>
        </p:nvSpPr>
        <p:spPr>
          <a:xfrm>
            <a:off x="8890000" y="2159000"/>
            <a:ext cx="6604000" cy="825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500" u="none" cap="none" strike="noStrike">
                <a:solidFill>
                  <a:srgbClr val="E8ECF1"/>
                </a:solidFill>
                <a:latin typeface="Quattrocento Sans"/>
                <a:ea typeface="Quattrocento Sans"/>
                <a:cs typeface="Quattrocento Sans"/>
                <a:sym typeface="Quattrocento Sans"/>
              </a:rPr>
              <a:t>Worm-like propagation combined with wiper payload caused $10B+ in damages. Patch SMB vulnerabilities (MS17-010) immediately to eliminate this vector.</a:t>
            </a:r>
            <a:endParaRPr b="0" i="0" sz="1500" u="none" cap="none" strike="noStrike"/>
          </a:p>
        </p:txBody>
      </p:sp>
      <p:sp>
        <p:nvSpPr>
          <p:cNvPr id="227" name="Google Shape;227;p13"/>
          <p:cNvSpPr/>
          <p:nvPr/>
        </p:nvSpPr>
        <p:spPr>
          <a:xfrm>
            <a:off x="762000" y="3365500"/>
            <a:ext cx="698500" cy="444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800" u="none" cap="none" strike="noStrike">
                <a:solidFill>
                  <a:srgbClr val="D92525"/>
                </a:solidFill>
                <a:latin typeface="Liter"/>
                <a:ea typeface="Liter"/>
                <a:cs typeface="Liter"/>
                <a:sym typeface="Liter"/>
              </a:rPr>
              <a:t>03</a:t>
            </a:r>
            <a:endParaRPr b="0" i="0" sz="2800" u="none" cap="none" strike="noStrike"/>
          </a:p>
        </p:txBody>
      </p:sp>
      <p:sp>
        <p:nvSpPr>
          <p:cNvPr id="228" name="Google Shape;228;p13"/>
          <p:cNvSpPr/>
          <p:nvPr/>
        </p:nvSpPr>
        <p:spPr>
          <a:xfrm>
            <a:off x="1524000" y="3365500"/>
            <a:ext cx="5842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MONITOR PHYSICALDRIVE0 WRITES</a:t>
            </a:r>
            <a:endParaRPr b="0" i="0" sz="1800" u="none" cap="none" strike="noStrike"/>
          </a:p>
        </p:txBody>
      </p:sp>
      <p:sp>
        <p:nvSpPr>
          <p:cNvPr id="229" name="Google Shape;229;p13"/>
          <p:cNvSpPr/>
          <p:nvPr/>
        </p:nvSpPr>
        <p:spPr>
          <a:xfrm>
            <a:off x="1524000" y="3746500"/>
            <a:ext cx="5842000" cy="825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500" u="none" cap="none" strike="noStrike">
                <a:solidFill>
                  <a:srgbClr val="E8ECF1"/>
                </a:solidFill>
                <a:latin typeface="Quattrocento Sans"/>
                <a:ea typeface="Quattrocento Sans"/>
                <a:cs typeface="Quattrocento Sans"/>
                <a:sym typeface="Quattrocento Sans"/>
              </a:rPr>
              <a:t>MBR/MFT destruction happens before file encryption or display. Monitor for write operations to \\Device\\Harddisk0\\DR0 — this is the earliest detection point.</a:t>
            </a:r>
            <a:endParaRPr b="0" i="0" sz="1500" u="none" cap="none" strike="noStrike"/>
          </a:p>
        </p:txBody>
      </p:sp>
      <p:sp>
        <p:nvSpPr>
          <p:cNvPr id="230" name="Google Shape;230;p13"/>
          <p:cNvSpPr/>
          <p:nvPr/>
        </p:nvSpPr>
        <p:spPr>
          <a:xfrm>
            <a:off x="8128000" y="3365500"/>
            <a:ext cx="698500" cy="444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800" u="none" cap="none" strike="noStrike">
                <a:solidFill>
                  <a:srgbClr val="D92525"/>
                </a:solidFill>
                <a:latin typeface="Liter"/>
                <a:ea typeface="Liter"/>
                <a:cs typeface="Liter"/>
                <a:sym typeface="Liter"/>
              </a:rPr>
              <a:t>04</a:t>
            </a:r>
            <a:endParaRPr b="0" i="0" sz="2800" u="none" cap="none" strike="noStrike"/>
          </a:p>
        </p:txBody>
      </p:sp>
      <p:sp>
        <p:nvSpPr>
          <p:cNvPr id="231" name="Google Shape;231;p13"/>
          <p:cNvSpPr/>
          <p:nvPr/>
        </p:nvSpPr>
        <p:spPr>
          <a:xfrm>
            <a:off x="8890000" y="3365500"/>
            <a:ext cx="6604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AIR-GAP CRITICAL CONTROL SYSTEMS</a:t>
            </a:r>
            <a:endParaRPr b="0" i="0" sz="1800" u="none" cap="none" strike="noStrike"/>
          </a:p>
        </p:txBody>
      </p:sp>
      <p:sp>
        <p:nvSpPr>
          <p:cNvPr id="232" name="Google Shape;232;p13"/>
          <p:cNvSpPr/>
          <p:nvPr/>
        </p:nvSpPr>
        <p:spPr>
          <a:xfrm>
            <a:off x="8890000" y="3746500"/>
            <a:ext cx="6604000" cy="825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500" u="none" cap="none" strike="noStrike">
                <a:solidFill>
                  <a:srgbClr val="E8ECF1"/>
                </a:solidFill>
                <a:latin typeface="Quattrocento Sans"/>
                <a:ea typeface="Quattrocento Sans"/>
                <a:cs typeface="Quattrocento Sans"/>
                <a:sym typeface="Quattrocento Sans"/>
              </a:rPr>
              <a:t>KillDisk's ICS targeting shows wiper evolution toward physical infrastructure. Air-gap critical control systems and implement strict USB device control.</a:t>
            </a:r>
            <a:endParaRPr b="0" i="0" sz="1500" u="none" cap="none" strike="noStrike"/>
          </a:p>
        </p:txBody>
      </p:sp>
      <p:sp>
        <p:nvSpPr>
          <p:cNvPr id="233" name="Google Shape;233;p13"/>
          <p:cNvSpPr/>
          <p:nvPr/>
        </p:nvSpPr>
        <p:spPr>
          <a:xfrm>
            <a:off x="762000" y="4953000"/>
            <a:ext cx="698500" cy="444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800" u="none" cap="none" strike="noStrike">
                <a:solidFill>
                  <a:srgbClr val="D92525"/>
                </a:solidFill>
                <a:latin typeface="Liter"/>
                <a:ea typeface="Liter"/>
                <a:cs typeface="Liter"/>
                <a:sym typeface="Liter"/>
              </a:rPr>
              <a:t>05</a:t>
            </a:r>
            <a:endParaRPr b="0" i="0" sz="2800" u="none" cap="none" strike="noStrike"/>
          </a:p>
        </p:txBody>
      </p:sp>
      <p:sp>
        <p:nvSpPr>
          <p:cNvPr id="234" name="Google Shape;234;p13"/>
          <p:cNvSpPr/>
          <p:nvPr/>
        </p:nvSpPr>
        <p:spPr>
          <a:xfrm>
            <a:off x="1524000" y="4953000"/>
            <a:ext cx="13970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STOLEN CERTIFICATES BREAK TRUST</a:t>
            </a:r>
            <a:endParaRPr b="0" i="0" sz="1800" u="none" cap="none" strike="noStrike"/>
          </a:p>
        </p:txBody>
      </p:sp>
      <p:sp>
        <p:nvSpPr>
          <p:cNvPr id="235" name="Google Shape;235;p13"/>
          <p:cNvSpPr/>
          <p:nvPr/>
        </p:nvSpPr>
        <p:spPr>
          <a:xfrm>
            <a:off x="1524000" y="5334000"/>
            <a:ext cx="13970000" cy="635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500" u="none" cap="none" strike="noStrike">
                <a:solidFill>
                  <a:srgbClr val="E8ECF1"/>
                </a:solidFill>
                <a:latin typeface="Quattrocento Sans"/>
                <a:ea typeface="Quattrocento Sans"/>
                <a:cs typeface="Quattrocento Sans"/>
                <a:sym typeface="Quattrocento Sans"/>
              </a:rPr>
              <a:t>Shamoon's use of stolen code signing certificates highlights supply chain trust failures. Implement certificate pinning, driver signature enforcement, and HVCI (Hypervisor-Protected Code Integrity) to prevent signed malicious drivers from loading.</a:t>
            </a:r>
            <a:endParaRPr b="0" i="0" sz="1500" u="none" cap="none" strike="noStrike"/>
          </a:p>
        </p:txBody>
      </p:sp>
      <p:cxnSp>
        <p:nvCxnSpPr>
          <p:cNvPr id="236" name="Google Shape;236;p13"/>
          <p:cNvCxnSpPr/>
          <p:nvPr/>
        </p:nvCxnSpPr>
        <p:spPr>
          <a:xfrm>
            <a:off x="762000" y="6350000"/>
            <a:ext cx="14732000" cy="0"/>
          </a:xfrm>
          <a:prstGeom prst="straightConnector1">
            <a:avLst/>
          </a:prstGeom>
          <a:noFill/>
          <a:ln cap="flat" cmpd="sng" w="12700">
            <a:solidFill>
              <a:srgbClr val="5A6070"/>
            </a:solidFill>
            <a:prstDash val="solid"/>
            <a:round/>
            <a:headEnd len="sm" w="sm" type="none"/>
            <a:tailEnd len="sm" w="sm" type="none"/>
          </a:ln>
        </p:spPr>
      </p:cxnSp>
      <p:sp>
        <p:nvSpPr>
          <p:cNvPr id="237" name="Google Shape;237;p13"/>
          <p:cNvSpPr/>
          <p:nvPr/>
        </p:nvSpPr>
        <p:spPr>
          <a:xfrm>
            <a:off x="1270000" y="6604000"/>
            <a:ext cx="13716000" cy="1270000"/>
          </a:xfrm>
          <a:prstGeom prst="rect">
            <a:avLst/>
          </a:prstGeom>
          <a:noFill/>
          <a:ln>
            <a:noFill/>
          </a:ln>
        </p:spPr>
        <p:txBody>
          <a:bodyPr anchorCtr="0" anchor="t" bIns="0" lIns="0" spcFirstLastPara="1" rIns="0" wrap="square" tIns="0">
            <a:noAutofit/>
          </a:bodyPr>
          <a:lstStyle/>
          <a:p>
            <a:pPr indent="0" lvl="0" marL="0" marR="0" rtl="0" algn="ctr">
              <a:lnSpc>
                <a:spcPct val="160000"/>
              </a:lnSpc>
              <a:spcBef>
                <a:spcPts val="0"/>
              </a:spcBef>
              <a:spcAft>
                <a:spcPts val="0"/>
              </a:spcAft>
              <a:buNone/>
            </a:pPr>
            <a:r>
              <a:rPr b="1" i="0" lang="en-US" sz="1400" u="none" cap="none" strike="noStrike">
                <a:solidFill>
                  <a:srgbClr val="8C95A5"/>
                </a:solidFill>
                <a:latin typeface="Quattrocento Sans"/>
                <a:ea typeface="Quattrocento Sans"/>
                <a:cs typeface="Quattrocento Sans"/>
                <a:sym typeface="Quattrocento Sans"/>
              </a:rPr>
              <a:t>Educational Research Notice</a:t>
            </a:r>
            <a:endParaRPr b="0" i="0" sz="1400" u="none" cap="none" strike="noStrike"/>
          </a:p>
          <a:p>
            <a:pPr indent="0" lvl="0" marL="0" marR="0" rtl="0" algn="ctr">
              <a:lnSpc>
                <a:spcPct val="16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This analysis was performed on publicly available technical reports and sample analysis</a:t>
            </a:r>
            <a:endParaRPr b="0" i="0" sz="1400" u="none" cap="none" strike="noStrike"/>
          </a:p>
          <a:p>
            <a:pPr indent="0" lvl="0" marL="0" marR="0" rtl="0" algn="ctr">
              <a:lnSpc>
                <a:spcPct val="16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for educational and defensive research purposes. Wiper malware is a growing threat to critical infrastructure.</a:t>
            </a:r>
            <a:endParaRPr b="0" i="0" sz="1400" u="none" cap="none" strike="noStrike"/>
          </a:p>
        </p:txBody>
      </p:sp>
      <p:cxnSp>
        <p:nvCxnSpPr>
          <p:cNvPr id="238" name="Google Shape;238;p13"/>
          <p:cNvCxnSpPr/>
          <p:nvPr/>
        </p:nvCxnSpPr>
        <p:spPr>
          <a:xfrm>
            <a:off x="762000" y="8763000"/>
            <a:ext cx="14732000" cy="0"/>
          </a:xfrm>
          <a:prstGeom prst="straightConnector1">
            <a:avLst/>
          </a:prstGeom>
          <a:noFill/>
          <a:ln cap="flat" cmpd="sng" w="12700">
            <a:solidFill>
              <a:srgbClr val="5A6070"/>
            </a:solidFill>
            <a:prstDash val="solid"/>
            <a:round/>
            <a:headEnd len="sm" w="sm" type="none"/>
            <a:tailEnd len="sm" w="sm" type="none"/>
          </a:ln>
        </p:spPr>
      </p:cxnSp>
      <p:sp>
        <p:nvSpPr>
          <p:cNvPr id="239" name="Google Shape;239;p13"/>
          <p:cNvSpPr/>
          <p:nvPr/>
        </p:nvSpPr>
        <p:spPr>
          <a:xfrm>
            <a:off x="7366000" y="88265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11 / 11</a:t>
            </a:r>
            <a:endParaRPr b="0" i="0" sz="1400" u="none" cap="none" strike="noStrike"/>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