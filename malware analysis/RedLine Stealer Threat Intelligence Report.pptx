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9144000" cy="16256000"/>
  <p:embeddedFontLst>
    <p:embeddedFont>
      <p:font typeface="Liter"/>
      <p:regular r:id="rId19"/>
    </p:embeddedFon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DED55D-C20D-4BB6-A031-3ED5B3FF68E0}">
  <a:tblStyle styleId="{78DED55D-C20D-4BB6-A031-3ED5B3FF68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CONFIDENTIAL — DEFENSIVE THREAT INTELLIGENCE — EDUCATIONAL RESEARCH</a:t>
            </a:r>
            <a:endParaRPr b="0" i="0" sz="1200" u="none" cap="none" strike="noStrike"/>
          </a:p>
        </p:txBody>
      </p:sp>
      <p:sp>
        <p:nvSpPr>
          <p:cNvPr id="18" name="Google Shape;18;p3"/>
          <p:cNvSpPr/>
          <p:nvPr/>
        </p:nvSpPr>
        <p:spPr>
          <a:xfrm>
            <a:off x="1270000" y="2032000"/>
            <a:ext cx="1371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STEALER</a:t>
            </a:r>
            <a:endParaRPr b="0" i="0" sz="4800" u="none" cap="none" strike="noStrike"/>
          </a:p>
        </p:txBody>
      </p:sp>
      <p:sp>
        <p:nvSpPr>
          <p:cNvPr id="19" name="Google Shape;19;p3"/>
          <p:cNvSpPr/>
          <p:nvPr/>
        </p:nvSpPr>
        <p:spPr>
          <a:xfrm>
            <a:off x="1270000" y="2984500"/>
            <a:ext cx="1371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STEALER MALWARE</a:t>
            </a:r>
            <a:endParaRPr b="0" i="0" sz="2400" u="none" cap="none" strike="noStrike"/>
          </a:p>
        </p:txBody>
      </p:sp>
      <p:cxnSp>
        <p:nvCxnSpPr>
          <p:cNvPr id="20" name="Google Shape;20;p3"/>
          <p:cNvCxnSpPr/>
          <p:nvPr/>
        </p:nvCxnSpPr>
        <p:spPr>
          <a:xfrm>
            <a:off x="5588000" y="3810000"/>
            <a:ext cx="5080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2540000" y="4064000"/>
            <a:ext cx="11176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INTELLIGENCE REPORT</a:t>
            </a:r>
            <a:endParaRPr b="0" i="0" sz="2400" u="none" cap="none" strike="noStrike"/>
          </a:p>
        </p:txBody>
      </p:sp>
      <p:sp>
        <p:nvSpPr>
          <p:cNvPr id="22" name="Google Shape;22;p3"/>
          <p:cNvSpPr/>
          <p:nvPr/>
        </p:nvSpPr>
        <p:spPr>
          <a:xfrm>
            <a:off x="3048000" y="4699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Offensive-Informed Defensive Analysis</a:t>
            </a:r>
            <a:endParaRPr b="0" i="0" sz="2000" u="none" cap="none" strike="noStrike"/>
          </a:p>
        </p:txBody>
      </p:sp>
      <p:sp>
        <p:nvSpPr>
          <p:cNvPr id="23" name="Google Shape;23;p3"/>
          <p:cNvSpPr/>
          <p:nvPr/>
        </p:nvSpPr>
        <p:spPr>
          <a:xfrm>
            <a:off x="4318000" y="5588000"/>
            <a:ext cx="7620000" cy="20320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699000" y="5778500"/>
            <a:ext cx="6858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 ID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SRC-2026-0614-REDLINE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DATE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2026-06-14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RedLine Stealer MaaS (2020-2024)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Defensive Threat Intelligence</a:t>
            </a:r>
            <a:endParaRPr b="0" i="0" sz="1600" u="none" cap="none" strike="noStrike"/>
          </a:p>
        </p:txBody>
      </p:sp>
      <p:sp>
        <p:nvSpPr>
          <p:cNvPr id="25" name="Google Shape;25;p3"/>
          <p:cNvSpPr/>
          <p:nvPr/>
        </p:nvSpPr>
        <p:spPr>
          <a:xfrm>
            <a:off x="0" y="8636000"/>
            <a:ext cx="16256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— OFFENSIVE ANALYSIS FOR DEFENSIVE PURPOSES ONLY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762000" y="889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TABLE OF CONTENTS</a:t>
            </a:r>
            <a:endParaRPr b="0" i="0" sz="3600" u="none" cap="none" strike="noStrike"/>
          </a:p>
        </p:txBody>
      </p:sp>
      <p:cxnSp>
        <p:nvCxnSpPr>
          <p:cNvPr id="34" name="Google Shape;34;p4"/>
          <p:cNvCxnSpPr/>
          <p:nvPr/>
        </p:nvCxnSpPr>
        <p:spPr>
          <a:xfrm>
            <a:off x="762000" y="1651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762000" y="2032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36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1778000" y="2032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ARCHITECTURE</a:t>
            </a:r>
            <a:endParaRPr b="0" i="0" sz="2200" u="none" cap="none" strike="noStrike"/>
          </a:p>
        </p:txBody>
      </p:sp>
      <p:sp>
        <p:nvSpPr>
          <p:cNvPr id="37" name="Google Shape;37;p4"/>
          <p:cNvSpPr/>
          <p:nvPr/>
        </p:nvSpPr>
        <p:spPr>
          <a:xfrm>
            <a:off x="1778000" y="2476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.NET info-stealer, MaaS model, builder, panel, backend infrastructure</a:t>
            </a:r>
            <a:endParaRPr b="0" i="0" sz="14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762000" y="3238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36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1778000" y="3238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THEFT CAPABILITIES</a:t>
            </a:r>
            <a:endParaRPr b="0" i="0" sz="2200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1778000" y="3683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credential theft, crypto wallet targeting, application data harvesting</a:t>
            </a:r>
            <a:endParaRPr b="0" i="0" sz="14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762000" y="4445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3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1778000" y="444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C2 AND EXFILTRATION</a:t>
            </a:r>
            <a:endParaRPr b="0" i="0" sz="22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1778000" y="4889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SOAP protocol, data packaging, panel communication, exfiltration techniques</a:t>
            </a:r>
            <a:endParaRPr b="0" i="0" sz="1400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762000" y="565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36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1778000" y="5651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MITRE ATT&amp;CK MAPPING &amp; DEFENSIVE CONTROLS</a:t>
            </a:r>
            <a:endParaRPr b="0" i="0" sz="220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1778000" y="6096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technique mapping with defensive control recommendations</a:t>
            </a:r>
            <a:endParaRPr b="0" i="0" sz="1400" u="none" cap="none" strike="noStrike"/>
          </a:p>
        </p:txBody>
      </p:sp>
      <p:cxnSp>
        <p:nvCxnSpPr>
          <p:cNvPr id="47" name="Google Shape;47;p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7200" u="none" cap="none" strike="noStrike"/>
          </a:p>
        </p:txBody>
      </p:sp>
      <p:cxnSp>
        <p:nvCxnSpPr>
          <p:cNvPr id="57" name="Google Shape;57;p5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ARCHITECTURE</a:t>
            </a:r>
            <a:endParaRPr b="0" i="0" sz="44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.NET Info-Stealer | Malware-as-a-Service | SOAP C2 Protocol</a:t>
            </a:r>
            <a:endParaRPr b="0" i="0" sz="22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762000" y="5842000"/>
            <a:ext cx="1016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PROFILE: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Information Stealer (Info-Stealer) / MaaS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RedLine Stealer (First seen 2020, disrupted Oct 2024)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C# / .NET Framework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Windows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C2 Protocol: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SOAP over HTTP/HTTPS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Port: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6677</a:t>
            </a:r>
            <a:endParaRPr b="0" i="0" sz="1600" u="none" cap="none" strike="noStrike"/>
          </a:p>
        </p:txBody>
      </p:sp>
      <p:cxnSp>
        <p:nvCxnSpPr>
          <p:cNvPr id="61" name="Google Shape;61;p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70" name="Google Shape;70;p6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Stealer — The Most Prolific Info-Stealer Malware</a:t>
            </a:r>
            <a:endParaRPr b="0" i="0" sz="2600" u="none" cap="none" strike="noStrike"/>
          </a:p>
        </p:txBody>
      </p:sp>
      <p:cxnSp>
        <p:nvCxnSpPr>
          <p:cNvPr id="71" name="Google Shape;71;p6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Malware-as-a-Service Information Stealer Platform</a:t>
            </a:r>
            <a:endParaRPr b="0" i="0" sz="16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Stealer is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.NET-based information stealer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sold as malware-as-a-service since 2020. Affiliates purchase monthly ($150) or lifetime ($900) licenses. The backend was taken down in October 2024 (Operation Magnus), but cracked versions continue to circulate.</a:t>
            </a:r>
            <a:endParaRPr b="0" i="0" sz="1300" u="none" cap="none" strike="noStrike"/>
          </a:p>
        </p:txBody>
      </p:sp>
      <p:sp>
        <p:nvSpPr>
          <p:cNvPr id="75" name="Google Shape;75;p6"/>
          <p:cNvSpPr/>
          <p:nvPr/>
        </p:nvSpPr>
        <p:spPr>
          <a:xfrm>
            <a:off x="762000" y="2667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Core Capabilities</a:t>
            </a:r>
            <a:endParaRPr b="0" i="0" sz="18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762000" y="3086100"/>
            <a:ext cx="6858000" cy="3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Credential Theft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Chrome, Firefox, Edge, Opera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Cookie Extraction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Session hijacking from all browsers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Crypto Wallet Theft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MetaMask, Phantom, Electrum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Credit Card Data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Saved payment information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Autofill Data Harvesting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Names, addresses, emails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Token Theft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Account takeover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VPN Credential Theft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NordVPN, ProtonVPN, OpenVPN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Profiling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Hardware, software, geolocation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 Capture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Desktop surveillance image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 Scanner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Keyword-based file theft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8128000" y="26670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MaaS Architecture</a:t>
            </a:r>
            <a:endParaRPr b="0" i="0" sz="18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8128000" y="3086100"/>
            <a:ext cx="7366000" cy="3937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128000" y="3086100"/>
            <a:ext cx="50800" cy="3937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382000" y="3238500"/>
            <a:ext cx="6921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Affiliate Purchases License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$150/month or $900 lifetime via forums/Telegram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Panel (Control Panel)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Web-based GUI for campaign management, sample building, stolen data viewing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VSBuilder (Sample Generator)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Compiles customized .NET stealer with embedded C2, campaign ID, XOR key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Nodes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LoadBalancer, Nodes.Api, MainServer — handle auth, builds, data collection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Victim Data</a:t>
            </a:r>
            <a:endParaRPr b="0" i="0" sz="1500" u="none" cap="none" strike="noStrike"/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Exfiltrated via SOAP to panel, sold on underground markets</a:t>
            </a:r>
            <a:endParaRPr b="0" i="0" sz="1500" u="none" cap="none" strike="noStrike"/>
          </a:p>
        </p:txBody>
      </p:sp>
      <p:cxnSp>
        <p:nvCxnSpPr>
          <p:cNvPr id="81" name="Google Shape;81;p6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6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89" name="Google Shape;89;p7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90" name="Google Shape;90;p7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Malware-as-a-Service Architecture — Builder, Panel, and Backend</a:t>
            </a:r>
            <a:endParaRPr b="0" i="0" sz="2600" u="none" cap="none" strike="noStrike"/>
          </a:p>
        </p:txBody>
      </p:sp>
      <p:cxnSp>
        <p:nvCxnSpPr>
          <p:cNvPr id="91" name="Google Shape;91;p7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7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RedLine ecosystem consists of interconnected components: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builder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generates customized stealer samples,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panel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campaign management, and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nodes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handling authentication and data collection.</a:t>
            </a:r>
            <a:endParaRPr b="0" i="0" sz="1300" u="none" cap="none" strike="noStrike"/>
          </a:p>
        </p:txBody>
      </p:sp>
      <p:sp>
        <p:nvSpPr>
          <p:cNvPr id="93" name="Google Shape;93;p7"/>
          <p:cNvSpPr/>
          <p:nvPr/>
        </p:nvSpPr>
        <p:spPr>
          <a:xfrm>
            <a:off x="762000" y="2222500"/>
            <a:ext cx="4572000" cy="1016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762000" y="2222500"/>
            <a:ext cx="457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PANEL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Web UI — Campaign mgmt, data viewer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C# / ASP.NET MVC / WCF or REST</a:t>
            </a:r>
            <a:endParaRPr b="0" i="0" sz="1400" u="none" cap="none" strike="noStrike"/>
          </a:p>
        </p:txBody>
      </p:sp>
      <p:cxnSp>
        <p:nvCxnSpPr>
          <p:cNvPr id="95" name="Google Shape;95;p7"/>
          <p:cNvCxnSpPr/>
          <p:nvPr/>
        </p:nvCxnSpPr>
        <p:spPr>
          <a:xfrm>
            <a:off x="5334000" y="2705100"/>
            <a:ext cx="635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" name="Google Shape;96;p7"/>
          <p:cNvSpPr/>
          <p:nvPr/>
        </p:nvSpPr>
        <p:spPr>
          <a:xfrm>
            <a:off x="5969000" y="2222500"/>
            <a:ext cx="4572000" cy="10160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969000" y="2222500"/>
            <a:ext cx="457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VSBUILDER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Sample generator — custom C2, campaign ID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Visual Studio extension or standalone</a:t>
            </a:r>
            <a:endParaRPr b="0" i="0" sz="1400" u="none" cap="none" strike="noStrike"/>
          </a:p>
        </p:txBody>
      </p:sp>
      <p:cxnSp>
        <p:nvCxnSpPr>
          <p:cNvPr id="98" name="Google Shape;98;p7"/>
          <p:cNvCxnSpPr/>
          <p:nvPr/>
        </p:nvCxnSpPr>
        <p:spPr>
          <a:xfrm>
            <a:off x="10541000" y="2705100"/>
            <a:ext cx="635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9" name="Google Shape;99;p7"/>
          <p:cNvSpPr/>
          <p:nvPr/>
        </p:nvSpPr>
        <p:spPr>
          <a:xfrm>
            <a:off x="11176000" y="2222500"/>
            <a:ext cx="4318000" cy="10160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1176000" y="22225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MALWARE SAMPLE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.NET stealer with embedded config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XOR-encrypted C2 + campaign ID</a:t>
            </a:r>
            <a:endParaRPr b="0" i="0" sz="1400" u="none" cap="none" strike="noStrike"/>
          </a:p>
        </p:txBody>
      </p:sp>
      <p:sp>
        <p:nvSpPr>
          <p:cNvPr id="101" name="Google Shape;101;p7"/>
          <p:cNvSpPr/>
          <p:nvPr/>
        </p:nvSpPr>
        <p:spPr>
          <a:xfrm>
            <a:off x="762000" y="3556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Backend Node Architecture</a:t>
            </a:r>
            <a:endParaRPr b="0" i="0" sz="1800" u="none" cap="none" strike="noStrike"/>
          </a:p>
        </p:txBody>
      </p:sp>
      <p:sp>
        <p:nvSpPr>
          <p:cNvPr id="102" name="Google Shape;102;p7"/>
          <p:cNvSpPr/>
          <p:nvPr/>
        </p:nvSpPr>
        <p:spPr>
          <a:xfrm>
            <a:off x="762000" y="4000500"/>
            <a:ext cx="4699000" cy="1206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62000" y="4000500"/>
            <a:ext cx="50800" cy="1206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16000" y="4089400"/>
            <a:ext cx="4254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LoadBalancer Node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Entry point for all traffic. Routes requests to appropriate backend nodes. Handles SSL termination and DDoS protection.</a:t>
            </a:r>
            <a:endParaRPr b="0" i="0" sz="1400" u="none" cap="none" strike="noStrike"/>
          </a:p>
        </p:txBody>
      </p:sp>
      <p:sp>
        <p:nvSpPr>
          <p:cNvPr id="105" name="Google Shape;105;p7"/>
          <p:cNvSpPr/>
          <p:nvPr/>
        </p:nvSpPr>
        <p:spPr>
          <a:xfrm>
            <a:off x="5778500" y="4000500"/>
            <a:ext cx="4699000" cy="1206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778500" y="4000500"/>
            <a:ext cx="50800" cy="1206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032500" y="4089400"/>
            <a:ext cx="4254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Nodes.Api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Handles authentication, license validation, sample building requests, and campaign management API calls.</a:t>
            </a:r>
            <a:endParaRPr b="0" i="0" sz="1400" u="none" cap="none" strike="noStrike"/>
          </a:p>
        </p:txBody>
      </p:sp>
      <p:sp>
        <p:nvSpPr>
          <p:cNvPr id="108" name="Google Shape;108;p7"/>
          <p:cNvSpPr/>
          <p:nvPr/>
        </p:nvSpPr>
        <p:spPr>
          <a:xfrm>
            <a:off x="10795000" y="4000500"/>
            <a:ext cx="4699000" cy="1206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0795000" y="4000500"/>
            <a:ext cx="50800" cy="1206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1049000" y="4089400"/>
            <a:ext cx="4254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MainServer (Data Collection)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Receives exfiltrated data from victims via SOAP. Stores credentials, cookies, wallets, and system profiles.</a:t>
            </a:r>
            <a:endParaRPr b="0" i="0" sz="1400" u="none" cap="none" strike="noStrike"/>
          </a:p>
        </p:txBody>
      </p:sp>
      <p:sp>
        <p:nvSpPr>
          <p:cNvPr id="111" name="Google Shape;111;p7"/>
          <p:cNvSpPr/>
          <p:nvPr/>
        </p:nvSpPr>
        <p:spPr>
          <a:xfrm>
            <a:off x="762000" y="5524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MaaS Infrastructure</a:t>
            </a:r>
            <a:endParaRPr b="0" i="0" sz="1800" u="none" cap="none" strike="noStrike"/>
          </a:p>
        </p:txBody>
      </p:sp>
      <p:graphicFrame>
        <p:nvGraphicFramePr>
          <p:cNvPr id="112" name="Google Shape;112;p7"/>
          <p:cNvGraphicFramePr/>
          <p:nvPr/>
        </p:nvGraphicFramePr>
        <p:xfrm>
          <a:off x="762000" y="596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4419600"/>
                <a:gridCol w="10312400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SOAP over HTTP to non-standard ports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RedLine uses SOAP messaging over HTTP, often on port 6677. SOAP is uncommon for consumer software and is a strong network indicator.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Builder artifacts in malware samples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RedLine samples contain identifiable builder artifacts: VS_VERSION_INFO structures, specific .NET assembly names, and hardcoded XOR keys.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61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C2 panel URLs with characteristic paths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Panel URLs often contain paths like /api/, /panel/, /gate.php. Reverse engineering samples extracts these IOCs for blocking.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cxnSp>
        <p:nvCxnSpPr>
          <p:cNvPr id="113" name="Google Shape;113;p7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7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121" name="Google Shape;121;p8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22" name="Google Shape;122;p8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Configuration Decryption and Execution Flow</a:t>
            </a:r>
            <a:endParaRPr b="0" i="0" sz="2600" u="none" cap="none" strike="noStrike"/>
          </a:p>
        </p:txBody>
      </p:sp>
      <p:cxnSp>
        <p:nvCxnSpPr>
          <p:cNvPr id="123" name="Google Shape;123;p8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25" name="Google Shape;125;p8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Hardcoded XOR Keys and Region-Block Evasion</a:t>
            </a:r>
            <a:endParaRPr b="0" i="0" sz="1600" u="none" cap="none" strike="noStrike"/>
          </a:p>
        </p:txBody>
      </p:sp>
      <p:sp>
        <p:nvSpPr>
          <p:cNvPr id="126" name="Google Shape;126;p8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samples embed their C2 address and campaign ID as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base64-encoded, XOR-encrypted strings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decryption key is hardcoded. On execution, the malware checks the system locale against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blocklist of CIS countries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exits if matched.</a:t>
            </a:r>
            <a:endParaRPr b="0" i="0" sz="1300" u="none" cap="none" strike="noStrike"/>
          </a:p>
        </p:txBody>
      </p:sp>
      <p:sp>
        <p:nvSpPr>
          <p:cNvPr id="127" name="Google Shape;127;p8"/>
          <p:cNvSpPr/>
          <p:nvPr/>
        </p:nvSpPr>
        <p:spPr>
          <a:xfrm>
            <a:off x="762000" y="260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Configuration Decryption Pattern</a:t>
            </a:r>
            <a:endParaRPr b="0" i="0" sz="1800" u="none" cap="none" strike="noStrike"/>
          </a:p>
        </p:txBody>
      </p:sp>
      <p:sp>
        <p:nvSpPr>
          <p:cNvPr id="128" name="Google Shape;128;p8"/>
          <p:cNvSpPr/>
          <p:nvPr/>
        </p:nvSpPr>
        <p:spPr>
          <a:xfrm>
            <a:off x="762000" y="3022600"/>
            <a:ext cx="14732000" cy="1968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762000" y="3022600"/>
            <a:ext cx="50800" cy="1968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016000" y="3149600"/>
            <a:ext cx="14287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RedLine configuration decryption and region check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encryptedConfig =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"SGVsbG8gV29ybGQ="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Base64 XOR-encoded C2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xorKey =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"Wombles"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Hardcoded decryption key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c2Address = XOR_Decode(Base64_Decode(encryptedConfig), xorKey);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Blocklist check — exit if CIS country detected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string[]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blocklist = {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"Armenia"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"Belarus"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"Russia"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"Ukraine"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"Kazakhstan"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};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if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(blocklist.Contains(RegionInfo.CurrentRegion.DisplayName)) Environment.Exit(0);</a:t>
            </a:r>
            <a:endParaRPr b="0" i="0" sz="1300" u="none" cap="none" strike="noStrike"/>
          </a:p>
        </p:txBody>
      </p:sp>
      <p:sp>
        <p:nvSpPr>
          <p:cNvPr id="131" name="Google Shape;131;p8"/>
          <p:cNvSpPr/>
          <p:nvPr/>
        </p:nvSpPr>
        <p:spPr>
          <a:xfrm>
            <a:off x="762000" y="5270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Configuration</a:t>
            </a:r>
            <a:endParaRPr b="0" i="0" sz="1800" u="none" cap="none" strike="noStrike"/>
          </a:p>
        </p:txBody>
      </p:sp>
      <p:graphicFrame>
        <p:nvGraphicFramePr>
          <p:cNvPr id="132" name="Google Shape;132;p8"/>
          <p:cNvGraphicFramePr/>
          <p:nvPr/>
        </p:nvGraphicFramePr>
        <p:xfrm>
          <a:off x="762000" y="57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4419600"/>
                <a:gridCol w="1031240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Hardcoded XOR keys in .NET assemblies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Common keys include "Wombles", "Reshipment", "Pythonic". String analysis of decompiled samples reveals these keys and enables C2 extraction.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RegionInfo queries at startup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software rarely checks the system locale against a hardcoded country list on startup. This anti-analysis behavior is a detectable artifact.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Base64 + XOR encoded strings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.NET assemblies containing long base64 strings followed by short XOR key strings indicate RedLine configuration encoding. Automated extraction tools can decode.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.NET assembly metadata artifacts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RedLine samples have characteristic assembly metadata: specific GUIDs, version numbers, and assembly names that can be used as file-based IOCs.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33" name="Google Shape;133;p8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8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141" name="Google Shape;141;p9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42" name="Google Shape;142;p9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7200" u="none" cap="none" strike="noStrike"/>
          </a:p>
        </p:txBody>
      </p:sp>
      <p:cxnSp>
        <p:nvCxnSpPr>
          <p:cNvPr id="143" name="Google Shape;143;p9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9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INFORMATION THEFT CAPABILITIES</a:t>
            </a:r>
            <a:endParaRPr b="0" i="0" sz="4400" u="none" cap="none" strike="noStrike"/>
          </a:p>
        </p:txBody>
      </p:sp>
      <p:sp>
        <p:nvSpPr>
          <p:cNvPr id="145" name="Google Shape;145;p9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Credentials, Crypto Wallets, System Profiling, Screenshot Capture</a:t>
            </a:r>
            <a:endParaRPr b="0" i="0" sz="2200" u="none" cap="none" strike="noStrike"/>
          </a:p>
        </p:txBody>
      </p:sp>
      <p:cxnSp>
        <p:nvCxnSpPr>
          <p:cNvPr id="146" name="Google Shape;146;p9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9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154" name="Google Shape;154;p10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55" name="Google Shape;155;p10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Browser Credential Theft — Chromium and Gecko Decryption</a:t>
            </a:r>
            <a:endParaRPr b="0" i="0" sz="2600" u="none" cap="none" strike="noStrike"/>
          </a:p>
        </p:txBody>
      </p:sp>
      <p:cxnSp>
        <p:nvCxnSpPr>
          <p:cNvPr id="156" name="Google Shape;156;p10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0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58" name="Google Shape;158;p10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DPAPI-Based Credential Decryption from Browser Databases</a:t>
            </a:r>
            <a:endParaRPr b="0" i="0" sz="1600" u="none" cap="none" strike="noStrike"/>
          </a:p>
        </p:txBody>
      </p:sp>
      <p:sp>
        <p:nvSpPr>
          <p:cNvPr id="159" name="Google Shape;159;p10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targets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Chromium-based browsers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(Chrome, Edge, Opera, Brave) and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Gecko-based browsers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(Firefox). It locates the "Login Data" SQLite database, extracts encrypted credentials using the browser's master key from Local State, and decrypts using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 DPAPI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300" u="none" cap="none" strike="noStrike"/>
          </a:p>
        </p:txBody>
      </p:sp>
      <p:sp>
        <p:nvSpPr>
          <p:cNvPr id="160" name="Google Shape;160;p10"/>
          <p:cNvSpPr/>
          <p:nvPr/>
        </p:nvSpPr>
        <p:spPr>
          <a:xfrm>
            <a:off x="762000" y="260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Credential Extraction Code Pattern</a:t>
            </a:r>
            <a:endParaRPr b="0" i="0" sz="1800" u="none" cap="none" strike="noStrike"/>
          </a:p>
        </p:txBody>
      </p:sp>
      <p:sp>
        <p:nvSpPr>
          <p:cNvPr id="161" name="Google Shape;161;p10"/>
          <p:cNvSpPr/>
          <p:nvPr/>
        </p:nvSpPr>
        <p:spPr>
          <a:xfrm>
            <a:off x="762000" y="3022600"/>
            <a:ext cx="14732000" cy="2159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762000" y="3022600"/>
            <a:ext cx="50800" cy="2159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016000" y="3149600"/>
            <a:ext cx="14287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RedLine browser credential theft — Chromium path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chromeLoginDB = Environment.GetFolderPath(Environment.SpecialFolder.LocalApplicationData)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+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"\\Google\\Chrome\\User Data\\Default\\Login Data"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byte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[] masterKey = GetMasterKeyFromLocalState();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From 'Local State' JSON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var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conn =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new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SQLiteConnection(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"Data Source="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+ chromeLoginDB);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var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cmd =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new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SQLiteCommand(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"SELECT origin_url, username_value, password_value FROM logins"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 conn);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foreach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(var row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in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cmd.ExecuteReader()) {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byte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[] encryptedPass = (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byte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[])row[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"password_value"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];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password = DPAPI_Decrypt(encryptedPass, masterKey);</a:t>
            </a:r>
            <a:endParaRPr b="0" i="0" sz="1300" u="none" cap="none" strike="noStrike"/>
          </a:p>
        </p:txBody>
      </p:sp>
      <p:sp>
        <p:nvSpPr>
          <p:cNvPr id="164" name="Google Shape;164;p10"/>
          <p:cNvSpPr/>
          <p:nvPr/>
        </p:nvSpPr>
        <p:spPr>
          <a:xfrm>
            <a:off x="762000" y="5461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Browser Theft</a:t>
            </a:r>
            <a:endParaRPr b="0" i="0" sz="1800" u="none" cap="none" strike="noStrike"/>
          </a:p>
        </p:txBody>
      </p:sp>
      <p:graphicFrame>
        <p:nvGraphicFramePr>
          <p:cNvPr id="165" name="Google Shape;165;p10"/>
          <p:cNvGraphicFramePr/>
          <p:nvPr/>
        </p:nvGraphicFramePr>
        <p:xfrm>
          <a:off x="762000" y="59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4419600"/>
                <a:gridCol w="10312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File access to Login Data / logins.json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software rarely reads browser credential databases. Monitor for processes opening Chrome's Login Data or Firefox's logins.json files.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DPAPI decryption calls for browser data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CryptUnprotectData calls targeting browser-related memory regions indicate credential extraction. EDR can hook and alert on these calls.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SQLite queries on browser databases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Opening browser SQLite databases with SELECT queries on the logins table is a high-fidelity indicator of credential theft activity.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Access to Local State / key4.db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browser master key must be read before credential decryption. Access to Chrome's Local State or Firefox's key4.db precedes credential theft.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66" name="Google Shape;166;p10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0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174" name="Google Shape;174;p11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75" name="Google Shape;175;p11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Crypto Wallet and Application Credential Theft</a:t>
            </a:r>
            <a:endParaRPr b="0" i="0" sz="2600" u="none" cap="none" strike="noStrike"/>
          </a:p>
        </p:txBody>
      </p:sp>
      <p:cxnSp>
        <p:nvCxnSpPr>
          <p:cNvPr id="176" name="Google Shape;176;p11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11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aggressively targets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cryptocurrency wallets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credentials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It scans known directories for wallet files, extension data, and session tokens, then exfiltrates everything via the C2 channel.</a:t>
            </a:r>
            <a:endParaRPr b="0" i="0" sz="1300" u="none" cap="none" strike="noStrike"/>
          </a:p>
        </p:txBody>
      </p:sp>
      <p:sp>
        <p:nvSpPr>
          <p:cNvPr id="178" name="Google Shape;178;p11"/>
          <p:cNvSpPr/>
          <p:nvPr/>
        </p:nvSpPr>
        <p:spPr>
          <a:xfrm>
            <a:off x="762000" y="22225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Crypto Wallet Targets</a:t>
            </a:r>
            <a:endParaRPr b="0" i="0" sz="1800" u="none" cap="none" strike="noStrike"/>
          </a:p>
        </p:txBody>
      </p:sp>
      <p:sp>
        <p:nvSpPr>
          <p:cNvPr id="179" name="Google Shape;179;p11"/>
          <p:cNvSpPr/>
          <p:nvPr/>
        </p:nvSpPr>
        <p:spPr>
          <a:xfrm>
            <a:off x="762000" y="2641600"/>
            <a:ext cx="7112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MetaMask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Extension directory: %LocalAppData%\BraveSoftware\Brave-Browser\User Data\Default\Local Extension Settings\nkbihfbeogaeaoehlefnkodbefgpgknn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Phantom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SOL wallet; targets browser extension storage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Electrum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Desktop wallet.dat file from %AppData%\Electrum\wallets\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Exodus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Exodus.conf.json + wallet seed files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Binance Chain Wallet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Browser extension data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Atomic Wallet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%AppData%\atomic\Local Storage\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Coinomi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Mobile/desktop wallet files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Jaxx Liberty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Browser extension storage</a:t>
            </a:r>
            <a:endParaRPr b="0" i="0" sz="1500" u="none" cap="none" strike="noStrike"/>
          </a:p>
        </p:txBody>
      </p:sp>
      <p:sp>
        <p:nvSpPr>
          <p:cNvPr id="180" name="Google Shape;180;p11"/>
          <p:cNvSpPr/>
          <p:nvPr/>
        </p:nvSpPr>
        <p:spPr>
          <a:xfrm>
            <a:off x="8382000" y="22225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Application Credential Targets</a:t>
            </a:r>
            <a:endParaRPr b="0" i="0" sz="1800" u="none" cap="none" strike="noStrike"/>
          </a:p>
        </p:txBody>
      </p:sp>
      <p:sp>
        <p:nvSpPr>
          <p:cNvPr id="181" name="Google Shape;181;p11"/>
          <p:cNvSpPr/>
          <p:nvPr/>
        </p:nvSpPr>
        <p:spPr>
          <a:xfrm>
            <a:off x="8382000" y="2641600"/>
            <a:ext cx="7112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Tokens from %AppData%\discord\Local Storage\leveldb\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Telegram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Session files from tdata folder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Steam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Login credentials and SSFN files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FileZilla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recentservers.xml and sitemanager.xml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NordVPN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user.config credential storage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ProtonVPN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Account settings and session data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OpenVPN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Configuration files with embedded credentials</a:t>
            </a:r>
            <a:endParaRPr b="0" i="0" sz="15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Outlook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Email credentials from registry and files</a:t>
            </a:r>
            <a:endParaRPr b="0" i="0" sz="1500" u="none" cap="none" strike="noStrike"/>
          </a:p>
        </p:txBody>
      </p:sp>
      <p:sp>
        <p:nvSpPr>
          <p:cNvPr id="182" name="Google Shape;182;p11"/>
          <p:cNvSpPr/>
          <p:nvPr/>
        </p:nvSpPr>
        <p:spPr>
          <a:xfrm>
            <a:off x="762000" y="6096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Credential Theft</a:t>
            </a:r>
            <a:endParaRPr b="0" i="0" sz="1800" u="none" cap="none" strike="noStrike"/>
          </a:p>
        </p:txBody>
      </p:sp>
      <p:graphicFrame>
        <p:nvGraphicFramePr>
          <p:cNvPr id="183" name="Google Shape;183;p11"/>
          <p:cNvGraphicFramePr/>
          <p:nvPr/>
        </p:nvGraphicFramePr>
        <p:xfrm>
          <a:off x="762000" y="654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4419600"/>
                <a:gridCol w="1031240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File access to wallet extension directories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Processes reading browser extension storage for wallet extensions (MetaMask, Phantom) are almost certainly stealing crypto credentials.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Access to Discord leveldb and Telegram tdata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These directories contain authentication tokens. Any process other than the native app reading them is suspicious and indicates token theft.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84" name="Google Shape;184;p11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1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192" name="Google Shape;192;p12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93" name="Google Shape;193;p12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7200" u="none" cap="none" strike="noStrike"/>
          </a:p>
        </p:txBody>
      </p:sp>
      <p:cxnSp>
        <p:nvCxnSpPr>
          <p:cNvPr id="194" name="Google Shape;194;p12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2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C2 AND EXFILTRATION</a:t>
            </a:r>
            <a:endParaRPr b="0" i="0" sz="4400" u="none" cap="none" strike="noStrike"/>
          </a:p>
        </p:txBody>
      </p:sp>
      <p:sp>
        <p:nvSpPr>
          <p:cNvPr id="196" name="Google Shape;196;p12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SOAP Protocol, Data Packaging, Panel Communication</a:t>
            </a:r>
            <a:endParaRPr b="0" i="0" sz="2200" u="none" cap="none" strike="noStrike"/>
          </a:p>
        </p:txBody>
      </p:sp>
      <p:cxnSp>
        <p:nvCxnSpPr>
          <p:cNvPr id="197" name="Google Shape;197;p12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2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205" name="Google Shape;205;p13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06" name="Google Shape;206;p13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C2 Communication — SOAP Protocol with Encrypted Payloads</a:t>
            </a:r>
            <a:endParaRPr b="0" i="0" sz="2600" u="none" cap="none" strike="noStrike"/>
          </a:p>
        </p:txBody>
      </p:sp>
      <p:cxnSp>
        <p:nvCxnSpPr>
          <p:cNvPr id="207" name="Google Shape;207;p13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3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communicates with its C2 panel using 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SOAP messaging protocol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over HTTP/HTTPS. The initial handshake sends system information, followed by command requests and data exfiltration in structured SOAP envelopes.</a:t>
            </a:r>
            <a:endParaRPr b="0" i="0" sz="1300" u="none" cap="none" strike="noStrike"/>
          </a:p>
        </p:txBody>
      </p:sp>
      <p:sp>
        <p:nvSpPr>
          <p:cNvPr id="209" name="Google Shape;209;p13"/>
          <p:cNvSpPr/>
          <p:nvPr/>
        </p:nvSpPr>
        <p:spPr>
          <a:xfrm>
            <a:off x="762000" y="22225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Protocol Characteristics</a:t>
            </a:r>
            <a:endParaRPr b="0" i="0" sz="1800" u="none" cap="none" strike="noStrike"/>
          </a:p>
        </p:txBody>
      </p:sp>
      <p:sp>
        <p:nvSpPr>
          <p:cNvPr id="210" name="Google Shape;210;p13"/>
          <p:cNvSpPr/>
          <p:nvPr/>
        </p:nvSpPr>
        <p:spPr>
          <a:xfrm>
            <a:off x="762000" y="2641600"/>
            <a:ext cx="6858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SOAP 1.1/1.2 over HTTP/HTTPS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Port: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6677 (TCP, HTTP)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Content-Type: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text/xml; charset=utf-8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SOAPAction: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C2 panel method names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Payload Encoding: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Base64 within SOAP body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Request: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info + screenshot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Command Response: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Task list (what to steal)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Exfiltration: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Packaged credentials + files</a:t>
            </a:r>
            <a:endParaRPr b="0" i="0" sz="1600" u="none" cap="none" strike="noStrike"/>
          </a:p>
        </p:txBody>
      </p:sp>
      <p:sp>
        <p:nvSpPr>
          <p:cNvPr id="211" name="Google Shape;211;p13"/>
          <p:cNvSpPr/>
          <p:nvPr/>
        </p:nvSpPr>
        <p:spPr>
          <a:xfrm>
            <a:off x="8128000" y="22225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SOAP Request Structure</a:t>
            </a:r>
            <a:endParaRPr b="0" i="0" sz="1800" u="none" cap="none" strike="noStrike"/>
          </a:p>
        </p:txBody>
      </p:sp>
      <p:sp>
        <p:nvSpPr>
          <p:cNvPr id="212" name="Google Shape;212;p13"/>
          <p:cNvSpPr/>
          <p:nvPr/>
        </p:nvSpPr>
        <p:spPr>
          <a:xfrm>
            <a:off x="8128000" y="2641600"/>
            <a:ext cx="7366000" cy="3175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8128000" y="2641600"/>
            <a:ext cx="50800" cy="3175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8382000" y="2768600"/>
            <a:ext cx="69215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&lt;?xml version="1.0"?&gt;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&lt;soap:Envelope xmlns:soap=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"..."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&lt;soap:Body&gt;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&lt;CollectPasswords xmlns=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"RedLine.API"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&lt;request&gt;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&lt;base64Data&gt;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QUFBQUFBQUFB...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&lt;/base64Data&gt;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&lt;campaignId&gt;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12345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&lt;/campaignId&gt;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&lt;hwid&gt;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A1B2C3D4E5F6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&lt;/hwid&gt;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&lt;/request&gt;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&lt;/CollectPasswords&gt;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&lt;/soap:Body&gt;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&lt;/soap:Envelope&gt;</a:t>
            </a:r>
            <a:endParaRPr b="0" i="0" sz="1300" u="none" cap="none" strike="noStrike"/>
          </a:p>
        </p:txBody>
      </p:sp>
      <p:sp>
        <p:nvSpPr>
          <p:cNvPr id="215" name="Google Shape;215;p13"/>
          <p:cNvSpPr/>
          <p:nvPr/>
        </p:nvSpPr>
        <p:spPr>
          <a:xfrm>
            <a:off x="762000" y="6159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C2 Protocol</a:t>
            </a:r>
            <a:endParaRPr b="0" i="0" sz="1800" u="none" cap="none" strike="noStrike"/>
          </a:p>
        </p:txBody>
      </p:sp>
      <p:graphicFrame>
        <p:nvGraphicFramePr>
          <p:cNvPr id="216" name="Google Shape;216;p13"/>
          <p:cNvGraphicFramePr/>
          <p:nvPr/>
        </p:nvGraphicFramePr>
        <p:xfrm>
          <a:off x="762000" y="66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4419600"/>
                <a:gridCol w="10312400"/>
              </a:tblGrid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62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SOAP XML over HTTP to port 6677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SOAP is rare for legitimate consumer software. Combined with port 6677, this is a high-fidelity network indicator of RedLine activity.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2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HTTP POST with XML content type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for outbound HTTP requests with Content-Type: text/xml containing base64 data. The XML structure with campaignId and hwid tags is characteristic.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217" name="Google Shape;217;p13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3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225" name="Google Shape;225;p1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26" name="Google Shape;226;p14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RedLine Stealer MITRE ATT&amp;CK Mapping</a:t>
            </a:r>
            <a:endParaRPr b="0" i="0" sz="2600" u="none" cap="none" strike="noStrike"/>
          </a:p>
        </p:txBody>
      </p:sp>
      <p:cxnSp>
        <p:nvCxnSpPr>
          <p:cNvPr id="227" name="Google Shape;227;p14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4"/>
          <p:cNvSpPr/>
          <p:nvPr/>
        </p:nvSpPr>
        <p:spPr>
          <a:xfrm>
            <a:off x="762000" y="1371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FRAMEWORK MAPPING</a:t>
            </a:r>
            <a:endParaRPr b="0" i="0" sz="1200" u="none" cap="none" strike="noStrike"/>
          </a:p>
        </p:txBody>
      </p:sp>
      <p:graphicFrame>
        <p:nvGraphicFramePr>
          <p:cNvPr id="229" name="Google Shape;229;p14"/>
          <p:cNvGraphicFramePr/>
          <p:nvPr/>
        </p:nvGraphicFramePr>
        <p:xfrm>
          <a:off x="762000" y="17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{78DED55D-C20D-4BB6-A031-3ED5B3FF68E0}</a:tableStyleId>
              </a:tblPr>
              <a:tblGrid>
                <a:gridCol w="2062475"/>
                <a:gridCol w="3683000"/>
                <a:gridCol w="4861550"/>
                <a:gridCol w="4124950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MITRE ID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TECHNIQUE NAME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REDLINE IMPLEMENTATION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DEFENSIVE CONTROL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T1555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Credentials from Password Stores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Steals credentials from browser databases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Use password managers with master passwords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T1555.003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Credentials from Web Browsers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Chromium/Gecko Login Data database theft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file access to Login Data files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T1555.005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Password Managers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Targets browser-integrated password managers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Use dedicated password manager apps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T1083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File and Directory Discovery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Scans for wallet files, configs, tokens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file system enumeration APIs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T1113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Screen Capture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Captures desktop screenshot on infection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BitBlt/PrintWindow API usage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T1018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Remote System Discovery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Collects IP geolocation and network info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 monitoring for geolocation APIs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T1082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System Information Discovery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Harvests OS, hardware, installed software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WMI query monitoring for system info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T1071.001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Application Layer Protocol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SOAP over HTTP/HTTPS to C2 panel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Block port 6677, inspect SOAP content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T1005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Data from Local System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Steals files matching keyword scanner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File integrity monitoring, DLP solutions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T1020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Automated Exfiltration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Automatically uploads stolen data to C2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 DLP, outbound traffic inspection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T1497.001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Virtualization/Sandbox Evasion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CIS country blocklist region check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RegionInfo queries at startup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cxnSp>
        <p:nvCxnSpPr>
          <p:cNvPr id="230" name="Google Shape;230;p1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SRC-2026-0614-REDLINE</a:t>
            </a:r>
            <a:endParaRPr b="0" i="0" sz="1400" u="none" cap="none" strike="noStrike"/>
          </a:p>
        </p:txBody>
      </p:sp>
      <p:sp>
        <p:nvSpPr>
          <p:cNvPr id="238" name="Google Shape;238;p1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39" name="Google Shape;239;p15"/>
          <p:cNvSpPr/>
          <p:nvPr/>
        </p:nvSpPr>
        <p:spPr>
          <a:xfrm>
            <a:off x="762000" y="762000"/>
            <a:ext cx="1397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SUMMARY: OFFENSIVE KNOWLEDGE FOR DEFENSE</a:t>
            </a:r>
            <a:endParaRPr b="0" i="0" sz="3600" u="none" cap="none" strike="noStrike"/>
          </a:p>
        </p:txBody>
      </p:sp>
      <p:cxnSp>
        <p:nvCxnSpPr>
          <p:cNvPr id="240" name="Google Shape;240;p15"/>
          <p:cNvCxnSpPr/>
          <p:nvPr/>
        </p:nvCxn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5"/>
          <p:cNvSpPr/>
          <p:nvPr/>
        </p:nvSpPr>
        <p:spPr>
          <a:xfrm>
            <a:off x="762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800" u="none" cap="none" strike="noStrike"/>
          </a:p>
        </p:txBody>
      </p:sp>
      <p:sp>
        <p:nvSpPr>
          <p:cNvPr id="242" name="Google Shape;242;p15"/>
          <p:cNvSpPr/>
          <p:nvPr/>
        </p:nvSpPr>
        <p:spPr>
          <a:xfrm>
            <a:off x="1524000" y="17780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TURN-KEY INFO-STEALER</a:t>
            </a:r>
            <a:endParaRPr b="0" i="0" sz="1800" u="none" cap="none" strike="noStrike"/>
          </a:p>
        </p:txBody>
      </p:sp>
      <p:sp>
        <p:nvSpPr>
          <p:cNvPr id="243" name="Google Shape;243;p15"/>
          <p:cNvSpPr/>
          <p:nvPr/>
        </p:nvSpPr>
        <p:spPr>
          <a:xfrm>
            <a:off x="1524000" y="21590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is affordable and accessible — even non-technical criminals can operate it. The barrier to entry for credential theft is extremely low.</a:t>
            </a:r>
            <a:endParaRPr b="0" i="0" sz="1500" u="none" cap="none" strike="noStrike"/>
          </a:p>
        </p:txBody>
      </p:sp>
      <p:sp>
        <p:nvSpPr>
          <p:cNvPr id="244" name="Google Shape;244;p15"/>
          <p:cNvSpPr/>
          <p:nvPr/>
        </p:nvSpPr>
        <p:spPr>
          <a:xfrm>
            <a:off x="8128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800" u="none" cap="none" strike="noStrike"/>
          </a:p>
        </p:txBody>
      </p:sp>
      <p:sp>
        <p:nvSpPr>
          <p:cNvPr id="245" name="Google Shape;245;p15"/>
          <p:cNvSpPr/>
          <p:nvPr/>
        </p:nvSpPr>
        <p:spPr>
          <a:xfrm>
            <a:off x="8890000" y="1778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BROWSER CREDENTIALS ARE PRIMARY TARGETS</a:t>
            </a:r>
            <a:endParaRPr b="0" i="0" sz="1800" u="none" cap="none" strike="noStrike"/>
          </a:p>
        </p:txBody>
      </p:sp>
      <p:sp>
        <p:nvSpPr>
          <p:cNvPr id="246" name="Google Shape;246;p15"/>
          <p:cNvSpPr/>
          <p:nvPr/>
        </p:nvSpPr>
        <p:spPr>
          <a:xfrm>
            <a:off x="8890000" y="21590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password managers with master passwords, not browser autofill. Browser credential databases are trivial to decrypt with DPAPI.</a:t>
            </a:r>
            <a:endParaRPr b="0" i="0" sz="1500" u="none" cap="none" strike="noStrike"/>
          </a:p>
        </p:txBody>
      </p:sp>
      <p:sp>
        <p:nvSpPr>
          <p:cNvPr id="247" name="Google Shape;247;p15"/>
          <p:cNvSpPr/>
          <p:nvPr/>
        </p:nvSpPr>
        <p:spPr>
          <a:xfrm>
            <a:off x="762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800" u="none" cap="none" strike="noStrike"/>
          </a:p>
        </p:txBody>
      </p:sp>
      <p:sp>
        <p:nvSpPr>
          <p:cNvPr id="248" name="Google Shape;248;p15"/>
          <p:cNvSpPr/>
          <p:nvPr/>
        </p:nvSpPr>
        <p:spPr>
          <a:xfrm>
            <a:off x="1524000" y="33655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CRYPTO WALLETS ON DISK ARE AT RISK</a:t>
            </a:r>
            <a:endParaRPr b="0" i="0" sz="1800" u="none" cap="none" strike="noStrike"/>
          </a:p>
        </p:txBody>
      </p:sp>
      <p:sp>
        <p:nvSpPr>
          <p:cNvPr id="249" name="Google Shape;249;p15"/>
          <p:cNvSpPr/>
          <p:nvPr/>
        </p:nvSpPr>
        <p:spPr>
          <a:xfrm>
            <a:off x="1524000" y="37465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 phrases stored on disk are immediately at risk. Use hardware wallets (Ledger, Trezor) and never store seed phrases in plaintext files.</a:t>
            </a:r>
            <a:endParaRPr b="0" i="0" sz="1500" u="none" cap="none" strike="noStrike"/>
          </a:p>
        </p:txBody>
      </p:sp>
      <p:sp>
        <p:nvSpPr>
          <p:cNvPr id="250" name="Google Shape;250;p15"/>
          <p:cNvSpPr/>
          <p:nvPr/>
        </p:nvSpPr>
        <p:spPr>
          <a:xfrm>
            <a:off x="8128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800" u="none" cap="none" strike="noStrike"/>
          </a:p>
        </p:txBody>
      </p:sp>
      <p:sp>
        <p:nvSpPr>
          <p:cNvPr id="251" name="Google Shape;251;p15"/>
          <p:cNvSpPr/>
          <p:nvPr/>
        </p:nvSpPr>
        <p:spPr>
          <a:xfrm>
            <a:off x="8890000" y="3365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CIS BLOCKLIST REVEALS ORIGINS</a:t>
            </a:r>
            <a:endParaRPr b="0" i="0" sz="1800" u="none" cap="none" strike="noStrike"/>
          </a:p>
        </p:txBody>
      </p:sp>
      <p:sp>
        <p:nvSpPr>
          <p:cNvPr id="252" name="Google Shape;252;p15"/>
          <p:cNvSpPr/>
          <p:nvPr/>
        </p:nvSpPr>
        <p:spPr>
          <a:xfrm>
            <a:off x="8890000" y="37465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Samples check RegionInfo.EnglishName before execution. The CIS blocklist reveals the malware's geographic origin and target avoidance strategy.</a:t>
            </a:r>
            <a:endParaRPr b="0" i="0" sz="1500" u="none" cap="none" strike="noStrike"/>
          </a:p>
        </p:txBody>
      </p:sp>
      <p:sp>
        <p:nvSpPr>
          <p:cNvPr id="253" name="Google Shape;253;p15"/>
          <p:cNvSpPr/>
          <p:nvPr/>
        </p:nvSpPr>
        <p:spPr>
          <a:xfrm>
            <a:off x="762000" y="4953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800" u="none" cap="none" strike="noStrike"/>
          </a:p>
        </p:txBody>
      </p:sp>
      <p:sp>
        <p:nvSpPr>
          <p:cNvPr id="254" name="Google Shape;254;p15"/>
          <p:cNvSpPr/>
          <p:nvPr/>
        </p:nvSpPr>
        <p:spPr>
          <a:xfrm>
            <a:off x="1524000" y="4953000"/>
            <a:ext cx="1397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CONFIGURATION EXTRACTION IS TRIVIAL</a:t>
            </a:r>
            <a:endParaRPr b="0" i="0" sz="1800" u="none" cap="none" strike="noStrike"/>
          </a:p>
        </p:txBody>
      </p:sp>
      <p:sp>
        <p:nvSpPr>
          <p:cNvPr id="255" name="Google Shape;255;p15"/>
          <p:cNvSpPr/>
          <p:nvPr/>
        </p:nvSpPr>
        <p:spPr>
          <a:xfrm>
            <a:off x="1524000" y="5334000"/>
            <a:ext cx="1397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 keys are hardcoded in samples, enabling automated C2 extraction and takedown. Security researchers can extract configurations using tools like RedLineConfigExtractor or manual decompilation with dnSpy.</a:t>
            </a:r>
            <a:endParaRPr b="0" i="0" sz="1500" u="none" cap="none" strike="noStrike"/>
          </a:p>
        </p:txBody>
      </p:sp>
      <p:cxnSp>
        <p:nvCxnSpPr>
          <p:cNvPr id="256" name="Google Shape;256;p15"/>
          <p:cNvCxnSpPr/>
          <p:nvPr/>
        </p:nvCxnSpPr>
        <p:spPr>
          <a:xfrm>
            <a:off x="762000" y="6350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5"/>
          <p:cNvSpPr/>
          <p:nvPr/>
        </p:nvSpPr>
        <p:spPr>
          <a:xfrm>
            <a:off x="1270000" y="6604000"/>
            <a:ext cx="13716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Notice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analysis was performed on publicly available source code for educational and defensive research purposes.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RedLine Stealer backend infrastructure was taken down in Operation Magnus (October 2024).</a:t>
            </a:r>
            <a:endParaRPr b="0" i="0" sz="1400" u="none" cap="none" strike="noStrike"/>
          </a:p>
        </p:txBody>
      </p:sp>
      <p:cxnSp>
        <p:nvCxnSpPr>
          <p:cNvPr id="258" name="Google Shape;258;p1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13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