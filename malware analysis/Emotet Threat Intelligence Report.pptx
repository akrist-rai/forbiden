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9144000" cx="16256000"/>
  <p:notesSz cx="9144000" cy="16256000"/>
  <p:embeddedFontLst>
    <p:embeddedFont>
      <p:font typeface="Liter"/>
      <p:regular r:id="rId19"/>
    </p:embeddedFont>
    <p:embeddedFont>
      <p:font typeface="Quattrocento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3EB3A7-DA65-40AD-92DE-6E7132627B1C}">
  <a:tblStyle styleId="{8D3EB3A7-DA65-40AD-92DE-6E7132627B1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QuattrocentoSans-regular.fntdata"/><Relationship Id="rId11" Type="http://schemas.openxmlformats.org/officeDocument/2006/relationships/slide" Target="slides/slide6.xml"/><Relationship Id="rId22" Type="http://schemas.openxmlformats.org/officeDocument/2006/relationships/font" Target="fonts/QuattrocentoSans-italic.fntdata"/><Relationship Id="rId10" Type="http://schemas.openxmlformats.org/officeDocument/2006/relationships/slide" Target="slides/slide5.xml"/><Relationship Id="rId21" Type="http://schemas.openxmlformats.org/officeDocument/2006/relationships/font" Target="fonts/QuattrocentoSans-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Quattrocento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Liter-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15" name="Shape 15"/>
        <p:cNvGrpSpPr/>
        <p:nvPr/>
      </p:nvGrpSpPr>
      <p:grpSpPr>
        <a:xfrm>
          <a:off x="0" y="0"/>
          <a:ext cx="0" cy="0"/>
          <a:chOff x="0" y="0"/>
          <a:chExt cx="0" cy="0"/>
        </a:xfrm>
      </p:grpSpPr>
      <p:sp>
        <p:nvSpPr>
          <p:cNvPr id="16" name="Google Shape;16;p3"/>
          <p:cNvSpPr/>
          <p:nvPr/>
        </p:nvSpPr>
        <p:spPr>
          <a:xfrm>
            <a:off x="0" y="0"/>
            <a:ext cx="16256000" cy="3556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0" y="0"/>
            <a:ext cx="16256000" cy="3556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1200" u="none" cap="none" strike="noStrike">
                <a:solidFill>
                  <a:srgbClr val="FFFFFF"/>
                </a:solidFill>
                <a:latin typeface="Liter"/>
                <a:ea typeface="Liter"/>
                <a:cs typeface="Liter"/>
                <a:sym typeface="Liter"/>
              </a:rPr>
              <a:t>CONFIDENTIAL — DEFENSIVE THREAT INTELLIGENCE — EDUCATIONAL RESEARCH</a:t>
            </a:r>
            <a:endParaRPr b="0" i="0" sz="1200" u="none" cap="none" strike="noStrike"/>
          </a:p>
        </p:txBody>
      </p:sp>
      <p:sp>
        <p:nvSpPr>
          <p:cNvPr id="18" name="Google Shape;18;p3"/>
          <p:cNvSpPr/>
          <p:nvPr/>
        </p:nvSpPr>
        <p:spPr>
          <a:xfrm>
            <a:off x="1270000" y="2032000"/>
            <a:ext cx="13716000" cy="825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4800" u="none" cap="none" strike="noStrike">
                <a:solidFill>
                  <a:srgbClr val="FFFFFF"/>
                </a:solidFill>
                <a:latin typeface="Liter"/>
                <a:ea typeface="Liter"/>
                <a:cs typeface="Liter"/>
                <a:sym typeface="Liter"/>
              </a:rPr>
              <a:t>EMOTET</a:t>
            </a:r>
            <a:endParaRPr b="0" i="0" sz="4800" u="none" cap="none" strike="noStrike"/>
          </a:p>
        </p:txBody>
      </p:sp>
      <p:sp>
        <p:nvSpPr>
          <p:cNvPr id="19" name="Google Shape;19;p3"/>
          <p:cNvSpPr/>
          <p:nvPr/>
        </p:nvSpPr>
        <p:spPr>
          <a:xfrm>
            <a:off x="1270000" y="2984500"/>
            <a:ext cx="13716000" cy="508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2400" u="none" cap="none" strike="noStrike">
                <a:solidFill>
                  <a:srgbClr val="8C95A5"/>
                </a:solidFill>
                <a:latin typeface="Quattrocento Sans"/>
                <a:ea typeface="Quattrocento Sans"/>
                <a:cs typeface="Quattrocento Sans"/>
                <a:sym typeface="Quattrocento Sans"/>
              </a:rPr>
              <a:t>MODULAR MALWARE LOADER</a:t>
            </a:r>
            <a:endParaRPr b="0" i="0" sz="2400" u="none" cap="none" strike="noStrike"/>
          </a:p>
        </p:txBody>
      </p:sp>
      <p:cxnSp>
        <p:nvCxnSpPr>
          <p:cNvPr id="20" name="Google Shape;20;p3"/>
          <p:cNvCxnSpPr/>
          <p:nvPr/>
        </p:nvCxnSpPr>
        <p:spPr>
          <a:xfrm>
            <a:off x="5588000" y="3810000"/>
            <a:ext cx="5080000" cy="0"/>
          </a:xfrm>
          <a:prstGeom prst="straightConnector1">
            <a:avLst/>
          </a:prstGeom>
          <a:noFill/>
          <a:ln cap="flat" cmpd="sng" w="12700">
            <a:solidFill>
              <a:srgbClr val="5A6070"/>
            </a:solidFill>
            <a:prstDash val="solid"/>
            <a:round/>
            <a:headEnd len="sm" w="sm" type="none"/>
            <a:tailEnd len="sm" w="sm" type="none"/>
          </a:ln>
        </p:spPr>
      </p:cxnSp>
      <p:sp>
        <p:nvSpPr>
          <p:cNvPr id="21" name="Google Shape;21;p3"/>
          <p:cNvSpPr/>
          <p:nvPr/>
        </p:nvSpPr>
        <p:spPr>
          <a:xfrm>
            <a:off x="2540000" y="4064000"/>
            <a:ext cx="11176000" cy="4445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2400" u="none" cap="none" strike="noStrike">
                <a:solidFill>
                  <a:srgbClr val="8C95A5"/>
                </a:solidFill>
                <a:latin typeface="Quattrocento Sans"/>
                <a:ea typeface="Quattrocento Sans"/>
                <a:cs typeface="Quattrocento Sans"/>
                <a:sym typeface="Quattrocento Sans"/>
              </a:rPr>
              <a:t>THREAT INTELLIGENCE REPORT</a:t>
            </a:r>
            <a:endParaRPr b="0" i="0" sz="2400" u="none" cap="none" strike="noStrike"/>
          </a:p>
        </p:txBody>
      </p:sp>
      <p:sp>
        <p:nvSpPr>
          <p:cNvPr id="22" name="Google Shape;22;p3"/>
          <p:cNvSpPr/>
          <p:nvPr/>
        </p:nvSpPr>
        <p:spPr>
          <a:xfrm>
            <a:off x="3048000" y="4699000"/>
            <a:ext cx="10160000" cy="3810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2000" u="none" cap="none" strike="noStrike">
                <a:solidFill>
                  <a:srgbClr val="8C95A5"/>
                </a:solidFill>
                <a:latin typeface="Quattrocento Sans"/>
                <a:ea typeface="Quattrocento Sans"/>
                <a:cs typeface="Quattrocento Sans"/>
                <a:sym typeface="Quattrocento Sans"/>
              </a:rPr>
              <a:t>Offensive-Informed Defensive Analysis</a:t>
            </a:r>
            <a:endParaRPr b="0" i="0" sz="2000" u="none" cap="none" strike="noStrike"/>
          </a:p>
        </p:txBody>
      </p:sp>
      <p:sp>
        <p:nvSpPr>
          <p:cNvPr id="23" name="Google Shape;23;p3"/>
          <p:cNvSpPr/>
          <p:nvPr/>
        </p:nvSpPr>
        <p:spPr>
          <a:xfrm>
            <a:off x="4318000" y="5588000"/>
            <a:ext cx="7620000" cy="2032000"/>
          </a:xfrm>
          <a:prstGeom prst="rect">
            <a:avLst/>
          </a:prstGeom>
          <a:solidFill>
            <a:srgbClr val="1A1D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4699000" y="5778500"/>
            <a:ext cx="6858000" cy="1651000"/>
          </a:xfrm>
          <a:prstGeom prst="rect">
            <a:avLst/>
          </a:prstGeom>
          <a:noFill/>
          <a:ln>
            <a:noFill/>
          </a:ln>
        </p:spPr>
        <p:txBody>
          <a:bodyPr anchorCtr="0" anchor="t" bIns="0" lIns="0" spcFirstLastPara="1" rIns="0" wrap="square" tIns="0">
            <a:noAutofit/>
          </a:bodyPr>
          <a:lstStyle/>
          <a:p>
            <a:pPr indent="0" lvl="0" marL="0" marR="0" rtl="0" algn="l">
              <a:lnSpc>
                <a:spcPct val="180000"/>
              </a:lnSpc>
              <a:spcBef>
                <a:spcPts val="0"/>
              </a:spcBef>
              <a:spcAft>
                <a:spcPts val="0"/>
              </a:spcAft>
              <a:buNone/>
            </a:pPr>
            <a:r>
              <a:rPr b="0" i="0" lang="en-US" sz="1600" u="none" cap="none" strike="noStrike">
                <a:solidFill>
                  <a:srgbClr val="8C95A5"/>
                </a:solidFill>
                <a:latin typeface="Quattrocento Sans"/>
                <a:ea typeface="Quattrocento Sans"/>
                <a:cs typeface="Quattrocento Sans"/>
                <a:sym typeface="Quattrocento Sans"/>
              </a:rPr>
              <a:t>REPORT ID</a:t>
            </a:r>
            <a:r>
              <a:rPr b="0" i="0" lang="en-US" sz="1600" u="none" cap="none" strike="noStrike">
                <a:solidFill>
                  <a:srgbClr val="E8ECF1"/>
                </a:solidFill>
                <a:latin typeface="Quattrocento Sans"/>
                <a:ea typeface="Quattrocento Sans"/>
                <a:cs typeface="Quattrocento Sans"/>
                <a:sym typeface="Quattrocento Sans"/>
              </a:rPr>
              <a:t>        SRC-2026-0614-EMOTET</a:t>
            </a:r>
            <a:endParaRPr b="0" i="0" sz="1600" u="none" cap="none" strike="noStrike"/>
          </a:p>
          <a:p>
            <a:pPr indent="0" lvl="0" marL="0" marR="0" rtl="0" algn="l">
              <a:lnSpc>
                <a:spcPct val="180000"/>
              </a:lnSpc>
              <a:spcBef>
                <a:spcPts val="0"/>
              </a:spcBef>
              <a:spcAft>
                <a:spcPts val="0"/>
              </a:spcAft>
              <a:buNone/>
            </a:pPr>
            <a:r>
              <a:rPr b="0" i="0" lang="en-US" sz="1600" u="none" cap="none" strike="noStrike">
                <a:solidFill>
                  <a:srgbClr val="8C95A5"/>
                </a:solidFill>
                <a:latin typeface="Quattrocento Sans"/>
                <a:ea typeface="Quattrocento Sans"/>
                <a:cs typeface="Quattrocento Sans"/>
                <a:sym typeface="Quattrocento Sans"/>
              </a:rPr>
              <a:t>ANALYSIS DATE</a:t>
            </a:r>
            <a:r>
              <a:rPr b="0" i="0" lang="en-US" sz="1600" u="none" cap="none" strike="noStrike">
                <a:solidFill>
                  <a:srgbClr val="E8ECF1"/>
                </a:solidFill>
                <a:latin typeface="Quattrocento Sans"/>
                <a:ea typeface="Quattrocento Sans"/>
                <a:cs typeface="Quattrocento Sans"/>
                <a:sym typeface="Quattrocento Sans"/>
              </a:rPr>
              <a:t>     2026-06-14</a:t>
            </a:r>
            <a:endParaRPr b="0" i="0" sz="1600" u="none" cap="none" strike="noStrike"/>
          </a:p>
          <a:p>
            <a:pPr indent="0" lvl="0" marL="0" marR="0" rtl="0" algn="l">
              <a:lnSpc>
                <a:spcPct val="180000"/>
              </a:lnSpc>
              <a:spcBef>
                <a:spcPts val="0"/>
              </a:spcBef>
              <a:spcAft>
                <a:spcPts val="0"/>
              </a:spcAft>
              <a:buNone/>
            </a:pPr>
            <a:r>
              <a:rPr b="0" i="0" lang="en-US" sz="1600" u="none" cap="none" strike="noStrike">
                <a:solidFill>
                  <a:srgbClr val="8C95A5"/>
                </a:solidFill>
                <a:latin typeface="Quattrocento Sans"/>
                <a:ea typeface="Quattrocento Sans"/>
                <a:cs typeface="Quattrocento Sans"/>
                <a:sym typeface="Quattrocento Sans"/>
              </a:rPr>
              <a:t>SOURCE</a:t>
            </a:r>
            <a:r>
              <a:rPr b="0" i="0" lang="en-US" sz="1600" u="none" cap="none" strike="noStrike">
                <a:solidFill>
                  <a:srgbClr val="E8ECF1"/>
                </a:solidFill>
                <a:latin typeface="Quattrocento Sans"/>
                <a:ea typeface="Quattrocento Sans"/>
                <a:cs typeface="Quattrocento Sans"/>
                <a:sym typeface="Quattrocento Sans"/>
              </a:rPr>
              <a:t>            Emotet Source (Recovered 2022)</a:t>
            </a:r>
            <a:endParaRPr b="0" i="0" sz="1600" u="none" cap="none" strike="noStrike"/>
          </a:p>
          <a:p>
            <a:pPr indent="0" lvl="0" marL="0" marR="0" rtl="0" algn="l">
              <a:lnSpc>
                <a:spcPct val="180000"/>
              </a:lnSpc>
              <a:spcBef>
                <a:spcPts val="0"/>
              </a:spcBef>
              <a:spcAft>
                <a:spcPts val="0"/>
              </a:spcAft>
              <a:buNone/>
            </a:pPr>
            <a:r>
              <a:rPr b="0" i="0" lang="en-US" sz="1600" u="none" cap="none" strike="noStrike">
                <a:solidFill>
                  <a:srgbClr val="8C95A5"/>
                </a:solidFill>
                <a:latin typeface="Quattrocento Sans"/>
                <a:ea typeface="Quattrocento Sans"/>
                <a:cs typeface="Quattrocento Sans"/>
                <a:sym typeface="Quattrocento Sans"/>
              </a:rPr>
              <a:t>CLASSIFICATION</a:t>
            </a:r>
            <a:r>
              <a:rPr b="0" i="0" lang="en-US" sz="1600" u="none" cap="none" strike="noStrike">
                <a:solidFill>
                  <a:srgbClr val="E8ECF1"/>
                </a:solidFill>
                <a:latin typeface="Quattrocento Sans"/>
                <a:ea typeface="Quattrocento Sans"/>
                <a:cs typeface="Quattrocento Sans"/>
                <a:sym typeface="Quattrocento Sans"/>
              </a:rPr>
              <a:t>    Defensive Threat Intelligence</a:t>
            </a:r>
            <a:endParaRPr b="0" i="0" sz="1600" u="none" cap="none" strike="noStrike"/>
          </a:p>
        </p:txBody>
      </p:sp>
      <p:sp>
        <p:nvSpPr>
          <p:cNvPr id="25" name="Google Shape;25;p3"/>
          <p:cNvSpPr/>
          <p:nvPr/>
        </p:nvSpPr>
        <p:spPr>
          <a:xfrm>
            <a:off x="0" y="8636000"/>
            <a:ext cx="16256000" cy="3175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D92525"/>
                </a:solidFill>
                <a:latin typeface="Quattrocento Sans"/>
                <a:ea typeface="Quattrocento Sans"/>
                <a:cs typeface="Quattrocento Sans"/>
                <a:sym typeface="Quattrocento Sans"/>
              </a:rPr>
              <a:t>EDUCATIONAL RESEARCH — OFFENSIVE ANALYSIS FOR DEFENSIVE PURPOSES ONLY</a:t>
            </a:r>
            <a:endParaRPr b="0" i="0" sz="1400" u="none" cap="none" strike="noStrike"/>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30" name="Shape 30"/>
        <p:cNvGrpSpPr/>
        <p:nvPr/>
      </p:nvGrpSpPr>
      <p:grpSpPr>
        <a:xfrm>
          <a:off x="0" y="0"/>
          <a:ext cx="0" cy="0"/>
          <a:chOff x="0" y="0"/>
          <a:chExt cx="0" cy="0"/>
        </a:xfrm>
      </p:grpSpPr>
      <p:sp>
        <p:nvSpPr>
          <p:cNvPr id="31" name="Google Shape;31;p4"/>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SRC-2026-0614-EMOTET</a:t>
            </a:r>
            <a:endParaRPr b="0" i="0" sz="1400" u="none" cap="none" strike="noStrike"/>
          </a:p>
        </p:txBody>
      </p:sp>
      <p:sp>
        <p:nvSpPr>
          <p:cNvPr id="32" name="Google Shape;32;p4"/>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33" name="Google Shape;33;p4"/>
          <p:cNvSpPr/>
          <p:nvPr/>
        </p:nvSpPr>
        <p:spPr>
          <a:xfrm>
            <a:off x="762000" y="889000"/>
            <a:ext cx="6350000" cy="635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600" u="none" cap="none" strike="noStrike">
                <a:solidFill>
                  <a:srgbClr val="FFFFFF"/>
                </a:solidFill>
                <a:latin typeface="Liter"/>
                <a:ea typeface="Liter"/>
                <a:cs typeface="Liter"/>
                <a:sym typeface="Liter"/>
              </a:rPr>
              <a:t>TABLE OF CONTENTS</a:t>
            </a:r>
            <a:endParaRPr b="0" i="0" sz="3600" u="none" cap="none" strike="noStrike"/>
          </a:p>
        </p:txBody>
      </p:sp>
      <p:cxnSp>
        <p:nvCxnSpPr>
          <p:cNvPr id="34" name="Google Shape;34;p4"/>
          <p:cNvCxnSpPr/>
          <p:nvPr/>
        </p:nvCxnSpPr>
        <p:spPr>
          <a:xfrm>
            <a:off x="762000" y="1651000"/>
            <a:ext cx="14732000" cy="0"/>
          </a:xfrm>
          <a:prstGeom prst="straightConnector1">
            <a:avLst/>
          </a:prstGeom>
          <a:noFill/>
          <a:ln cap="flat" cmpd="sng" w="12700">
            <a:solidFill>
              <a:srgbClr val="5A6070"/>
            </a:solidFill>
            <a:prstDash val="solid"/>
            <a:round/>
            <a:headEnd len="sm" w="sm" type="none"/>
            <a:tailEnd len="sm" w="sm" type="none"/>
          </a:ln>
        </p:spPr>
      </p:cxnSp>
      <p:sp>
        <p:nvSpPr>
          <p:cNvPr id="35" name="Google Shape;35;p4"/>
          <p:cNvSpPr/>
          <p:nvPr/>
        </p:nvSpPr>
        <p:spPr>
          <a:xfrm>
            <a:off x="762000" y="2032000"/>
            <a:ext cx="889000" cy="635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600" u="none" cap="none" strike="noStrike">
                <a:solidFill>
                  <a:srgbClr val="D92525"/>
                </a:solidFill>
                <a:latin typeface="Liter"/>
                <a:ea typeface="Liter"/>
                <a:cs typeface="Liter"/>
                <a:sym typeface="Liter"/>
              </a:rPr>
              <a:t>01</a:t>
            </a:r>
            <a:endParaRPr b="0" i="0" sz="3600" u="none" cap="none" strike="noStrike"/>
          </a:p>
        </p:txBody>
      </p:sp>
      <p:sp>
        <p:nvSpPr>
          <p:cNvPr id="36" name="Google Shape;36;p4"/>
          <p:cNvSpPr/>
          <p:nvPr/>
        </p:nvSpPr>
        <p:spPr>
          <a:xfrm>
            <a:off x="1778000" y="2032000"/>
            <a:ext cx="6350000" cy="3810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None/>
            </a:pPr>
            <a:r>
              <a:rPr b="1" i="0" lang="en-US" sz="2200" u="none" cap="none" strike="noStrike">
                <a:solidFill>
                  <a:srgbClr val="FFFFFF"/>
                </a:solidFill>
                <a:latin typeface="Quattrocento Sans"/>
                <a:ea typeface="Quattrocento Sans"/>
                <a:cs typeface="Quattrocento Sans"/>
                <a:sym typeface="Quattrocento Sans"/>
              </a:rPr>
              <a:t>EMOTET ARCHITECTURE</a:t>
            </a:r>
            <a:endParaRPr b="0" i="0" sz="2200" u="none" cap="none" strike="noStrike"/>
          </a:p>
        </p:txBody>
      </p:sp>
      <p:sp>
        <p:nvSpPr>
          <p:cNvPr id="37" name="Google Shape;37;p4"/>
          <p:cNvSpPr/>
          <p:nvPr/>
        </p:nvSpPr>
        <p:spPr>
          <a:xfrm>
            <a:off x="1778000" y="2476500"/>
            <a:ext cx="8890000" cy="317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Modular banking trojan, Epoch versioning system, loader persistence</a:t>
            </a:r>
            <a:endParaRPr b="0" i="0" sz="1400" u="none" cap="none" strike="noStrike"/>
          </a:p>
        </p:txBody>
      </p:sp>
      <p:sp>
        <p:nvSpPr>
          <p:cNvPr id="38" name="Google Shape;38;p4"/>
          <p:cNvSpPr/>
          <p:nvPr/>
        </p:nvSpPr>
        <p:spPr>
          <a:xfrm>
            <a:off x="762000" y="3238500"/>
            <a:ext cx="889000" cy="635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600" u="none" cap="none" strike="noStrike">
                <a:solidFill>
                  <a:srgbClr val="D92525"/>
                </a:solidFill>
                <a:latin typeface="Liter"/>
                <a:ea typeface="Liter"/>
                <a:cs typeface="Liter"/>
                <a:sym typeface="Liter"/>
              </a:rPr>
              <a:t>02</a:t>
            </a:r>
            <a:endParaRPr b="0" i="0" sz="3600" u="none" cap="none" strike="noStrike"/>
          </a:p>
        </p:txBody>
      </p:sp>
      <p:sp>
        <p:nvSpPr>
          <p:cNvPr id="39" name="Google Shape;39;p4"/>
          <p:cNvSpPr/>
          <p:nvPr/>
        </p:nvSpPr>
        <p:spPr>
          <a:xfrm>
            <a:off x="1778000" y="3238500"/>
            <a:ext cx="6350000" cy="3810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None/>
            </a:pPr>
            <a:r>
              <a:rPr b="1" i="0" lang="en-US" sz="2200" u="none" cap="none" strike="noStrike">
                <a:solidFill>
                  <a:srgbClr val="FFFFFF"/>
                </a:solidFill>
                <a:latin typeface="Quattrocento Sans"/>
                <a:ea typeface="Quattrocento Sans"/>
                <a:cs typeface="Quattrocento Sans"/>
                <a:sym typeface="Quattrocento Sans"/>
              </a:rPr>
              <a:t>PROCESS INJECTION ENGINE</a:t>
            </a:r>
            <a:endParaRPr b="0" i="0" sz="2200" u="none" cap="none" strike="noStrike"/>
          </a:p>
        </p:txBody>
      </p:sp>
      <p:sp>
        <p:nvSpPr>
          <p:cNvPr id="40" name="Google Shape;40;p4"/>
          <p:cNvSpPr/>
          <p:nvPr/>
        </p:nvSpPr>
        <p:spPr>
          <a:xfrm>
            <a:off x="1778000" y="3683000"/>
            <a:ext cx="8890000" cy="317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Process hollowing, APC injection, module loading architecture</a:t>
            </a:r>
            <a:endParaRPr b="0" i="0" sz="1400" u="none" cap="none" strike="noStrike"/>
          </a:p>
        </p:txBody>
      </p:sp>
      <p:sp>
        <p:nvSpPr>
          <p:cNvPr id="41" name="Google Shape;41;p4"/>
          <p:cNvSpPr/>
          <p:nvPr/>
        </p:nvSpPr>
        <p:spPr>
          <a:xfrm>
            <a:off x="762000" y="4445000"/>
            <a:ext cx="889000" cy="635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600" u="none" cap="none" strike="noStrike">
                <a:solidFill>
                  <a:srgbClr val="D92525"/>
                </a:solidFill>
                <a:latin typeface="Liter"/>
                <a:ea typeface="Liter"/>
                <a:cs typeface="Liter"/>
                <a:sym typeface="Liter"/>
              </a:rPr>
              <a:t>03</a:t>
            </a:r>
            <a:endParaRPr b="0" i="0" sz="3600" u="none" cap="none" strike="noStrike"/>
          </a:p>
        </p:txBody>
      </p:sp>
      <p:sp>
        <p:nvSpPr>
          <p:cNvPr id="42" name="Google Shape;42;p4"/>
          <p:cNvSpPr/>
          <p:nvPr/>
        </p:nvSpPr>
        <p:spPr>
          <a:xfrm>
            <a:off x="1778000" y="4445000"/>
            <a:ext cx="6350000" cy="3810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None/>
            </a:pPr>
            <a:r>
              <a:rPr b="1" i="0" lang="en-US" sz="2200" u="none" cap="none" strike="noStrike">
                <a:solidFill>
                  <a:srgbClr val="FFFFFF"/>
                </a:solidFill>
                <a:latin typeface="Quattrocento Sans"/>
                <a:ea typeface="Quattrocento Sans"/>
                <a:cs typeface="Quattrocento Sans"/>
                <a:sym typeface="Quattrocento Sans"/>
              </a:rPr>
              <a:t>PROPAGATION AND EVASION</a:t>
            </a:r>
            <a:endParaRPr b="0" i="0" sz="2200" u="none" cap="none" strike="noStrike"/>
          </a:p>
        </p:txBody>
      </p:sp>
      <p:sp>
        <p:nvSpPr>
          <p:cNvPr id="43" name="Google Shape;43;p4"/>
          <p:cNvSpPr/>
          <p:nvPr/>
        </p:nvSpPr>
        <p:spPr>
          <a:xfrm>
            <a:off x="1778000" y="4889500"/>
            <a:ext cx="8890000" cy="317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Malspam engine, email thread hijacking, sandbox evasion</a:t>
            </a:r>
            <a:endParaRPr b="0" i="0" sz="1400" u="none" cap="none" strike="noStrike"/>
          </a:p>
        </p:txBody>
      </p:sp>
      <p:sp>
        <p:nvSpPr>
          <p:cNvPr id="44" name="Google Shape;44;p4"/>
          <p:cNvSpPr/>
          <p:nvPr/>
        </p:nvSpPr>
        <p:spPr>
          <a:xfrm>
            <a:off x="762000" y="5651500"/>
            <a:ext cx="889000" cy="635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600" u="none" cap="none" strike="noStrike">
                <a:solidFill>
                  <a:srgbClr val="D92525"/>
                </a:solidFill>
                <a:latin typeface="Liter"/>
                <a:ea typeface="Liter"/>
                <a:cs typeface="Liter"/>
                <a:sym typeface="Liter"/>
              </a:rPr>
              <a:t>04</a:t>
            </a:r>
            <a:endParaRPr b="0" i="0" sz="3600" u="none" cap="none" strike="noStrike"/>
          </a:p>
        </p:txBody>
      </p:sp>
      <p:sp>
        <p:nvSpPr>
          <p:cNvPr id="45" name="Google Shape;45;p4"/>
          <p:cNvSpPr/>
          <p:nvPr/>
        </p:nvSpPr>
        <p:spPr>
          <a:xfrm>
            <a:off x="1778000" y="5651500"/>
            <a:ext cx="6350000" cy="3810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None/>
            </a:pPr>
            <a:r>
              <a:rPr b="1" i="0" lang="en-US" sz="2200" u="none" cap="none" strike="noStrike">
                <a:solidFill>
                  <a:srgbClr val="FFFFFF"/>
                </a:solidFill>
                <a:latin typeface="Quattrocento Sans"/>
                <a:ea typeface="Quattrocento Sans"/>
                <a:cs typeface="Quattrocento Sans"/>
                <a:sym typeface="Quattrocento Sans"/>
              </a:rPr>
              <a:t>MITRE ATT&amp;CK MAPPING &amp; DEFENSIVE CONTROLS</a:t>
            </a:r>
            <a:endParaRPr b="0" i="0" sz="2200" u="none" cap="none" strike="noStrike"/>
          </a:p>
        </p:txBody>
      </p:sp>
      <p:sp>
        <p:nvSpPr>
          <p:cNvPr id="46" name="Google Shape;46;p4"/>
          <p:cNvSpPr/>
          <p:nvPr/>
        </p:nvSpPr>
        <p:spPr>
          <a:xfrm>
            <a:off x="1778000" y="6096000"/>
            <a:ext cx="8890000" cy="317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Comprehensive technique mapping with defensive control recommendations</a:t>
            </a:r>
            <a:endParaRPr b="0" i="0" sz="1400" u="none" cap="none" strike="noStrike"/>
          </a:p>
        </p:txBody>
      </p:sp>
      <p:cxnSp>
        <p:nvCxnSpPr>
          <p:cNvPr id="47" name="Google Shape;47;p4"/>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48" name="Google Shape;48;p4"/>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02 / 13</a:t>
            </a:r>
            <a:endParaRPr b="0" i="0" sz="1400" u="none" cap="none" strike="noStrike"/>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D21"/>
        </a:solidFill>
      </p:bgPr>
    </p:bg>
    <p:spTree>
      <p:nvGrpSpPr>
        <p:cNvPr id="53" name="Shape 53"/>
        <p:cNvGrpSpPr/>
        <p:nvPr/>
      </p:nvGrpSpPr>
      <p:grpSpPr>
        <a:xfrm>
          <a:off x="0" y="0"/>
          <a:ext cx="0" cy="0"/>
          <a:chOff x="0" y="0"/>
          <a:chExt cx="0" cy="0"/>
        </a:xfrm>
      </p:grpSpPr>
      <p:sp>
        <p:nvSpPr>
          <p:cNvPr id="54" name="Google Shape;54;p5"/>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SRC-2026-0614-EMOTET</a:t>
            </a:r>
            <a:endParaRPr b="0" i="0" sz="1400" u="none" cap="none" strike="noStrike"/>
          </a:p>
        </p:txBody>
      </p:sp>
      <p:sp>
        <p:nvSpPr>
          <p:cNvPr id="55" name="Google Shape;55;p5"/>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56" name="Google Shape;56;p5"/>
          <p:cNvSpPr/>
          <p:nvPr/>
        </p:nvSpPr>
        <p:spPr>
          <a:xfrm>
            <a:off x="762000" y="2286000"/>
            <a:ext cx="2540000" cy="1016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7200" u="none" cap="none" strike="noStrike">
                <a:solidFill>
                  <a:srgbClr val="D92525"/>
                </a:solidFill>
                <a:latin typeface="Liter"/>
                <a:ea typeface="Liter"/>
                <a:cs typeface="Liter"/>
                <a:sym typeface="Liter"/>
              </a:rPr>
              <a:t>01</a:t>
            </a:r>
            <a:endParaRPr b="0" i="0" sz="7200" u="none" cap="none" strike="noStrike"/>
          </a:p>
        </p:txBody>
      </p:sp>
      <p:cxnSp>
        <p:nvCxnSpPr>
          <p:cNvPr id="57" name="Google Shape;57;p5"/>
          <p:cNvCxnSpPr/>
          <p:nvPr/>
        </p:nvCxnSpPr>
        <p:spPr>
          <a:xfrm>
            <a:off x="762000" y="3556000"/>
            <a:ext cx="2540000" cy="0"/>
          </a:xfrm>
          <a:prstGeom prst="straightConnector1">
            <a:avLst/>
          </a:prstGeom>
          <a:noFill/>
          <a:ln cap="flat" cmpd="sng" w="38100">
            <a:solidFill>
              <a:srgbClr val="D92525"/>
            </a:solidFill>
            <a:prstDash val="solid"/>
            <a:round/>
            <a:headEnd len="sm" w="sm" type="none"/>
            <a:tailEnd len="sm" w="sm" type="none"/>
          </a:ln>
        </p:spPr>
      </p:cxnSp>
      <p:sp>
        <p:nvSpPr>
          <p:cNvPr id="58" name="Google Shape;58;p5"/>
          <p:cNvSpPr/>
          <p:nvPr/>
        </p:nvSpPr>
        <p:spPr>
          <a:xfrm>
            <a:off x="762000" y="3810000"/>
            <a:ext cx="12700000" cy="698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4400" u="none" cap="none" strike="noStrike">
                <a:solidFill>
                  <a:srgbClr val="FFFFFF"/>
                </a:solidFill>
                <a:latin typeface="Liter"/>
                <a:ea typeface="Liter"/>
                <a:cs typeface="Liter"/>
                <a:sym typeface="Liter"/>
              </a:rPr>
              <a:t>EMOTET ARCHITECTURE</a:t>
            </a:r>
            <a:endParaRPr b="0" i="0" sz="4400" u="none" cap="none" strike="noStrike"/>
          </a:p>
        </p:txBody>
      </p:sp>
      <p:sp>
        <p:nvSpPr>
          <p:cNvPr id="59" name="Google Shape;59;p5"/>
          <p:cNvSpPr/>
          <p:nvPr/>
        </p:nvSpPr>
        <p:spPr>
          <a:xfrm>
            <a:off x="762000" y="4699000"/>
            <a:ext cx="11430000" cy="4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2200" u="none" cap="none" strike="noStrike">
                <a:solidFill>
                  <a:srgbClr val="8C95A5"/>
                </a:solidFill>
                <a:latin typeface="Quattrocento Sans"/>
                <a:ea typeface="Quattrocento Sans"/>
                <a:cs typeface="Quattrocento Sans"/>
                <a:sym typeface="Quattrocento Sans"/>
              </a:rPr>
              <a:t>Modular Banking Trojan | Malware-as-a-Service | Multi-Epoch Evolution</a:t>
            </a:r>
            <a:endParaRPr b="0" i="0" sz="2200" u="none" cap="none" strike="noStrike"/>
          </a:p>
        </p:txBody>
      </p:sp>
      <p:sp>
        <p:nvSpPr>
          <p:cNvPr id="60" name="Google Shape;60;p5"/>
          <p:cNvSpPr/>
          <p:nvPr/>
        </p:nvSpPr>
        <p:spPr>
          <a:xfrm>
            <a:off x="762000" y="5842000"/>
            <a:ext cx="10160000" cy="2159000"/>
          </a:xfrm>
          <a:prstGeom prst="rect">
            <a:avLst/>
          </a:prstGeom>
          <a:noFill/>
          <a:ln>
            <a:noFill/>
          </a:ln>
        </p:spPr>
        <p:txBody>
          <a:bodyPr anchorCtr="0" anchor="t" bIns="0" lIns="0" spcFirstLastPara="1" rIns="0" wrap="square" tIns="0">
            <a:noAutofit/>
          </a:bodyPr>
          <a:lstStyle/>
          <a:p>
            <a:pPr indent="0" lvl="0" marL="0" marR="0" rtl="0" algn="l">
              <a:lnSpc>
                <a:spcPct val="180000"/>
              </a:lnSpc>
              <a:spcBef>
                <a:spcPts val="0"/>
              </a:spcBef>
              <a:spcAft>
                <a:spcPts val="0"/>
              </a:spcAft>
              <a:buNone/>
            </a:pPr>
            <a:r>
              <a:rPr b="1" i="0" lang="en-US" sz="1600" u="none" cap="none" strike="noStrike">
                <a:solidFill>
                  <a:srgbClr val="8C95A5"/>
                </a:solidFill>
                <a:latin typeface="Quattrocento Sans"/>
                <a:ea typeface="Quattrocento Sans"/>
                <a:cs typeface="Quattrocento Sans"/>
                <a:sym typeface="Quattrocento Sans"/>
              </a:rPr>
              <a:t>THREAT PROFILE:</a:t>
            </a:r>
            <a:r>
              <a:rPr b="0" i="0" lang="en-US" sz="1600" u="none" cap="none" strike="noStrike">
                <a:solidFill>
                  <a:srgbClr val="8C95A5"/>
                </a:solidFill>
                <a:latin typeface="Quattrocento Sans"/>
                <a:ea typeface="Quattrocento Sans"/>
                <a:cs typeface="Quattrocento Sans"/>
                <a:sym typeface="Quattrocento Sans"/>
              </a:rPr>
              <a:t> Modular Banking Trojan / Malware Loader</a:t>
            </a:r>
            <a:endParaRPr b="0" i="0" sz="1600" u="none" cap="none" strike="noStrike"/>
          </a:p>
          <a:p>
            <a:pPr indent="0" lvl="0" marL="0" marR="0" rtl="0" algn="l">
              <a:lnSpc>
                <a:spcPct val="180000"/>
              </a:lnSpc>
              <a:spcBef>
                <a:spcPts val="0"/>
              </a:spcBef>
              <a:spcAft>
                <a:spcPts val="0"/>
              </a:spcAft>
              <a:buNone/>
            </a:pPr>
            <a:r>
              <a:rPr b="1" i="0" lang="en-US" sz="1600" u="none" cap="none" strike="noStrike">
                <a:solidFill>
                  <a:srgbClr val="8C95A5"/>
                </a:solidFill>
                <a:latin typeface="Quattrocento Sans"/>
                <a:ea typeface="Quattrocento Sans"/>
                <a:cs typeface="Quattrocento Sans"/>
                <a:sym typeface="Quattrocento Sans"/>
              </a:rPr>
              <a:t>Source:</a:t>
            </a:r>
            <a:r>
              <a:rPr b="0" i="0" lang="en-US" sz="1600" u="none" cap="none" strike="noStrike">
                <a:solidFill>
                  <a:srgbClr val="8C95A5"/>
                </a:solidFill>
                <a:latin typeface="Quattrocento Sans"/>
                <a:ea typeface="Quattrocento Sans"/>
                <a:cs typeface="Quattrocento Sans"/>
                <a:sym typeface="Quattrocento Sans"/>
              </a:rPr>
              <a:t> Emotet Source (Recovered by Law Enforcement 2022)</a:t>
            </a:r>
            <a:endParaRPr b="0" i="0" sz="1600" u="none" cap="none" strike="noStrike"/>
          </a:p>
          <a:p>
            <a:pPr indent="0" lvl="0" marL="0" marR="0" rtl="0" algn="l">
              <a:lnSpc>
                <a:spcPct val="180000"/>
              </a:lnSpc>
              <a:spcBef>
                <a:spcPts val="0"/>
              </a:spcBef>
              <a:spcAft>
                <a:spcPts val="0"/>
              </a:spcAft>
              <a:buNone/>
            </a:pPr>
            <a:r>
              <a:rPr b="1" i="0" lang="en-US" sz="1600" u="none" cap="none" strike="noStrike">
                <a:solidFill>
                  <a:srgbClr val="8C95A5"/>
                </a:solidFill>
                <a:latin typeface="Quattrocento Sans"/>
                <a:ea typeface="Quattrocento Sans"/>
                <a:cs typeface="Quattrocento Sans"/>
                <a:sym typeface="Quattrocento Sans"/>
              </a:rPr>
              <a:t>Language:</a:t>
            </a:r>
            <a:r>
              <a:rPr b="0" i="0" lang="en-US" sz="1600" u="none" cap="none" strike="noStrike">
                <a:solidFill>
                  <a:srgbClr val="8C95A5"/>
                </a:solidFill>
                <a:latin typeface="Quattrocento Sans"/>
                <a:ea typeface="Quattrocento Sans"/>
                <a:cs typeface="Quattrocento Sans"/>
                <a:sym typeface="Quattrocento Sans"/>
              </a:rPr>
              <a:t> C/C++ | </a:t>
            </a:r>
            <a:r>
              <a:rPr b="1" i="0" lang="en-US" sz="1600" u="none" cap="none" strike="noStrike">
                <a:solidFill>
                  <a:srgbClr val="8C95A5"/>
                </a:solidFill>
                <a:latin typeface="Quattrocento Sans"/>
                <a:ea typeface="Quattrocento Sans"/>
                <a:cs typeface="Quattrocento Sans"/>
                <a:sym typeface="Quattrocento Sans"/>
              </a:rPr>
              <a:t>Target:</a:t>
            </a:r>
            <a:r>
              <a:rPr b="0" i="0" lang="en-US" sz="1600" u="none" cap="none" strike="noStrike">
                <a:solidFill>
                  <a:srgbClr val="8C95A5"/>
                </a:solidFill>
                <a:latin typeface="Quattrocento Sans"/>
                <a:ea typeface="Quattrocento Sans"/>
                <a:cs typeface="Quattrocento Sans"/>
                <a:sym typeface="Quattrocento Sans"/>
              </a:rPr>
              <a:t> Windows</a:t>
            </a:r>
            <a:endParaRPr b="0" i="0" sz="1600" u="none" cap="none" strike="noStrike"/>
          </a:p>
          <a:p>
            <a:pPr indent="0" lvl="0" marL="0" marR="0" rtl="0" algn="l">
              <a:lnSpc>
                <a:spcPct val="180000"/>
              </a:lnSpc>
              <a:spcBef>
                <a:spcPts val="0"/>
              </a:spcBef>
              <a:spcAft>
                <a:spcPts val="0"/>
              </a:spcAft>
              <a:buNone/>
            </a:pPr>
            <a:r>
              <a:rPr b="1" i="0" lang="en-US" sz="1600" u="none" cap="none" strike="noStrike">
                <a:solidFill>
                  <a:srgbClr val="8C95A5"/>
                </a:solidFill>
                <a:latin typeface="Quattrocento Sans"/>
                <a:ea typeface="Quattrocento Sans"/>
                <a:cs typeface="Quattrocento Sans"/>
                <a:sym typeface="Quattrocento Sans"/>
              </a:rPr>
              <a:t>C2:</a:t>
            </a:r>
            <a:r>
              <a:rPr b="0" i="0" lang="en-US" sz="1600" u="none" cap="none" strike="noStrike">
                <a:solidFill>
                  <a:srgbClr val="8C95A5"/>
                </a:solidFill>
                <a:latin typeface="Quattrocento Sans"/>
                <a:ea typeface="Quattrocento Sans"/>
                <a:cs typeface="Quattrocento Sans"/>
                <a:sym typeface="Quattrocento Sans"/>
              </a:rPr>
              <a:t> HTTP/S | </a:t>
            </a:r>
            <a:r>
              <a:rPr b="1" i="0" lang="en-US" sz="1600" u="none" cap="none" strike="noStrike">
                <a:solidFill>
                  <a:srgbClr val="8C95A5"/>
                </a:solidFill>
                <a:latin typeface="Quattrocento Sans"/>
                <a:ea typeface="Quattrocento Sans"/>
                <a:cs typeface="Quattrocento Sans"/>
                <a:sym typeface="Quattrocento Sans"/>
              </a:rPr>
              <a:t>Distribution:</a:t>
            </a:r>
            <a:r>
              <a:rPr b="0" i="0" lang="en-US" sz="1600" u="none" cap="none" strike="noStrike">
                <a:solidFill>
                  <a:srgbClr val="8C95A5"/>
                </a:solidFill>
                <a:latin typeface="Quattrocento Sans"/>
                <a:ea typeface="Quattrocento Sans"/>
                <a:cs typeface="Quattrocento Sans"/>
                <a:sym typeface="Quattrocento Sans"/>
              </a:rPr>
              <a:t> Malspam (Word/Excel macros)</a:t>
            </a:r>
            <a:endParaRPr b="0" i="0" sz="1600" u="none" cap="none" strike="noStrike"/>
          </a:p>
        </p:txBody>
      </p:sp>
      <p:cxnSp>
        <p:nvCxnSpPr>
          <p:cNvPr id="61" name="Google Shape;61;p5"/>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62" name="Google Shape;62;p5"/>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03 / 13</a:t>
            </a:r>
            <a:endParaRPr b="0" i="0" sz="1400" u="none" cap="none" strike="noStrike"/>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67" name="Shape 67"/>
        <p:cNvGrpSpPr/>
        <p:nvPr/>
      </p:nvGrpSpPr>
      <p:grpSpPr>
        <a:xfrm>
          <a:off x="0" y="0"/>
          <a:ext cx="0" cy="0"/>
          <a:chOff x="0" y="0"/>
          <a:chExt cx="0" cy="0"/>
        </a:xfrm>
      </p:grpSpPr>
      <p:sp>
        <p:nvSpPr>
          <p:cNvPr id="68" name="Google Shape;68;p6"/>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SRC-2026-0614-EMOTET</a:t>
            </a:r>
            <a:endParaRPr b="0" i="0" sz="1400" u="none" cap="none" strike="noStrike"/>
          </a:p>
        </p:txBody>
      </p:sp>
      <p:sp>
        <p:nvSpPr>
          <p:cNvPr id="69" name="Google Shape;69;p6"/>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70" name="Google Shape;70;p6"/>
          <p:cNvSpPr/>
          <p:nvPr/>
        </p:nvSpPr>
        <p:spPr>
          <a:xfrm>
            <a:off x="762000" y="698500"/>
            <a:ext cx="14732000" cy="482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600" u="none" cap="none" strike="noStrike">
                <a:solidFill>
                  <a:srgbClr val="FFFFFF"/>
                </a:solidFill>
                <a:latin typeface="Liter"/>
                <a:ea typeface="Liter"/>
                <a:cs typeface="Liter"/>
                <a:sym typeface="Liter"/>
              </a:rPr>
              <a:t>Emotet — The World's Most Prolific Malware Loader</a:t>
            </a:r>
            <a:endParaRPr b="0" i="0" sz="2600" u="none" cap="none" strike="noStrike"/>
          </a:p>
        </p:txBody>
      </p:sp>
      <p:cxnSp>
        <p:nvCxnSpPr>
          <p:cNvPr id="71" name="Google Shape;71;p6"/>
          <p:cNvCxnSpPr/>
          <p:nvPr/>
        </p:nvCxnSpPr>
        <p:spPr>
          <a:xfrm>
            <a:off x="762000" y="1244600"/>
            <a:ext cx="14732000" cy="0"/>
          </a:xfrm>
          <a:prstGeom prst="straightConnector1">
            <a:avLst/>
          </a:prstGeom>
          <a:noFill/>
          <a:ln cap="flat" cmpd="sng" w="12700">
            <a:solidFill>
              <a:srgbClr val="5A6070"/>
            </a:solidFill>
            <a:prstDash val="solid"/>
            <a:round/>
            <a:headEnd len="sm" w="sm" type="none"/>
            <a:tailEnd len="sm" w="sm" type="none"/>
          </a:ln>
        </p:spPr>
      </p:cxnSp>
      <p:sp>
        <p:nvSpPr>
          <p:cNvPr id="72" name="Google Shape;72;p6"/>
          <p:cNvSpPr/>
          <p:nvPr/>
        </p:nvSpPr>
        <p:spPr>
          <a:xfrm>
            <a:off x="762000" y="1397000"/>
            <a:ext cx="14732000" cy="825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1" i="0" lang="en-US" sz="1300" u="none" cap="none" strike="noStrike">
                <a:solidFill>
                  <a:srgbClr val="E8ECF1"/>
                </a:solidFill>
                <a:latin typeface="Quattrocento Sans"/>
                <a:ea typeface="Quattrocento Sans"/>
                <a:cs typeface="Quattrocento Sans"/>
                <a:sym typeface="Quattrocento Sans"/>
              </a:rPr>
              <a:t>Emotet</a:t>
            </a:r>
            <a:r>
              <a:rPr b="0" i="0" lang="en-US" sz="1300" u="none" cap="none" strike="noStrike">
                <a:solidFill>
                  <a:srgbClr val="E8ECF1"/>
                </a:solidFill>
                <a:latin typeface="Quattrocento Sans"/>
                <a:ea typeface="Quattrocento Sans"/>
                <a:cs typeface="Quattrocento Sans"/>
                <a:sym typeface="Quattrocento Sans"/>
              </a:rPr>
              <a:t> evolved from a banking trojan (2014) to a general-purpose malware distribution platform. It operated as </a:t>
            </a:r>
            <a:r>
              <a:rPr b="1" i="0" lang="en-US" sz="1300" u="none" cap="none" strike="noStrike">
                <a:solidFill>
                  <a:srgbClr val="E8ECF1"/>
                </a:solidFill>
                <a:latin typeface="Quattrocento Sans"/>
                <a:ea typeface="Quattrocento Sans"/>
                <a:cs typeface="Quattrocento Sans"/>
                <a:sym typeface="Quattrocento Sans"/>
              </a:rPr>
              <a:t>malware-as-a-service</a:t>
            </a:r>
            <a:r>
              <a:rPr b="0" i="0" lang="en-US" sz="1300" u="none" cap="none" strike="noStrike">
                <a:solidFill>
                  <a:srgbClr val="E8ECF1"/>
                </a:solidFill>
                <a:latin typeface="Quattrocento Sans"/>
                <a:ea typeface="Quattrocento Sans"/>
                <a:cs typeface="Quattrocento Sans"/>
                <a:sym typeface="Quattrocento Sans"/>
              </a:rPr>
              <a:t>, delivering third-party payloads including TrickBot, Ryuk, Qbot, and Cobalt Strike. Law enforcement disrupted Emotet in January 2021 but it returned via TrickBot infrastructure before final disruption in November 2022.</a:t>
            </a:r>
            <a:endParaRPr b="0" i="0" sz="1300" u="none" cap="none" strike="noStrike"/>
          </a:p>
        </p:txBody>
      </p:sp>
      <p:sp>
        <p:nvSpPr>
          <p:cNvPr id="73" name="Google Shape;73;p6"/>
          <p:cNvSpPr/>
          <p:nvPr/>
        </p:nvSpPr>
        <p:spPr>
          <a:xfrm>
            <a:off x="762000" y="2413000"/>
            <a:ext cx="2794000" cy="889000"/>
          </a:xfrm>
          <a:prstGeom prst="rect">
            <a:avLst/>
          </a:prstGeom>
          <a:solidFill>
            <a:srgbClr val="252A32"/>
          </a:solidFill>
          <a:ln cap="flat" cmpd="sng" w="12700">
            <a:solidFill>
              <a:srgbClr val="5A6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762000" y="2413000"/>
            <a:ext cx="2794000" cy="8890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300" u="none" cap="none" strike="noStrike">
                <a:solidFill>
                  <a:srgbClr val="E8ECF1"/>
                </a:solidFill>
                <a:latin typeface="Liter"/>
                <a:ea typeface="Liter"/>
                <a:cs typeface="Liter"/>
                <a:sym typeface="Liter"/>
              </a:rPr>
              <a:t>2014</a:t>
            </a:r>
            <a:endParaRPr b="0" i="0" sz="1300" u="none" cap="none" strike="noStrike"/>
          </a:p>
          <a:p>
            <a:pPr indent="0" lvl="0" marL="0" marR="0" rtl="0" algn="ctr">
              <a:lnSpc>
                <a:spcPct val="120000"/>
              </a:lnSpc>
              <a:spcBef>
                <a:spcPts val="0"/>
              </a:spcBef>
              <a:spcAft>
                <a:spcPts val="0"/>
              </a:spcAft>
              <a:buNone/>
            </a:pPr>
            <a:r>
              <a:rPr b="0" i="0" lang="en-US" sz="1300" u="none" cap="none" strike="noStrike">
                <a:solidFill>
                  <a:srgbClr val="E8ECF1"/>
                </a:solidFill>
                <a:latin typeface="Liter"/>
                <a:ea typeface="Liter"/>
                <a:cs typeface="Liter"/>
                <a:sym typeface="Liter"/>
              </a:rPr>
              <a:t>Banking Trojan</a:t>
            </a:r>
            <a:endParaRPr b="0" i="0" sz="1300" u="none" cap="none" strike="noStrike"/>
          </a:p>
          <a:p>
            <a:pPr indent="0" lvl="0" marL="0" marR="0" rtl="0" algn="ctr">
              <a:lnSpc>
                <a:spcPct val="120000"/>
              </a:lnSpc>
              <a:spcBef>
                <a:spcPts val="0"/>
              </a:spcBef>
              <a:spcAft>
                <a:spcPts val="0"/>
              </a:spcAft>
              <a:buNone/>
            </a:pPr>
            <a:r>
              <a:rPr b="0" i="0" lang="en-US" sz="1100" u="none" cap="none" strike="noStrike">
                <a:solidFill>
                  <a:srgbClr val="8C95A5"/>
                </a:solidFill>
                <a:latin typeface="Liter"/>
                <a:ea typeface="Liter"/>
                <a:cs typeface="Liter"/>
                <a:sym typeface="Liter"/>
              </a:rPr>
              <a:t>Simple credential theft</a:t>
            </a:r>
            <a:endParaRPr b="0" i="0" sz="1300" u="none" cap="none" strike="noStrike"/>
          </a:p>
        </p:txBody>
      </p:sp>
      <p:cxnSp>
        <p:nvCxnSpPr>
          <p:cNvPr id="75" name="Google Shape;75;p6"/>
          <p:cNvCxnSpPr/>
          <p:nvPr/>
        </p:nvCxnSpPr>
        <p:spPr>
          <a:xfrm>
            <a:off x="3556000" y="2832100"/>
            <a:ext cx="381000" cy="0"/>
          </a:xfrm>
          <a:prstGeom prst="straightConnector1">
            <a:avLst/>
          </a:prstGeom>
          <a:noFill/>
          <a:ln cap="flat" cmpd="sng" w="25400">
            <a:solidFill>
              <a:srgbClr val="D92525"/>
            </a:solidFill>
            <a:prstDash val="solid"/>
            <a:round/>
            <a:headEnd len="sm" w="sm" type="none"/>
            <a:tailEnd len="med" w="med" type="stealth"/>
          </a:ln>
        </p:spPr>
      </p:cxnSp>
      <p:sp>
        <p:nvSpPr>
          <p:cNvPr id="76" name="Google Shape;76;p6"/>
          <p:cNvSpPr/>
          <p:nvPr/>
        </p:nvSpPr>
        <p:spPr>
          <a:xfrm>
            <a:off x="3937000" y="2413000"/>
            <a:ext cx="2794000" cy="889000"/>
          </a:xfrm>
          <a:prstGeom prst="rect">
            <a:avLst/>
          </a:prstGeom>
          <a:solidFill>
            <a:srgbClr val="252A32"/>
          </a:solidFill>
          <a:ln cap="flat" cmpd="sng" w="12700">
            <a:solidFill>
              <a:srgbClr val="5A6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3937000" y="2413000"/>
            <a:ext cx="2794000" cy="8890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300" u="none" cap="none" strike="noStrike">
                <a:solidFill>
                  <a:srgbClr val="E8ECF1"/>
                </a:solidFill>
                <a:latin typeface="Liter"/>
                <a:ea typeface="Liter"/>
                <a:cs typeface="Liter"/>
                <a:sym typeface="Liter"/>
              </a:rPr>
              <a:t>2016-2018</a:t>
            </a:r>
            <a:endParaRPr b="0" i="0" sz="1300" u="none" cap="none" strike="noStrike"/>
          </a:p>
          <a:p>
            <a:pPr indent="0" lvl="0" marL="0" marR="0" rtl="0" algn="ctr">
              <a:lnSpc>
                <a:spcPct val="120000"/>
              </a:lnSpc>
              <a:spcBef>
                <a:spcPts val="0"/>
              </a:spcBef>
              <a:spcAft>
                <a:spcPts val="0"/>
              </a:spcAft>
              <a:buNone/>
            </a:pPr>
            <a:r>
              <a:rPr b="0" i="0" lang="en-US" sz="1300" u="none" cap="none" strike="noStrike">
                <a:solidFill>
                  <a:srgbClr val="E8ECF1"/>
                </a:solidFill>
                <a:latin typeface="Liter"/>
                <a:ea typeface="Liter"/>
                <a:cs typeface="Liter"/>
                <a:sym typeface="Liter"/>
              </a:rPr>
              <a:t>Modular Loader</a:t>
            </a:r>
            <a:endParaRPr b="0" i="0" sz="1300" u="none" cap="none" strike="noStrike"/>
          </a:p>
          <a:p>
            <a:pPr indent="0" lvl="0" marL="0" marR="0" rtl="0" algn="ctr">
              <a:lnSpc>
                <a:spcPct val="120000"/>
              </a:lnSpc>
              <a:spcBef>
                <a:spcPts val="0"/>
              </a:spcBef>
              <a:spcAft>
                <a:spcPts val="0"/>
              </a:spcAft>
              <a:buNone/>
            </a:pPr>
            <a:r>
              <a:rPr b="0" i="0" lang="en-US" sz="1100" u="none" cap="none" strike="noStrike">
                <a:solidFill>
                  <a:srgbClr val="8C95A5"/>
                </a:solidFill>
                <a:latin typeface="Liter"/>
                <a:ea typeface="Liter"/>
                <a:cs typeface="Liter"/>
                <a:sym typeface="Liter"/>
              </a:rPr>
              <a:t>Plugin architecture added</a:t>
            </a:r>
            <a:endParaRPr b="0" i="0" sz="1300" u="none" cap="none" strike="noStrike"/>
          </a:p>
        </p:txBody>
      </p:sp>
      <p:cxnSp>
        <p:nvCxnSpPr>
          <p:cNvPr id="78" name="Google Shape;78;p6"/>
          <p:cNvCxnSpPr/>
          <p:nvPr/>
        </p:nvCxnSpPr>
        <p:spPr>
          <a:xfrm>
            <a:off x="6731000" y="2832100"/>
            <a:ext cx="381000" cy="0"/>
          </a:xfrm>
          <a:prstGeom prst="straightConnector1">
            <a:avLst/>
          </a:prstGeom>
          <a:noFill/>
          <a:ln cap="flat" cmpd="sng" w="25400">
            <a:solidFill>
              <a:srgbClr val="D92525"/>
            </a:solidFill>
            <a:prstDash val="solid"/>
            <a:round/>
            <a:headEnd len="sm" w="sm" type="none"/>
            <a:tailEnd len="med" w="med" type="stealth"/>
          </a:ln>
        </p:spPr>
      </p:cxnSp>
      <p:sp>
        <p:nvSpPr>
          <p:cNvPr id="79" name="Google Shape;79;p6"/>
          <p:cNvSpPr/>
          <p:nvPr/>
        </p:nvSpPr>
        <p:spPr>
          <a:xfrm>
            <a:off x="7112000" y="2413000"/>
            <a:ext cx="2794000" cy="889000"/>
          </a:xfrm>
          <a:prstGeom prst="rect">
            <a:avLst/>
          </a:prstGeom>
          <a:solidFill>
            <a:srgbClr val="252A32"/>
          </a:solidFill>
          <a:ln cap="flat" cmpd="sng" w="12700">
            <a:solidFill>
              <a:srgbClr val="5A6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7112000" y="2413000"/>
            <a:ext cx="2794000" cy="8890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300" u="none" cap="none" strike="noStrike">
                <a:solidFill>
                  <a:srgbClr val="E8ECF1"/>
                </a:solidFill>
                <a:latin typeface="Liter"/>
                <a:ea typeface="Liter"/>
                <a:cs typeface="Liter"/>
                <a:sym typeface="Liter"/>
              </a:rPr>
              <a:t>2019-2020</a:t>
            </a:r>
            <a:endParaRPr b="0" i="0" sz="1300" u="none" cap="none" strike="noStrike"/>
          </a:p>
          <a:p>
            <a:pPr indent="0" lvl="0" marL="0" marR="0" rtl="0" algn="ctr">
              <a:lnSpc>
                <a:spcPct val="120000"/>
              </a:lnSpc>
              <a:spcBef>
                <a:spcPts val="0"/>
              </a:spcBef>
              <a:spcAft>
                <a:spcPts val="0"/>
              </a:spcAft>
              <a:buNone/>
            </a:pPr>
            <a:r>
              <a:rPr b="0" i="0" lang="en-US" sz="1300" u="none" cap="none" strike="noStrike">
                <a:solidFill>
                  <a:srgbClr val="E8ECF1"/>
                </a:solidFill>
                <a:latin typeface="Liter"/>
                <a:ea typeface="Liter"/>
                <a:cs typeface="Liter"/>
                <a:sym typeface="Liter"/>
              </a:rPr>
              <a:t>MaaS Platform</a:t>
            </a:r>
            <a:endParaRPr b="0" i="0" sz="1300" u="none" cap="none" strike="noStrike"/>
          </a:p>
          <a:p>
            <a:pPr indent="0" lvl="0" marL="0" marR="0" rtl="0" algn="ctr">
              <a:lnSpc>
                <a:spcPct val="120000"/>
              </a:lnSpc>
              <a:spcBef>
                <a:spcPts val="0"/>
              </a:spcBef>
              <a:spcAft>
                <a:spcPts val="0"/>
              </a:spcAft>
              <a:buNone/>
            </a:pPr>
            <a:r>
              <a:rPr b="0" i="0" lang="en-US" sz="1100" u="none" cap="none" strike="noStrike">
                <a:solidFill>
                  <a:srgbClr val="8C95A5"/>
                </a:solidFill>
                <a:latin typeface="Liter"/>
                <a:ea typeface="Liter"/>
                <a:cs typeface="Liter"/>
                <a:sym typeface="Liter"/>
              </a:rPr>
              <a:t>TrickBot, Ryuk delivery</a:t>
            </a:r>
            <a:endParaRPr b="0" i="0" sz="1300" u="none" cap="none" strike="noStrike"/>
          </a:p>
        </p:txBody>
      </p:sp>
      <p:cxnSp>
        <p:nvCxnSpPr>
          <p:cNvPr id="81" name="Google Shape;81;p6"/>
          <p:cNvCxnSpPr/>
          <p:nvPr/>
        </p:nvCxnSpPr>
        <p:spPr>
          <a:xfrm>
            <a:off x="9906000" y="2832100"/>
            <a:ext cx="381000" cy="0"/>
          </a:xfrm>
          <a:prstGeom prst="straightConnector1">
            <a:avLst/>
          </a:prstGeom>
          <a:noFill/>
          <a:ln cap="flat" cmpd="sng" w="25400">
            <a:solidFill>
              <a:srgbClr val="D92525"/>
            </a:solidFill>
            <a:prstDash val="solid"/>
            <a:round/>
            <a:headEnd len="sm" w="sm" type="none"/>
            <a:tailEnd len="med" w="med" type="stealth"/>
          </a:ln>
        </p:spPr>
      </p:cxnSp>
      <p:sp>
        <p:nvSpPr>
          <p:cNvPr id="82" name="Google Shape;82;p6"/>
          <p:cNvSpPr/>
          <p:nvPr/>
        </p:nvSpPr>
        <p:spPr>
          <a:xfrm>
            <a:off x="10287000" y="2413000"/>
            <a:ext cx="2794000" cy="889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10287000" y="2413000"/>
            <a:ext cx="2794000" cy="8890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300" u="none" cap="none" strike="noStrike">
                <a:solidFill>
                  <a:srgbClr val="FFFFFF"/>
                </a:solidFill>
                <a:latin typeface="Liter"/>
                <a:ea typeface="Liter"/>
                <a:cs typeface="Liter"/>
                <a:sym typeface="Liter"/>
              </a:rPr>
              <a:t>2021-2022</a:t>
            </a:r>
            <a:endParaRPr b="0" i="0" sz="1300" u="none" cap="none" strike="noStrike"/>
          </a:p>
          <a:p>
            <a:pPr indent="0" lvl="0" marL="0" marR="0" rtl="0" algn="ctr">
              <a:lnSpc>
                <a:spcPct val="120000"/>
              </a:lnSpc>
              <a:spcBef>
                <a:spcPts val="0"/>
              </a:spcBef>
              <a:spcAft>
                <a:spcPts val="0"/>
              </a:spcAft>
              <a:buNone/>
            </a:pPr>
            <a:r>
              <a:rPr b="0" i="0" lang="en-US" sz="1300" u="none" cap="none" strike="noStrike">
                <a:solidFill>
                  <a:srgbClr val="FFFFFF"/>
                </a:solidFill>
                <a:latin typeface="Liter"/>
                <a:ea typeface="Liter"/>
                <a:cs typeface="Liter"/>
                <a:sym typeface="Liter"/>
              </a:rPr>
              <a:t>Disrupted</a:t>
            </a:r>
            <a:endParaRPr b="0" i="0" sz="1300" u="none" cap="none" strike="noStrike"/>
          </a:p>
          <a:p>
            <a:pPr indent="0" lvl="0" marL="0" marR="0" rtl="0" algn="ctr">
              <a:lnSpc>
                <a:spcPct val="120000"/>
              </a:lnSpc>
              <a:spcBef>
                <a:spcPts val="0"/>
              </a:spcBef>
              <a:spcAft>
                <a:spcPts val="0"/>
              </a:spcAft>
              <a:buNone/>
            </a:pPr>
            <a:r>
              <a:rPr b="0" i="0" lang="en-US" sz="1100" u="none" cap="none" strike="noStrike">
                <a:solidFill>
                  <a:srgbClr val="FFFFFF"/>
                </a:solidFill>
                <a:latin typeface="Liter"/>
                <a:ea typeface="Liter"/>
                <a:cs typeface="Liter"/>
                <a:sym typeface="Liter"/>
              </a:rPr>
              <a:t>Law enforcement takedown</a:t>
            </a:r>
            <a:endParaRPr b="0" i="0" sz="1300" u="none" cap="none" strike="noStrike"/>
          </a:p>
        </p:txBody>
      </p:sp>
      <p:sp>
        <p:nvSpPr>
          <p:cNvPr id="84" name="Google Shape;84;p6"/>
          <p:cNvSpPr/>
          <p:nvPr/>
        </p:nvSpPr>
        <p:spPr>
          <a:xfrm>
            <a:off x="762000" y="36830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Emotet Core Architecture</a:t>
            </a:r>
            <a:endParaRPr b="0" i="0" sz="1800" u="none" cap="none" strike="noStrike"/>
          </a:p>
        </p:txBody>
      </p:sp>
      <p:sp>
        <p:nvSpPr>
          <p:cNvPr id="85" name="Google Shape;85;p6"/>
          <p:cNvSpPr/>
          <p:nvPr/>
        </p:nvSpPr>
        <p:spPr>
          <a:xfrm>
            <a:off x="762000" y="4089400"/>
            <a:ext cx="4699000" cy="12065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762000" y="4089400"/>
            <a:ext cx="50800" cy="12065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1016000" y="4165600"/>
            <a:ext cx="4254500" cy="10414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300" u="none" cap="none" strike="noStrike">
                <a:solidFill>
                  <a:srgbClr val="E8ECF1"/>
                </a:solidFill>
                <a:latin typeface="Quattrocento Sans"/>
                <a:ea typeface="Quattrocento Sans"/>
                <a:cs typeface="Quattrocento Sans"/>
                <a:sym typeface="Quattrocento Sans"/>
              </a:rPr>
              <a:t>Core Loader (DLL)</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E8ECF1"/>
                </a:solidFill>
                <a:latin typeface="Quattrocento Sans"/>
                <a:ea typeface="Quattrocento Sans"/>
                <a:cs typeface="Quattrocento Sans"/>
                <a:sym typeface="Quattrocento Sans"/>
              </a:rPr>
              <a:t>Injected into explorer.exe or svchost.exe. Maintains C2 communication, persistence, and module management. RSA-verifies all downloaded plugins.</a:t>
            </a:r>
            <a:endParaRPr b="0" i="0" sz="1300" u="none" cap="none" strike="noStrike"/>
          </a:p>
        </p:txBody>
      </p:sp>
      <p:sp>
        <p:nvSpPr>
          <p:cNvPr id="88" name="Google Shape;88;p6"/>
          <p:cNvSpPr/>
          <p:nvPr/>
        </p:nvSpPr>
        <p:spPr>
          <a:xfrm>
            <a:off x="5778500" y="4089400"/>
            <a:ext cx="4699000" cy="12065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5778500" y="4089400"/>
            <a:ext cx="50800" cy="12065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6032500" y="4165600"/>
            <a:ext cx="4254500" cy="10414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Plugin Modules</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Downloaded on-demand from C2. LZMA-compressed, RC4-encrypted. Banking module, spam module, credential harvester, spreading module.</a:t>
            </a:r>
            <a:endParaRPr b="0" i="0" sz="1200" u="none" cap="none" strike="noStrike"/>
          </a:p>
        </p:txBody>
      </p:sp>
      <p:sp>
        <p:nvSpPr>
          <p:cNvPr id="91" name="Google Shape;91;p6"/>
          <p:cNvSpPr/>
          <p:nvPr/>
        </p:nvSpPr>
        <p:spPr>
          <a:xfrm>
            <a:off x="10795000" y="4089400"/>
            <a:ext cx="4699000" cy="12065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10795000" y="4089400"/>
            <a:ext cx="50800" cy="12065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11049000" y="4165600"/>
            <a:ext cx="4254500" cy="10414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300" u="none" cap="none" strike="noStrike">
                <a:solidFill>
                  <a:srgbClr val="E8ECF1"/>
                </a:solidFill>
                <a:latin typeface="Quattrocento Sans"/>
                <a:ea typeface="Quattrocento Sans"/>
                <a:cs typeface="Quattrocento Sans"/>
                <a:sym typeface="Quattrocento Sans"/>
              </a:rPr>
              <a:t>C2 Infrastructure</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E8ECF1"/>
                </a:solidFill>
                <a:latin typeface="Quattrocento Sans"/>
                <a:ea typeface="Quattrocento Sans"/>
                <a:cs typeface="Quattrocento Sans"/>
                <a:sym typeface="Quattrocento Sans"/>
              </a:rPr>
              <a:t>HTTP GET/POST to Tier 1 C2 servers. Tier 1 proxies to Tier 2 controllers. RSA-signed, RC4-encrypted traffic. Epoch-based server rotation.</a:t>
            </a:r>
            <a:endParaRPr b="0" i="0" sz="1300" u="none" cap="none" strike="noStrike"/>
          </a:p>
        </p:txBody>
      </p:sp>
      <p:sp>
        <p:nvSpPr>
          <p:cNvPr id="94" name="Google Shape;94;p6"/>
          <p:cNvSpPr/>
          <p:nvPr/>
        </p:nvSpPr>
        <p:spPr>
          <a:xfrm>
            <a:off x="762000" y="56515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Detection Opportunities — Emotet Loader</a:t>
            </a:r>
            <a:endParaRPr b="0" i="0" sz="1800" u="none" cap="none" strike="noStrike"/>
          </a:p>
        </p:txBody>
      </p:sp>
      <p:graphicFrame>
        <p:nvGraphicFramePr>
          <p:cNvPr id="95" name="Google Shape;95;p6"/>
          <p:cNvGraphicFramePr/>
          <p:nvPr/>
        </p:nvGraphicFramePr>
        <p:xfrm>
          <a:off x="762000" y="6096000"/>
          <a:ext cx="3000000" cy="3000000"/>
        </p:xfrm>
        <a:graphic>
          <a:graphicData uri="http://schemas.openxmlformats.org/drawingml/2006/table">
            <a:tbl>
              <a:tblPr>
                <a:noFill/>
                <a:tableStyleId>{8D3EB3A7-DA65-40AD-92DE-6E7132627B1C}</a:tableStyleId>
              </a:tblPr>
              <a:tblGrid>
                <a:gridCol w="4419600"/>
                <a:gridCol w="10312400"/>
              </a:tblGrid>
              <a:tr h="393700">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DETECTION OPPORTUNITY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WHY IT WORKS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r>
              <a:tr h="531500">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rundll32.exe loading DLL from temp directory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Emotet persistence uses rundll32.exe to load its DLL from %TEMP% or %APPDATA%. Monitor for rundll32.exe with unusual DLL paths.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531500">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Windows service with random name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Emotet creates a Windows service with a randomly generated name. Service creation events (Event ID 7045) with high-entropy names are suspicious.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511800">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HTTP POST to known Emotet C2 IPs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Emotet C2 IP lists are regularly updated by security researchers. Blocking known C2 ranges prevents C2 communication even after infection.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bl>
          </a:graphicData>
        </a:graphic>
      </p:graphicFrame>
      <p:cxnSp>
        <p:nvCxnSpPr>
          <p:cNvPr id="96" name="Google Shape;96;p6"/>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97" name="Google Shape;97;p6"/>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04 / 13</a:t>
            </a:r>
            <a:endParaRPr b="0" i="0" sz="1400" u="none" cap="none" strike="noStrike"/>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102" name="Shape 102"/>
        <p:cNvGrpSpPr/>
        <p:nvPr/>
      </p:nvGrpSpPr>
      <p:grpSpPr>
        <a:xfrm>
          <a:off x="0" y="0"/>
          <a:ext cx="0" cy="0"/>
          <a:chOff x="0" y="0"/>
          <a:chExt cx="0" cy="0"/>
        </a:xfrm>
      </p:grpSpPr>
      <p:sp>
        <p:nvSpPr>
          <p:cNvPr id="103" name="Google Shape;103;p7"/>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SRC-2026-0614-EMOTET</a:t>
            </a:r>
            <a:endParaRPr b="0" i="0" sz="1400" u="none" cap="none" strike="noStrike"/>
          </a:p>
        </p:txBody>
      </p:sp>
      <p:sp>
        <p:nvSpPr>
          <p:cNvPr id="104" name="Google Shape;104;p7"/>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105" name="Google Shape;105;p7"/>
          <p:cNvSpPr/>
          <p:nvPr/>
        </p:nvSpPr>
        <p:spPr>
          <a:xfrm>
            <a:off x="762000" y="698500"/>
            <a:ext cx="14732000" cy="482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600" u="none" cap="none" strike="noStrike">
                <a:solidFill>
                  <a:srgbClr val="FFFFFF"/>
                </a:solidFill>
                <a:latin typeface="Liter"/>
                <a:ea typeface="Liter"/>
                <a:cs typeface="Liter"/>
                <a:sym typeface="Liter"/>
              </a:rPr>
              <a:t>Epoch System — Versioned C2 Infrastructure</a:t>
            </a:r>
            <a:endParaRPr b="0" i="0" sz="2600" u="none" cap="none" strike="noStrike"/>
          </a:p>
        </p:txBody>
      </p:sp>
      <p:cxnSp>
        <p:nvCxnSpPr>
          <p:cNvPr id="106" name="Google Shape;106;p7"/>
          <p:cNvCxnSpPr/>
          <p:nvPr/>
        </p:nvCxnSpPr>
        <p:spPr>
          <a:xfrm>
            <a:off x="762000" y="1244600"/>
            <a:ext cx="14732000" cy="0"/>
          </a:xfrm>
          <a:prstGeom prst="straightConnector1">
            <a:avLst/>
          </a:prstGeom>
          <a:noFill/>
          <a:ln cap="flat" cmpd="sng" w="12700">
            <a:solidFill>
              <a:srgbClr val="5A6070"/>
            </a:solidFill>
            <a:prstDash val="solid"/>
            <a:round/>
            <a:headEnd len="sm" w="sm" type="none"/>
            <a:tailEnd len="sm" w="sm" type="none"/>
          </a:ln>
        </p:spPr>
      </p:cxnSp>
      <p:sp>
        <p:nvSpPr>
          <p:cNvPr id="107" name="Google Shape;107;p7"/>
          <p:cNvSpPr/>
          <p:nvPr/>
        </p:nvSpPr>
        <p:spPr>
          <a:xfrm>
            <a:off x="762000" y="1397000"/>
            <a:ext cx="14732000" cy="635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i="0" lang="en-US" sz="1300" u="none" cap="none" strike="noStrike">
                <a:solidFill>
                  <a:srgbClr val="E8ECF1"/>
                </a:solidFill>
                <a:latin typeface="Quattrocento Sans"/>
                <a:ea typeface="Quattrocento Sans"/>
                <a:cs typeface="Quattrocento Sans"/>
                <a:sym typeface="Quattrocento Sans"/>
              </a:rPr>
              <a:t>Emotet used an </a:t>
            </a:r>
            <a:r>
              <a:rPr b="1" i="0" lang="en-US" sz="1300" u="none" cap="none" strike="noStrike">
                <a:solidFill>
                  <a:srgbClr val="E8ECF1"/>
                </a:solidFill>
                <a:latin typeface="Quattrocento Sans"/>
                <a:ea typeface="Quattrocento Sans"/>
                <a:cs typeface="Quattrocento Sans"/>
                <a:sym typeface="Quattrocento Sans"/>
              </a:rPr>
              <a:t>"Epoch" versioning system</a:t>
            </a:r>
            <a:r>
              <a:rPr b="0" i="0" lang="en-US" sz="1300" u="none" cap="none" strike="noStrike">
                <a:solidFill>
                  <a:srgbClr val="E8ECF1"/>
                </a:solidFill>
                <a:latin typeface="Quattrocento Sans"/>
                <a:ea typeface="Quattrocento Sans"/>
                <a:cs typeface="Quattrocento Sans"/>
                <a:sym typeface="Quattrocento Sans"/>
              </a:rPr>
              <a:t> (Epoch 1, 2, 3, 4, 5) to manage C2 infrastructure and RSA key pairs independently. Each epoch had its own RSA signing key, C2 server pool, configuration format, and spam template set.</a:t>
            </a:r>
            <a:endParaRPr b="0" i="0" sz="1300" u="none" cap="none" strike="noStrike"/>
          </a:p>
        </p:txBody>
      </p:sp>
      <p:sp>
        <p:nvSpPr>
          <p:cNvPr id="108" name="Google Shape;108;p7"/>
          <p:cNvSpPr/>
          <p:nvPr/>
        </p:nvSpPr>
        <p:spPr>
          <a:xfrm>
            <a:off x="762000" y="22225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Epoch Characteristics</a:t>
            </a:r>
            <a:endParaRPr b="0" i="0" sz="1800" u="none" cap="none" strike="noStrike"/>
          </a:p>
        </p:txBody>
      </p:sp>
      <p:graphicFrame>
        <p:nvGraphicFramePr>
          <p:cNvPr id="109" name="Google Shape;109;p7"/>
          <p:cNvGraphicFramePr/>
          <p:nvPr/>
        </p:nvGraphicFramePr>
        <p:xfrm>
          <a:off x="762000" y="2641600"/>
          <a:ext cx="3000000" cy="3000000"/>
        </p:xfrm>
        <a:graphic>
          <a:graphicData uri="http://schemas.openxmlformats.org/drawingml/2006/table">
            <a:tbl>
              <a:tblPr>
                <a:noFill/>
                <a:tableStyleId>{8D3EB3A7-DA65-40AD-92DE-6E7132627B1C}</a:tableStyleId>
              </a:tblPr>
              <a:tblGrid>
                <a:gridCol w="1767850"/>
                <a:gridCol w="3241050"/>
                <a:gridCol w="3241050"/>
                <a:gridCol w="3241050"/>
                <a:gridCol w="3241050"/>
              </a:tblGrid>
              <a:tr h="445775">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EPOCH</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RSA KEY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C2 SERVERS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CONFIG FORMAT</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SPAM TEMPLATES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r>
              <a:tr h="5076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Epoch 1</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Independent RSA-2048 keypair</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Tier 1 pool A (~50-100 IPs)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Binary v1 format</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Invoice, shipping lures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5076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Epoch 2</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Independent RSA-2048 keypair</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Tier 1 pool B (~50-100 IPs)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Binary v2 format</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COVID-19 themed lures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5076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Epoch 3</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Independent RSA-2048 keypair</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Tier 1 pool C (~50-100 IPs)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Binary v3 format</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Holiday themed lures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bl>
          </a:graphicData>
        </a:graphic>
      </p:graphicFrame>
      <p:sp>
        <p:nvSpPr>
          <p:cNvPr id="110" name="Google Shape;110;p7"/>
          <p:cNvSpPr/>
          <p:nvPr/>
        </p:nvSpPr>
        <p:spPr>
          <a:xfrm>
            <a:off x="762000" y="54610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Detection Opportunities — Epoch System</a:t>
            </a:r>
            <a:endParaRPr b="0" i="0" sz="1800" u="none" cap="none" strike="noStrike"/>
          </a:p>
        </p:txBody>
      </p:sp>
      <p:graphicFrame>
        <p:nvGraphicFramePr>
          <p:cNvPr id="111" name="Google Shape;111;p7"/>
          <p:cNvGraphicFramePr/>
          <p:nvPr/>
        </p:nvGraphicFramePr>
        <p:xfrm>
          <a:off x="762000" y="5905500"/>
          <a:ext cx="3000000" cy="3000000"/>
        </p:xfrm>
        <a:graphic>
          <a:graphicData uri="http://schemas.openxmlformats.org/drawingml/2006/table">
            <a:tbl>
              <a:tblPr>
                <a:noFill/>
                <a:tableStyleId>{8D3EB3A7-DA65-40AD-92DE-6E7132627B1C}</a:tableStyleId>
              </a:tblPr>
              <a:tblGrid>
                <a:gridCol w="4419600"/>
                <a:gridCol w="10312400"/>
              </a:tblGrid>
              <a:tr h="411475">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DETECTION OPPORTUNITY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WHY IT WORKS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r>
              <a:tr h="468625">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RSA signature validation in memory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Emotet RSA-verifies all downloaded plugins. The RSA public key and verification routine are identifiable in memory and can be used for YARA rules.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468625">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Epoch-specific C2 IP pools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Each epoch uses a distinct set of C2 IPs. Security researchers publish these lists. Blocking epoch-specific IP ranges is an effective containment measure.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468625">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Configuration format fingerprints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Each epoch's binary config format has unique structure. Parsing and extracting config from samples provides IOCs specific to that epoch's campaign.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468625">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RC4 key derivation from bot ID</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Emotet derives RC4 keys from the bot's hardware ID. Understanding the key derivation algorithm enables C2 traffic decryption for analysis.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bl>
          </a:graphicData>
        </a:graphic>
      </p:graphicFrame>
      <p:cxnSp>
        <p:nvCxnSpPr>
          <p:cNvPr id="112" name="Google Shape;112;p7"/>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113" name="Google Shape;113;p7"/>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05 / 13</a:t>
            </a:r>
            <a:endParaRPr b="0" i="0" sz="1400" u="none" cap="none" strike="noStrike"/>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118" name="Shape 118"/>
        <p:cNvGrpSpPr/>
        <p:nvPr/>
      </p:nvGrpSpPr>
      <p:grpSpPr>
        <a:xfrm>
          <a:off x="0" y="0"/>
          <a:ext cx="0" cy="0"/>
          <a:chOff x="0" y="0"/>
          <a:chExt cx="0" cy="0"/>
        </a:xfrm>
      </p:grpSpPr>
      <p:sp>
        <p:nvSpPr>
          <p:cNvPr id="119" name="Google Shape;119;p8"/>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SRC-2026-0614-EMOTET</a:t>
            </a:r>
            <a:endParaRPr b="0" i="0" sz="1400" u="none" cap="none" strike="noStrike"/>
          </a:p>
        </p:txBody>
      </p:sp>
      <p:sp>
        <p:nvSpPr>
          <p:cNvPr id="120" name="Google Shape;120;p8"/>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121" name="Google Shape;121;p8"/>
          <p:cNvSpPr/>
          <p:nvPr/>
        </p:nvSpPr>
        <p:spPr>
          <a:xfrm>
            <a:off x="762000" y="698500"/>
            <a:ext cx="14732000" cy="482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600" u="none" cap="none" strike="noStrike">
                <a:solidFill>
                  <a:srgbClr val="FFFFFF"/>
                </a:solidFill>
                <a:latin typeface="Liter"/>
                <a:ea typeface="Liter"/>
                <a:cs typeface="Liter"/>
                <a:sym typeface="Liter"/>
              </a:rPr>
              <a:t>Emotet Loader — Persistence and C2 Communication</a:t>
            </a:r>
            <a:endParaRPr b="0" i="0" sz="2600" u="none" cap="none" strike="noStrike"/>
          </a:p>
        </p:txBody>
      </p:sp>
      <p:cxnSp>
        <p:nvCxnSpPr>
          <p:cNvPr id="122" name="Google Shape;122;p8"/>
          <p:cNvCxnSpPr/>
          <p:nvPr/>
        </p:nvCxnSpPr>
        <p:spPr>
          <a:xfrm>
            <a:off x="762000" y="1244600"/>
            <a:ext cx="14732000" cy="0"/>
          </a:xfrm>
          <a:prstGeom prst="straightConnector1">
            <a:avLst/>
          </a:prstGeom>
          <a:noFill/>
          <a:ln cap="flat" cmpd="sng" w="12700">
            <a:solidFill>
              <a:srgbClr val="5A6070"/>
            </a:solidFill>
            <a:prstDash val="solid"/>
            <a:round/>
            <a:headEnd len="sm" w="sm" type="none"/>
            <a:tailEnd len="sm" w="sm" type="none"/>
          </a:ln>
        </p:spPr>
      </p:cxnSp>
      <p:sp>
        <p:nvSpPr>
          <p:cNvPr id="123" name="Google Shape;123;p8"/>
          <p:cNvSpPr/>
          <p:nvPr/>
        </p:nvSpPr>
        <p:spPr>
          <a:xfrm>
            <a:off x="762000" y="1397000"/>
            <a:ext cx="14732000" cy="635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i="0" lang="en-US" sz="1300" u="none" cap="none" strike="noStrike">
                <a:solidFill>
                  <a:srgbClr val="E8ECF1"/>
                </a:solidFill>
                <a:latin typeface="Quattrocento Sans"/>
                <a:ea typeface="Quattrocento Sans"/>
                <a:cs typeface="Quattrocento Sans"/>
                <a:sym typeface="Quattrocento Sans"/>
              </a:rPr>
              <a:t>The core loader is a </a:t>
            </a:r>
            <a:r>
              <a:rPr b="1" i="0" lang="en-US" sz="1300" u="none" cap="none" strike="noStrike">
                <a:solidFill>
                  <a:srgbClr val="E8ECF1"/>
                </a:solidFill>
                <a:latin typeface="Quattrocento Sans"/>
                <a:ea typeface="Quattrocento Sans"/>
                <a:cs typeface="Quattrocento Sans"/>
                <a:sym typeface="Quattrocento Sans"/>
              </a:rPr>
              <a:t>DLL injected into explorer.exe or svchost.exe</a:t>
            </a:r>
            <a:r>
              <a:rPr b="0" i="0" lang="en-US" sz="1300" u="none" cap="none" strike="noStrike">
                <a:solidFill>
                  <a:srgbClr val="E8ECF1"/>
                </a:solidFill>
                <a:latin typeface="Quattrocento Sans"/>
                <a:ea typeface="Quattrocento Sans"/>
                <a:cs typeface="Quattrocento Sans"/>
                <a:sym typeface="Quattrocento Sans"/>
              </a:rPr>
              <a:t>. It maintains persistence via Windows service creation and Registry Run keys. C2 communication uses HTTP GET/POST requests to Tier 1 C2 servers, which proxy commands from Tier 2 controllers.</a:t>
            </a:r>
            <a:endParaRPr b="0" i="0" sz="1300" u="none" cap="none" strike="noStrike"/>
          </a:p>
        </p:txBody>
      </p:sp>
      <p:sp>
        <p:nvSpPr>
          <p:cNvPr id="124" name="Google Shape;124;p8"/>
          <p:cNvSpPr/>
          <p:nvPr/>
        </p:nvSpPr>
        <p:spPr>
          <a:xfrm>
            <a:off x="762000" y="2222500"/>
            <a:ext cx="6858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Persistence Mechanisms</a:t>
            </a:r>
            <a:endParaRPr b="0" i="0" sz="1800" u="none" cap="none" strike="noStrike"/>
          </a:p>
        </p:txBody>
      </p:sp>
      <p:sp>
        <p:nvSpPr>
          <p:cNvPr id="125" name="Google Shape;125;p8"/>
          <p:cNvSpPr/>
          <p:nvPr/>
        </p:nvSpPr>
        <p:spPr>
          <a:xfrm>
            <a:off x="762000" y="2641600"/>
            <a:ext cx="6858000" cy="2222500"/>
          </a:xfrm>
          <a:prstGeom prst="rect">
            <a:avLst/>
          </a:prstGeom>
          <a:noFill/>
          <a:ln>
            <a:noFill/>
          </a:ln>
        </p:spPr>
        <p:txBody>
          <a:bodyPr anchorCtr="0" anchor="t" bIns="0" lIns="0" spcFirstLastPara="1" rIns="0" wrap="square" tIns="0">
            <a:noAutofit/>
          </a:bodyPr>
          <a:lstStyle/>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Windows Service</a:t>
            </a:r>
            <a:r>
              <a:rPr b="0" i="0" lang="en-US" sz="1500" u="none" cap="none" strike="noStrike">
                <a:solidFill>
                  <a:srgbClr val="E8ECF1"/>
                </a:solidFill>
                <a:latin typeface="Quattrocento Sans"/>
                <a:ea typeface="Quattrocento Sans"/>
                <a:cs typeface="Quattrocento Sans"/>
                <a:sym typeface="Quattrocento Sans"/>
              </a:rPr>
              <a:t> — Creates service with random name pointing to the Emotet DLL loaded via rundll32.exe</a:t>
            </a:r>
            <a:endParaRPr b="0" i="0" sz="1500" u="none" cap="none" strike="noStrike"/>
          </a:p>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Registry Run Key</a:t>
            </a:r>
            <a:r>
              <a:rPr b="0" i="0" lang="en-US" sz="1500" u="none" cap="none" strike="noStrike">
                <a:solidFill>
                  <a:srgbClr val="E8ECF1"/>
                </a:solidFill>
                <a:latin typeface="Quattrocento Sans"/>
                <a:ea typeface="Quattrocento Sans"/>
                <a:cs typeface="Quattrocento Sans"/>
                <a:sym typeface="Quattrocento Sans"/>
              </a:rPr>
              <a:t> — HKCU\\Software\\Microsoft\\Windows\\CurrentVersion\\Run with DLL path</a:t>
            </a:r>
            <a:endParaRPr b="0" i="0" sz="1500" u="none" cap="none" strike="noStrike"/>
          </a:p>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Scheduled Task</a:t>
            </a:r>
            <a:r>
              <a:rPr b="0" i="0" lang="en-US" sz="1500" u="none" cap="none" strike="noStrike">
                <a:solidFill>
                  <a:srgbClr val="E8ECF1"/>
                </a:solidFill>
                <a:latin typeface="Quattrocento Sans"/>
                <a:ea typeface="Quattrocento Sans"/>
                <a:cs typeface="Quattrocento Sans"/>
                <a:sym typeface="Quattrocento Sans"/>
              </a:rPr>
              <a:t> — Creates task to execute rundll32.exe with Emotet DLL at logon</a:t>
            </a:r>
            <a:endParaRPr b="0" i="0" sz="1500" u="none" cap="none" strike="noStrike"/>
          </a:p>
          <a:p>
            <a:pPr indent="0" lvl="0" marL="0" marR="0" rtl="0" algn="l">
              <a:lnSpc>
                <a:spcPct val="165000"/>
              </a:lnSpc>
              <a:spcBef>
                <a:spcPts val="0"/>
              </a:spcBef>
              <a:spcAft>
                <a:spcPts val="0"/>
              </a:spcAft>
              <a:buNone/>
            </a:pPr>
            <a:r>
              <a:rPr b="0" i="0" lang="en-US" sz="1500" u="none" cap="none" strike="noStrike">
                <a:solidFill>
                  <a:srgbClr val="D92525"/>
                </a:solidFill>
                <a:latin typeface="Quattrocento Sans"/>
                <a:ea typeface="Quattrocento Sans"/>
                <a:cs typeface="Quattrocento Sans"/>
                <a:sym typeface="Quattrocento Sans"/>
              </a:rPr>
              <a:t>▶</a:t>
            </a:r>
            <a:r>
              <a:rPr b="0" i="0" lang="en-US" sz="1500" u="none" cap="none" strike="noStrike">
                <a:solidFill>
                  <a:srgbClr val="E8ECF1"/>
                </a:solidFill>
                <a:latin typeface="Quattrocento Sans"/>
                <a:ea typeface="Quattrocento Sans"/>
                <a:cs typeface="Quattrocento Sans"/>
                <a:sym typeface="Quattrocento Sans"/>
              </a:rPr>
              <a:t> </a:t>
            </a:r>
            <a:r>
              <a:rPr b="1" i="0" lang="en-US" sz="1500" u="none" cap="none" strike="noStrike">
                <a:solidFill>
                  <a:srgbClr val="E8ECF1"/>
                </a:solidFill>
                <a:latin typeface="Quattrocento Sans"/>
                <a:ea typeface="Quattrocento Sans"/>
                <a:cs typeface="Quattrocento Sans"/>
                <a:sym typeface="Quattrocento Sans"/>
              </a:rPr>
              <a:t>Service Recovery</a:t>
            </a:r>
            <a:r>
              <a:rPr b="0" i="0" lang="en-US" sz="1500" u="none" cap="none" strike="noStrike">
                <a:solidFill>
                  <a:srgbClr val="E8ECF1"/>
                </a:solidFill>
                <a:latin typeface="Quattrocento Sans"/>
                <a:ea typeface="Quattrocento Sans"/>
                <a:cs typeface="Quattrocento Sans"/>
                <a:sym typeface="Quattrocento Sans"/>
              </a:rPr>
              <a:t> — Sets service failure actions to restart automatically</a:t>
            </a:r>
            <a:endParaRPr b="0" i="0" sz="1500" u="none" cap="none" strike="noStrike"/>
          </a:p>
        </p:txBody>
      </p:sp>
      <p:sp>
        <p:nvSpPr>
          <p:cNvPr id="126" name="Google Shape;126;p8"/>
          <p:cNvSpPr/>
          <p:nvPr/>
        </p:nvSpPr>
        <p:spPr>
          <a:xfrm>
            <a:off x="8128000" y="2222500"/>
            <a:ext cx="7366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C2 Communication Pattern</a:t>
            </a:r>
            <a:endParaRPr b="0" i="0" sz="1800" u="none" cap="none" strike="noStrike"/>
          </a:p>
        </p:txBody>
      </p:sp>
      <p:sp>
        <p:nvSpPr>
          <p:cNvPr id="127" name="Google Shape;127;p8"/>
          <p:cNvSpPr/>
          <p:nvPr/>
        </p:nvSpPr>
        <p:spPr>
          <a:xfrm>
            <a:off x="8128000" y="2641600"/>
            <a:ext cx="7366000" cy="22225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8128000" y="2641600"/>
            <a:ext cx="50800" cy="22225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8382000" y="2743200"/>
            <a:ext cx="6921500" cy="2006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300" u="none" cap="none" strike="noStrike">
                <a:solidFill>
                  <a:srgbClr val="8C95A5"/>
                </a:solidFill>
                <a:latin typeface="Liter"/>
                <a:ea typeface="Liter"/>
                <a:cs typeface="Liter"/>
                <a:sym typeface="Liter"/>
              </a:rPr>
              <a:t>// Emotet C2 beacon — HTTP POST with encrypted payload</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D92525"/>
                </a:solidFill>
                <a:latin typeface="Liter"/>
                <a:ea typeface="Liter"/>
                <a:cs typeface="Liter"/>
                <a:sym typeface="Liter"/>
              </a:rPr>
              <a:t>void</a:t>
            </a:r>
            <a:r>
              <a:rPr b="0" i="0" lang="en-US" sz="1300" u="none" cap="none" strike="noStrike">
                <a:solidFill>
                  <a:srgbClr val="A0AEBF"/>
                </a:solidFill>
                <a:latin typeface="Liter"/>
                <a:ea typeface="Liter"/>
                <a:cs typeface="Liter"/>
                <a:sym typeface="Liter"/>
              </a:rPr>
              <a:t> </a:t>
            </a:r>
            <a:r>
              <a:rPr b="1" i="0" lang="en-US" sz="1300" u="none" cap="none" strike="noStrike">
                <a:solidFill>
                  <a:srgbClr val="A0AEBF"/>
                </a:solidFill>
                <a:latin typeface="Liter"/>
                <a:ea typeface="Liter"/>
                <a:cs typeface="Liter"/>
                <a:sym typeface="Liter"/>
              </a:rPr>
              <a:t>SendBeacon</a:t>
            </a:r>
            <a:r>
              <a:rPr b="0" i="0" lang="en-US" sz="1300" u="none" cap="none" strike="noStrike">
                <a:solidFill>
                  <a:srgbClr val="A0AEBF"/>
                </a:solidFill>
                <a:latin typeface="Liter"/>
                <a:ea typeface="Liter"/>
                <a:cs typeface="Liter"/>
                <a:sym typeface="Liter"/>
              </a:rPr>
              <a:t>() {</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a:t>
            </a:r>
            <a:r>
              <a:rPr b="0" i="0" lang="en-US" sz="1300" u="none" cap="none" strike="noStrike">
                <a:solidFill>
                  <a:srgbClr val="D92525"/>
                </a:solidFill>
                <a:latin typeface="Liter"/>
                <a:ea typeface="Liter"/>
                <a:cs typeface="Liter"/>
                <a:sym typeface="Liter"/>
              </a:rPr>
              <a:t>char</a:t>
            </a:r>
            <a:r>
              <a:rPr b="0" i="0" lang="en-US" sz="1300" u="none" cap="none" strike="noStrike">
                <a:solidFill>
                  <a:srgbClr val="A0AEBF"/>
                </a:solidFill>
                <a:latin typeface="Liter"/>
                <a:ea typeface="Liter"/>
                <a:cs typeface="Liter"/>
                <a:sym typeface="Liter"/>
              </a:rPr>
              <a:t> url[</a:t>
            </a:r>
            <a:r>
              <a:rPr b="0" i="0" lang="en-US" sz="1300" u="none" cap="none" strike="noStrike">
                <a:solidFill>
                  <a:srgbClr val="E8A020"/>
                </a:solidFill>
                <a:latin typeface="Liter"/>
                <a:ea typeface="Liter"/>
                <a:cs typeface="Liter"/>
                <a:sym typeface="Liter"/>
              </a:rPr>
              <a:t>256</a:t>
            </a:r>
            <a:r>
              <a:rPr b="0" i="0" lang="en-US" sz="1300" u="none" cap="none" strike="noStrike">
                <a:solidFill>
                  <a:srgbClr val="A0AEBF"/>
                </a:solidFill>
                <a:latin typeface="Liter"/>
                <a:ea typeface="Liter"/>
                <a:cs typeface="Liter"/>
                <a:sym typeface="Liter"/>
              </a:rPr>
              <a:t>]; sprintf(url, </a:t>
            </a:r>
            <a:r>
              <a:rPr b="0" i="0" lang="en-US" sz="1300" u="none" cap="none" strike="noStrike">
                <a:solidFill>
                  <a:srgbClr val="4CAF50"/>
                </a:solidFill>
                <a:latin typeface="Liter"/>
                <a:ea typeface="Liter"/>
                <a:cs typeface="Liter"/>
                <a:sym typeface="Liter"/>
              </a:rPr>
              <a:t>"http://%s/%s/%d/"</a:t>
            </a:r>
            <a:r>
              <a:rPr b="0" i="0" lang="en-US" sz="1300" u="none" cap="none" strike="noStrike">
                <a:solidFill>
                  <a:srgbClr val="A0AEBF"/>
                </a:solidFill>
                <a:latin typeface="Liter"/>
                <a:ea typeface="Liter"/>
                <a:cs typeface="Liter"/>
                <a:sym typeface="Liter"/>
              </a:rPr>
              <a:t>,</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c2_server, bot_id, request_type);</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a:t>
            </a:r>
            <a:r>
              <a:rPr b="0" i="0" lang="en-US" sz="1300" u="none" cap="none" strike="noStrike">
                <a:solidFill>
                  <a:srgbClr val="D92525"/>
                </a:solidFill>
                <a:latin typeface="Liter"/>
                <a:ea typeface="Liter"/>
                <a:cs typeface="Liter"/>
                <a:sym typeface="Liter"/>
              </a:rPr>
              <a:t>byte</a:t>
            </a:r>
            <a:r>
              <a:rPr b="0" i="0" lang="en-US" sz="1300" u="none" cap="none" strike="noStrike">
                <a:solidFill>
                  <a:srgbClr val="A0AEBF"/>
                </a:solidFill>
                <a:latin typeface="Liter"/>
                <a:ea typeface="Liter"/>
                <a:cs typeface="Liter"/>
                <a:sym typeface="Liter"/>
              </a:rPr>
              <a:t>* encrypted = RC4_Encrypt(payload, rc4_key);</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a:t>
            </a:r>
            <a:r>
              <a:rPr b="0" i="0" lang="en-US" sz="1300" u="none" cap="none" strike="noStrike">
                <a:solidFill>
                  <a:srgbClr val="D92525"/>
                </a:solidFill>
                <a:latin typeface="Liter"/>
                <a:ea typeface="Liter"/>
                <a:cs typeface="Liter"/>
                <a:sym typeface="Liter"/>
              </a:rPr>
              <a:t>byte</a:t>
            </a:r>
            <a:r>
              <a:rPr b="0" i="0" lang="en-US" sz="1300" u="none" cap="none" strike="noStrike">
                <a:solidFill>
                  <a:srgbClr val="A0AEBF"/>
                </a:solidFill>
                <a:latin typeface="Liter"/>
                <a:ea typeface="Liter"/>
                <a:cs typeface="Liter"/>
                <a:sym typeface="Liter"/>
              </a:rPr>
              <a:t>* signed = RSA_Sign(encrypted, private_key);</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HttpPost(url, signed, signed_len);  </a:t>
            </a:r>
            <a:r>
              <a:rPr b="0" i="0" lang="en-US" sz="1300" u="none" cap="none" strike="noStrike">
                <a:solidFill>
                  <a:srgbClr val="8C95A5"/>
                </a:solidFill>
                <a:latin typeface="Liter"/>
                <a:ea typeface="Liter"/>
                <a:cs typeface="Liter"/>
                <a:sym typeface="Liter"/>
              </a:rPr>
              <a:t>// C2 response</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    ParseCommands(HttpReadResponse());</a:t>
            </a:r>
            <a:endParaRPr b="0" i="0" sz="1300" u="none" cap="none" strike="noStrike"/>
          </a:p>
          <a:p>
            <a:pPr indent="0" lvl="0" marL="0" marR="0" rtl="0" algn="l">
              <a:lnSpc>
                <a:spcPct val="150000"/>
              </a:lnSpc>
              <a:spcBef>
                <a:spcPts val="0"/>
              </a:spcBef>
              <a:spcAft>
                <a:spcPts val="0"/>
              </a:spcAft>
              <a:buNone/>
            </a:pPr>
            <a:r>
              <a:rPr b="0" i="0" lang="en-US" sz="1300" u="none" cap="none" strike="noStrike">
                <a:solidFill>
                  <a:srgbClr val="A0AEBF"/>
                </a:solidFill>
                <a:latin typeface="Liter"/>
                <a:ea typeface="Liter"/>
                <a:cs typeface="Liter"/>
                <a:sym typeface="Liter"/>
              </a:rPr>
              <a:t>}</a:t>
            </a:r>
            <a:endParaRPr b="0" i="0" sz="1300" u="none" cap="none" strike="noStrike"/>
          </a:p>
        </p:txBody>
      </p:sp>
      <p:sp>
        <p:nvSpPr>
          <p:cNvPr id="130" name="Google Shape;130;p8"/>
          <p:cNvSpPr/>
          <p:nvPr/>
        </p:nvSpPr>
        <p:spPr>
          <a:xfrm>
            <a:off x="762000" y="52705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Detection Opportunities — Persistence</a:t>
            </a:r>
            <a:endParaRPr b="0" i="0" sz="1800" u="none" cap="none" strike="noStrike"/>
          </a:p>
        </p:txBody>
      </p:sp>
      <p:graphicFrame>
        <p:nvGraphicFramePr>
          <p:cNvPr id="131" name="Google Shape;131;p8"/>
          <p:cNvGraphicFramePr/>
          <p:nvPr/>
        </p:nvGraphicFramePr>
        <p:xfrm>
          <a:off x="762000" y="5715000"/>
          <a:ext cx="3000000" cy="3000000"/>
        </p:xfrm>
        <a:graphic>
          <a:graphicData uri="http://schemas.openxmlformats.org/drawingml/2006/table">
            <a:tbl>
              <a:tblPr>
                <a:noFill/>
                <a:tableStyleId>{8D3EB3A7-DA65-40AD-92DE-6E7132627B1C}</a:tableStyleId>
              </a:tblPr>
              <a:tblGrid>
                <a:gridCol w="4419600"/>
                <a:gridCol w="10312400"/>
              </a:tblGrid>
              <a:tr h="445775">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DETECTION OPPORTUNITY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WHY IT WORKS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r>
              <a:tr h="507675">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rundll32.exe executing DLL from %TEMP%</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Legitimate rundll32.exe usage loads DLLs from System32. Loading from %TEMP% or %APPDATA% is anomalous and indicates malware persistence.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507675">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Service creation with random high-entropy name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Emotet generates random service names (e.g., "Wksvce", "NetBIOSx"). Service creation events with randomly generated names are suspicious.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507675">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HTTP POST to /{bot_id}/{request_type}/ pattern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Emotet C2 URLs follow a distinctive pattern. Proxy and IDS signatures can detect this URL structure even over encrypted channels via SNI.</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507675">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Explorer.exe making HTTP connections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When Emotet injects into explorer.exe, the legitimate Windows shell process makes outbound HTTP connections. This parent-process behavior is anomalous.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bl>
          </a:graphicData>
        </a:graphic>
      </p:graphicFrame>
      <p:cxnSp>
        <p:nvCxnSpPr>
          <p:cNvPr id="132" name="Google Shape;132;p8"/>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133" name="Google Shape;133;p8"/>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06 / 13</a:t>
            </a:r>
            <a:endParaRPr b="0" i="0" sz="1400" u="none" cap="none" strike="noStrike"/>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D21"/>
        </a:solidFill>
      </p:bgPr>
    </p:bg>
    <p:spTree>
      <p:nvGrpSpPr>
        <p:cNvPr id="138" name="Shape 138"/>
        <p:cNvGrpSpPr/>
        <p:nvPr/>
      </p:nvGrpSpPr>
      <p:grpSpPr>
        <a:xfrm>
          <a:off x="0" y="0"/>
          <a:ext cx="0" cy="0"/>
          <a:chOff x="0" y="0"/>
          <a:chExt cx="0" cy="0"/>
        </a:xfrm>
      </p:grpSpPr>
      <p:sp>
        <p:nvSpPr>
          <p:cNvPr id="139" name="Google Shape;139;p9"/>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SRC-2026-0614-EMOTET</a:t>
            </a:r>
            <a:endParaRPr b="0" i="0" sz="1400" u="none" cap="none" strike="noStrike"/>
          </a:p>
        </p:txBody>
      </p:sp>
      <p:sp>
        <p:nvSpPr>
          <p:cNvPr id="140" name="Google Shape;140;p9"/>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141" name="Google Shape;141;p9"/>
          <p:cNvSpPr/>
          <p:nvPr/>
        </p:nvSpPr>
        <p:spPr>
          <a:xfrm>
            <a:off x="762000" y="2286000"/>
            <a:ext cx="2540000" cy="1016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7200" u="none" cap="none" strike="noStrike">
                <a:solidFill>
                  <a:srgbClr val="D92525"/>
                </a:solidFill>
                <a:latin typeface="Liter"/>
                <a:ea typeface="Liter"/>
                <a:cs typeface="Liter"/>
                <a:sym typeface="Liter"/>
              </a:rPr>
              <a:t>02</a:t>
            </a:r>
            <a:endParaRPr b="0" i="0" sz="7200" u="none" cap="none" strike="noStrike"/>
          </a:p>
        </p:txBody>
      </p:sp>
      <p:cxnSp>
        <p:nvCxnSpPr>
          <p:cNvPr id="142" name="Google Shape;142;p9"/>
          <p:cNvCxnSpPr/>
          <p:nvPr/>
        </p:nvCxnSpPr>
        <p:spPr>
          <a:xfrm>
            <a:off x="762000" y="3556000"/>
            <a:ext cx="2540000" cy="0"/>
          </a:xfrm>
          <a:prstGeom prst="straightConnector1">
            <a:avLst/>
          </a:prstGeom>
          <a:noFill/>
          <a:ln cap="flat" cmpd="sng" w="38100">
            <a:solidFill>
              <a:srgbClr val="D92525"/>
            </a:solidFill>
            <a:prstDash val="solid"/>
            <a:round/>
            <a:headEnd len="sm" w="sm" type="none"/>
            <a:tailEnd len="sm" w="sm" type="none"/>
          </a:ln>
        </p:spPr>
      </p:cxnSp>
      <p:sp>
        <p:nvSpPr>
          <p:cNvPr id="143" name="Google Shape;143;p9"/>
          <p:cNvSpPr/>
          <p:nvPr/>
        </p:nvSpPr>
        <p:spPr>
          <a:xfrm>
            <a:off x="762000" y="3810000"/>
            <a:ext cx="12700000" cy="698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4400" u="none" cap="none" strike="noStrike">
                <a:solidFill>
                  <a:srgbClr val="FFFFFF"/>
                </a:solidFill>
                <a:latin typeface="Liter"/>
                <a:ea typeface="Liter"/>
                <a:cs typeface="Liter"/>
                <a:sym typeface="Liter"/>
              </a:rPr>
              <a:t>PROCESS INJECTION ENGINE</a:t>
            </a:r>
            <a:endParaRPr b="0" i="0" sz="4400" u="none" cap="none" strike="noStrike"/>
          </a:p>
        </p:txBody>
      </p:sp>
      <p:sp>
        <p:nvSpPr>
          <p:cNvPr id="144" name="Google Shape;144;p9"/>
          <p:cNvSpPr/>
          <p:nvPr/>
        </p:nvSpPr>
        <p:spPr>
          <a:xfrm>
            <a:off x="762000" y="4699000"/>
            <a:ext cx="11430000" cy="4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2200" u="none" cap="none" strike="noStrike">
                <a:solidFill>
                  <a:srgbClr val="8C95A5"/>
                </a:solidFill>
                <a:latin typeface="Quattrocento Sans"/>
                <a:ea typeface="Quattrocento Sans"/>
                <a:cs typeface="Quattrocento Sans"/>
                <a:sym typeface="Quattrocento Sans"/>
              </a:rPr>
              <a:t>Process Hollowing, APC Injection, Module Loading</a:t>
            </a:r>
            <a:endParaRPr b="0" i="0" sz="2200" u="none" cap="none" strike="noStrike"/>
          </a:p>
        </p:txBody>
      </p:sp>
      <p:cxnSp>
        <p:nvCxnSpPr>
          <p:cNvPr id="145" name="Google Shape;145;p9"/>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146" name="Google Shape;146;p9"/>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07 / 13</a:t>
            </a:r>
            <a:endParaRPr b="0" i="0" sz="1400" u="none" cap="none" strike="noStrike"/>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151" name="Shape 151"/>
        <p:cNvGrpSpPr/>
        <p:nvPr/>
      </p:nvGrpSpPr>
      <p:grpSpPr>
        <a:xfrm>
          <a:off x="0" y="0"/>
          <a:ext cx="0" cy="0"/>
          <a:chOff x="0" y="0"/>
          <a:chExt cx="0" cy="0"/>
        </a:xfrm>
      </p:grpSpPr>
      <p:sp>
        <p:nvSpPr>
          <p:cNvPr id="152" name="Google Shape;152;p10"/>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SRC-2026-0614-EMOTET</a:t>
            </a:r>
            <a:endParaRPr b="0" i="0" sz="1400" u="none" cap="none" strike="noStrike"/>
          </a:p>
        </p:txBody>
      </p:sp>
      <p:sp>
        <p:nvSpPr>
          <p:cNvPr id="153" name="Google Shape;153;p10"/>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154" name="Google Shape;154;p10"/>
          <p:cNvSpPr/>
          <p:nvPr/>
        </p:nvSpPr>
        <p:spPr>
          <a:xfrm>
            <a:off x="762000" y="698500"/>
            <a:ext cx="14732000" cy="482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600" u="none" cap="none" strike="noStrike">
                <a:solidFill>
                  <a:srgbClr val="FFFFFF"/>
                </a:solidFill>
                <a:latin typeface="Liter"/>
                <a:ea typeface="Liter"/>
                <a:cs typeface="Liter"/>
                <a:sym typeface="Liter"/>
              </a:rPr>
              <a:t>inject.c — Multi-Technique Process Injection</a:t>
            </a:r>
            <a:endParaRPr b="0" i="0" sz="2600" u="none" cap="none" strike="noStrike"/>
          </a:p>
        </p:txBody>
      </p:sp>
      <p:cxnSp>
        <p:nvCxnSpPr>
          <p:cNvPr id="155" name="Google Shape;155;p10"/>
          <p:cNvCxnSpPr/>
          <p:nvPr/>
        </p:nvCxnSpPr>
        <p:spPr>
          <a:xfrm>
            <a:off x="762000" y="1244600"/>
            <a:ext cx="14732000" cy="0"/>
          </a:xfrm>
          <a:prstGeom prst="straightConnector1">
            <a:avLst/>
          </a:prstGeom>
          <a:noFill/>
          <a:ln cap="flat" cmpd="sng" w="12700">
            <a:solidFill>
              <a:srgbClr val="5A6070"/>
            </a:solidFill>
            <a:prstDash val="solid"/>
            <a:round/>
            <a:headEnd len="sm" w="sm" type="none"/>
            <a:tailEnd len="sm" w="sm" type="none"/>
          </a:ln>
        </p:spPr>
      </p:cxnSp>
      <p:sp>
        <p:nvSpPr>
          <p:cNvPr id="156" name="Google Shape;156;p10"/>
          <p:cNvSpPr/>
          <p:nvPr/>
        </p:nvSpPr>
        <p:spPr>
          <a:xfrm>
            <a:off x="762000" y="1397000"/>
            <a:ext cx="3048000" cy="279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OFFENSIVE TECHNIQUE</a:t>
            </a:r>
            <a:endParaRPr b="0" i="0" sz="1200" u="none" cap="none" strike="noStrike"/>
          </a:p>
        </p:txBody>
      </p:sp>
      <p:sp>
        <p:nvSpPr>
          <p:cNvPr id="157" name="Google Shape;157;p10"/>
          <p:cNvSpPr/>
          <p:nvPr/>
        </p:nvSpPr>
        <p:spPr>
          <a:xfrm>
            <a:off x="3937000" y="1397000"/>
            <a:ext cx="6350000" cy="2794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None/>
            </a:pPr>
            <a:r>
              <a:rPr b="0" i="0" lang="en-US" sz="1600" u="none" cap="none" strike="noStrike">
                <a:solidFill>
                  <a:srgbClr val="D92525"/>
                </a:solidFill>
                <a:latin typeface="Quattrocento Sans"/>
                <a:ea typeface="Quattrocento Sans"/>
                <a:cs typeface="Quattrocento Sans"/>
                <a:sym typeface="Quattrocento Sans"/>
              </a:rPr>
              <a:t>Process Hollowing, APC Injection, Thread Hijacking</a:t>
            </a:r>
            <a:endParaRPr b="0" i="0" sz="1600" u="none" cap="none" strike="noStrike"/>
          </a:p>
        </p:txBody>
      </p:sp>
      <p:sp>
        <p:nvSpPr>
          <p:cNvPr id="158" name="Google Shape;158;p10"/>
          <p:cNvSpPr/>
          <p:nvPr/>
        </p:nvSpPr>
        <p:spPr>
          <a:xfrm>
            <a:off x="762000" y="1841500"/>
            <a:ext cx="14732000" cy="1079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1300" u="none" cap="none" strike="noStrike">
                <a:solidFill>
                  <a:srgbClr val="E8ECF1"/>
                </a:solidFill>
                <a:latin typeface="Quattrocento Sans"/>
                <a:ea typeface="Quattrocento Sans"/>
                <a:cs typeface="Quattrocento Sans"/>
                <a:sym typeface="Quattrocento Sans"/>
              </a:rPr>
              <a:t>Emotet's </a:t>
            </a:r>
            <a:r>
              <a:rPr b="1" i="0" lang="en-US" sz="1300" u="none" cap="none" strike="noStrike">
                <a:solidFill>
                  <a:srgbClr val="E8ECF1"/>
                </a:solidFill>
                <a:latin typeface="Quattrocento Sans"/>
                <a:ea typeface="Quattrocento Sans"/>
                <a:cs typeface="Quattrocento Sans"/>
                <a:sym typeface="Quattrocento Sans"/>
              </a:rPr>
              <a:t>inject.c</a:t>
            </a:r>
            <a:r>
              <a:rPr b="0" i="0" lang="en-US" sz="1300" u="none" cap="none" strike="noStrike">
                <a:solidFill>
                  <a:srgbClr val="E8ECF1"/>
                </a:solidFill>
                <a:latin typeface="Quattrocento Sans"/>
                <a:ea typeface="Quattrocento Sans"/>
                <a:cs typeface="Quattrocento Sans"/>
                <a:sym typeface="Quattrocento Sans"/>
              </a:rPr>
              <a:t> implements multiple injection techniques selected based on the target process. This rotation ensures </a:t>
            </a:r>
            <a:r>
              <a:rPr b="1" i="0" lang="en-US" sz="1300" u="none" cap="none" strike="noStrike">
                <a:solidFill>
                  <a:srgbClr val="E8ECF1"/>
                </a:solidFill>
                <a:latin typeface="Quattrocento Sans"/>
                <a:ea typeface="Quattrocento Sans"/>
                <a:cs typeface="Quattrocento Sans"/>
                <a:sym typeface="Quattrocento Sans"/>
              </a:rPr>
              <a:t>no single detection rule catches all injections</a:t>
            </a:r>
            <a:r>
              <a:rPr b="0" i="0" lang="en-US" sz="1300" u="none" cap="none" strike="noStrike">
                <a:solidFill>
                  <a:srgbClr val="E8ECF1"/>
                </a:solidFill>
                <a:latin typeface="Quattrocento Sans"/>
                <a:ea typeface="Quattrocento Sans"/>
                <a:cs typeface="Quattrocento Sans"/>
                <a:sym typeface="Quattrocento Sans"/>
              </a:rPr>
              <a:t>, making behavioral detection essential.</a:t>
            </a:r>
            <a:endParaRPr b="0" i="0" sz="1300" u="none" cap="none" strike="noStrike"/>
          </a:p>
        </p:txBody>
      </p:sp>
      <p:sp>
        <p:nvSpPr>
          <p:cNvPr id="159" name="Google Shape;159;p10"/>
          <p:cNvSpPr/>
          <p:nvPr/>
        </p:nvSpPr>
        <p:spPr>
          <a:xfrm>
            <a:off x="762000" y="2667000"/>
            <a:ext cx="4699000" cy="2540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
          <p:cNvSpPr/>
          <p:nvPr/>
        </p:nvSpPr>
        <p:spPr>
          <a:xfrm>
            <a:off x="762000" y="2667000"/>
            <a:ext cx="4699000" cy="508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
          <p:cNvSpPr/>
          <p:nvPr/>
        </p:nvSpPr>
        <p:spPr>
          <a:xfrm>
            <a:off x="952500" y="2819400"/>
            <a:ext cx="4318000" cy="2286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PROCESS HOLLOWING</a:t>
            </a:r>
            <a:endParaRPr b="0" i="0" sz="1200" u="none" cap="none" strike="noStrike"/>
          </a:p>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Target:</a:t>
            </a:r>
            <a:r>
              <a:rPr b="0" i="0" lang="en-US" sz="1200" u="none" cap="none" strike="noStrike">
                <a:solidFill>
                  <a:srgbClr val="E8ECF1"/>
                </a:solidFill>
                <a:latin typeface="Quattrocento Sans"/>
                <a:ea typeface="Quattrocento Sans"/>
                <a:cs typeface="Quattrocento Sans"/>
                <a:sym typeface="Quattrocento Sans"/>
              </a:rPr>
              <a:t> Browser processes (firefox.exe, chrome.exe, iexplore.exe)</a:t>
            </a:r>
            <a:endParaRPr b="0" i="0" sz="1200" u="none" cap="none" strike="noStrike"/>
          </a:p>
          <a:p>
            <a:pPr indent="0" lvl="0" marL="0" marR="0" rtl="0" algn="l">
              <a:lnSpc>
                <a:spcPct val="150000"/>
              </a:lnSpc>
              <a:spcBef>
                <a:spcPts val="0"/>
              </a:spcBef>
              <a:spcAft>
                <a:spcPts val="0"/>
              </a:spcAft>
              <a:buNone/>
            </a:pPr>
            <a:r>
              <a:t/>
            </a:r>
            <a:endParaRPr b="0" i="0" sz="1200" u="none" cap="none" strike="noStrike"/>
          </a:p>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Steps:</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1. Create suspended process</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2. NtUnmapViewOfSection</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3. VirtualAllocEx + WriteProcessMemory</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4. ResumeThread</a:t>
            </a:r>
            <a:endParaRPr b="0" i="0" sz="1200" u="none" cap="none" strike="noStrike"/>
          </a:p>
          <a:p>
            <a:pPr indent="0" lvl="0" marL="0" marR="0" rtl="0" algn="l">
              <a:lnSpc>
                <a:spcPct val="150000"/>
              </a:lnSpc>
              <a:spcBef>
                <a:spcPts val="0"/>
              </a:spcBef>
              <a:spcAft>
                <a:spcPts val="0"/>
              </a:spcAft>
              <a:buNone/>
            </a:pPr>
            <a:r>
              <a:t/>
            </a:r>
            <a:endParaRPr b="0" i="0" sz="1200" u="none" cap="none" strike="noStrike"/>
          </a:p>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Detection:</a:t>
            </a:r>
            <a:r>
              <a:rPr b="0" i="0" lang="en-US" sz="1200" u="none" cap="none" strike="noStrike">
                <a:solidFill>
                  <a:srgbClr val="E8ECF1"/>
                </a:solidFill>
                <a:latin typeface="Quattrocento Sans"/>
                <a:ea typeface="Quattrocento Sans"/>
                <a:cs typeface="Quattrocento Sans"/>
                <a:sym typeface="Quattrocento Sans"/>
              </a:rPr>
              <a:t> Sysmon Event ID 8, parent-child anomalies</a:t>
            </a:r>
            <a:endParaRPr b="0" i="0" sz="1200" u="none" cap="none" strike="noStrike"/>
          </a:p>
        </p:txBody>
      </p:sp>
      <p:sp>
        <p:nvSpPr>
          <p:cNvPr id="162" name="Google Shape;162;p10"/>
          <p:cNvSpPr/>
          <p:nvPr/>
        </p:nvSpPr>
        <p:spPr>
          <a:xfrm>
            <a:off x="5778500" y="2667000"/>
            <a:ext cx="4699000" cy="2540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
          <p:cNvSpPr/>
          <p:nvPr/>
        </p:nvSpPr>
        <p:spPr>
          <a:xfrm>
            <a:off x="5778500" y="2667000"/>
            <a:ext cx="4699000" cy="508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0"/>
          <p:cNvSpPr/>
          <p:nvPr/>
        </p:nvSpPr>
        <p:spPr>
          <a:xfrm>
            <a:off x="5969000" y="2819400"/>
            <a:ext cx="4318000" cy="2286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APC INJECTION</a:t>
            </a:r>
            <a:endParaRPr b="0" i="0" sz="1200" u="none" cap="none" strike="noStrike"/>
          </a:p>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Target:</a:t>
            </a:r>
            <a:r>
              <a:rPr b="0" i="0" lang="en-US" sz="1200" u="none" cap="none" strike="noStrike">
                <a:solidFill>
                  <a:srgbClr val="E8ECF1"/>
                </a:solidFill>
                <a:latin typeface="Quattrocento Sans"/>
                <a:ea typeface="Quattrocento Sans"/>
                <a:cs typeface="Quattrocento Sans"/>
                <a:sym typeface="Quattrocento Sans"/>
              </a:rPr>
              <a:t> explorer.exe, svchost.exe</a:t>
            </a:r>
            <a:endParaRPr b="0" i="0" sz="1200" u="none" cap="none" strike="noStrike"/>
          </a:p>
          <a:p>
            <a:pPr indent="0" lvl="0" marL="0" marR="0" rtl="0" algn="l">
              <a:lnSpc>
                <a:spcPct val="150000"/>
              </a:lnSpc>
              <a:spcBef>
                <a:spcPts val="0"/>
              </a:spcBef>
              <a:spcAft>
                <a:spcPts val="0"/>
              </a:spcAft>
              <a:buNone/>
            </a:pPr>
            <a:r>
              <a:t/>
            </a:r>
            <a:endParaRPr b="0" i="0" sz="1200" u="none" cap="none" strike="noStrike"/>
          </a:p>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Steps:</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1. Open target process</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2. Find alertable thread</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3. QueueUserAPC with payload</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4. Thread executes payload</a:t>
            </a:r>
            <a:endParaRPr b="0" i="0" sz="1200" u="none" cap="none" strike="noStrike"/>
          </a:p>
          <a:p>
            <a:pPr indent="0" lvl="0" marL="0" marR="0" rtl="0" algn="l">
              <a:lnSpc>
                <a:spcPct val="150000"/>
              </a:lnSpc>
              <a:spcBef>
                <a:spcPts val="0"/>
              </a:spcBef>
              <a:spcAft>
                <a:spcPts val="0"/>
              </a:spcAft>
              <a:buNone/>
            </a:pPr>
            <a:r>
              <a:t/>
            </a:r>
            <a:endParaRPr b="0" i="0" sz="1200" u="none" cap="none" strike="noStrike"/>
          </a:p>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Detection:</a:t>
            </a:r>
            <a:r>
              <a:rPr b="0" i="0" lang="en-US" sz="1200" u="none" cap="none" strike="noStrike">
                <a:solidFill>
                  <a:srgbClr val="E8ECF1"/>
                </a:solidFill>
                <a:latin typeface="Quattrocento Sans"/>
                <a:ea typeface="Quattrocento Sans"/>
                <a:cs typeface="Quattrocento Sans"/>
                <a:sym typeface="Quattrocento Sans"/>
              </a:rPr>
              <a:t> NtQueueApcThread from unusual sources</a:t>
            </a:r>
            <a:endParaRPr b="0" i="0" sz="1200" u="none" cap="none" strike="noStrike"/>
          </a:p>
        </p:txBody>
      </p:sp>
      <p:sp>
        <p:nvSpPr>
          <p:cNvPr id="165" name="Google Shape;165;p10"/>
          <p:cNvSpPr/>
          <p:nvPr/>
        </p:nvSpPr>
        <p:spPr>
          <a:xfrm>
            <a:off x="10795000" y="2667000"/>
            <a:ext cx="4699000" cy="2540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0"/>
          <p:cNvSpPr/>
          <p:nvPr/>
        </p:nvSpPr>
        <p:spPr>
          <a:xfrm>
            <a:off x="10795000" y="2667000"/>
            <a:ext cx="4699000" cy="508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0"/>
          <p:cNvSpPr/>
          <p:nvPr/>
        </p:nvSpPr>
        <p:spPr>
          <a:xfrm>
            <a:off x="10985500" y="2819400"/>
            <a:ext cx="4318000" cy="2286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THREAD HIJACKING</a:t>
            </a:r>
            <a:endParaRPr b="0" i="0" sz="1200" u="none" cap="none" strike="noStrike"/>
          </a:p>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Target:</a:t>
            </a:r>
            <a:r>
              <a:rPr b="0" i="0" lang="en-US" sz="1200" u="none" cap="none" strike="noStrike">
                <a:solidFill>
                  <a:srgbClr val="E8ECF1"/>
                </a:solidFill>
                <a:latin typeface="Quattrocento Sans"/>
                <a:ea typeface="Quattrocento Sans"/>
                <a:cs typeface="Quattrocento Sans"/>
                <a:sym typeface="Quattrocento Sans"/>
              </a:rPr>
              <a:t> Protected processes (dwm.exe, lsass.exe)</a:t>
            </a:r>
            <a:endParaRPr b="0" i="0" sz="1200" u="none" cap="none" strike="noStrike"/>
          </a:p>
          <a:p>
            <a:pPr indent="0" lvl="0" marL="0" marR="0" rtl="0" algn="l">
              <a:lnSpc>
                <a:spcPct val="150000"/>
              </a:lnSpc>
              <a:spcBef>
                <a:spcPts val="0"/>
              </a:spcBef>
              <a:spcAft>
                <a:spcPts val="0"/>
              </a:spcAft>
              <a:buNone/>
            </a:pPr>
            <a:r>
              <a:t/>
            </a:r>
            <a:endParaRPr b="0" i="0" sz="1200" u="none" cap="none" strike="noStrike"/>
          </a:p>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Steps:</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1. Suspend target thread</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2. GetThreadContext</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3. Modify instruction pointer</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4. SetThreadContext + Resume</a:t>
            </a:r>
            <a:endParaRPr b="0" i="0" sz="1200" u="none" cap="none" strike="noStrike"/>
          </a:p>
          <a:p>
            <a:pPr indent="0" lvl="0" marL="0" marR="0" rtl="0" algn="l">
              <a:lnSpc>
                <a:spcPct val="150000"/>
              </a:lnSpc>
              <a:spcBef>
                <a:spcPts val="0"/>
              </a:spcBef>
              <a:spcAft>
                <a:spcPts val="0"/>
              </a:spcAft>
              <a:buNone/>
            </a:pPr>
            <a:r>
              <a:t/>
            </a:r>
            <a:endParaRPr b="0" i="0" sz="1200" u="none" cap="none" strike="noStrike"/>
          </a:p>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Detection:</a:t>
            </a:r>
            <a:r>
              <a:rPr b="0" i="0" lang="en-US" sz="1200" u="none" cap="none" strike="noStrike">
                <a:solidFill>
                  <a:srgbClr val="E8ECF1"/>
                </a:solidFill>
                <a:latin typeface="Quattrocento Sans"/>
                <a:ea typeface="Quattrocento Sans"/>
                <a:cs typeface="Quattrocento Sans"/>
                <a:sym typeface="Quattrocento Sans"/>
              </a:rPr>
              <a:t> SetThreadContext in remote processes</a:t>
            </a:r>
            <a:endParaRPr b="0" i="0" sz="1200" u="none" cap="none" strike="noStrike"/>
          </a:p>
        </p:txBody>
      </p:sp>
      <p:sp>
        <p:nvSpPr>
          <p:cNvPr id="168" name="Google Shape;168;p10"/>
          <p:cNvSpPr/>
          <p:nvPr/>
        </p:nvSpPr>
        <p:spPr>
          <a:xfrm>
            <a:off x="762000" y="57404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Detection Opportunities — Injection Engine</a:t>
            </a:r>
            <a:endParaRPr b="0" i="0" sz="1800" u="none" cap="none" strike="noStrike"/>
          </a:p>
        </p:txBody>
      </p:sp>
      <p:graphicFrame>
        <p:nvGraphicFramePr>
          <p:cNvPr id="169" name="Google Shape;169;p10"/>
          <p:cNvGraphicFramePr/>
          <p:nvPr/>
        </p:nvGraphicFramePr>
        <p:xfrm>
          <a:off x="762000" y="6184900"/>
          <a:ext cx="3000000" cy="3000000"/>
        </p:xfrm>
        <a:graphic>
          <a:graphicData uri="http://schemas.openxmlformats.org/drawingml/2006/table">
            <a:tbl>
              <a:tblPr>
                <a:noFill/>
                <a:tableStyleId>{8D3EB3A7-DA65-40AD-92DE-6E7132627B1C}</a:tableStyleId>
              </a:tblPr>
              <a:tblGrid>
                <a:gridCol w="4419600"/>
                <a:gridCol w="10312400"/>
              </a:tblGrid>
              <a:tr h="431800">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DETECTION OPPORTUNITY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WHY IT WORKS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r>
              <a:tr h="582925">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CreateProcess + NtUnmapViewOfSection sequence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This specific API call sequence is the hallmark of process hollowing. EDR behavioral detection catches this regardless of which process is targeted.</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582925">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QueueUserAPC from non-system processes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APC injection from a user-mode process into explorer.exe or svchost.exe is highly anomalous. Kernel callbacks (PsSetApcRoutine) can detect this.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561350">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SetThreadContext targeting other processes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SetThreadContext is rarely used legitimately. When it targets a thread in another process, it almost certainly indicates thread hijacking injection.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bl>
          </a:graphicData>
        </a:graphic>
      </p:graphicFrame>
      <p:cxnSp>
        <p:nvCxnSpPr>
          <p:cNvPr id="170" name="Google Shape;170;p10"/>
          <p:cNvCxnSpPr/>
          <p:nvPr/>
        </p:nvCxnSpPr>
        <p:spPr>
          <a:xfrm>
            <a:off x="762000" y="8978900"/>
            <a:ext cx="14732000" cy="0"/>
          </a:xfrm>
          <a:prstGeom prst="straightConnector1">
            <a:avLst/>
          </a:prstGeom>
          <a:noFill/>
          <a:ln cap="flat" cmpd="sng" w="12700">
            <a:solidFill>
              <a:srgbClr val="5A6070"/>
            </a:solidFill>
            <a:prstDash val="solid"/>
            <a:round/>
            <a:headEnd len="sm" w="sm" type="none"/>
            <a:tailEnd len="sm" w="sm" type="none"/>
          </a:ln>
        </p:spPr>
      </p:cxnSp>
      <p:sp>
        <p:nvSpPr>
          <p:cNvPr id="171" name="Google Shape;171;p10"/>
          <p:cNvSpPr/>
          <p:nvPr/>
        </p:nvSpPr>
        <p:spPr>
          <a:xfrm>
            <a:off x="7366000" y="90424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08 / 13</a:t>
            </a:r>
            <a:endParaRPr b="0" i="0" sz="1400" u="none" cap="none" strike="noStrike"/>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176" name="Shape 176"/>
        <p:cNvGrpSpPr/>
        <p:nvPr/>
      </p:nvGrpSpPr>
      <p:grpSpPr>
        <a:xfrm>
          <a:off x="0" y="0"/>
          <a:ext cx="0" cy="0"/>
          <a:chOff x="0" y="0"/>
          <a:chExt cx="0" cy="0"/>
        </a:xfrm>
      </p:grpSpPr>
      <p:sp>
        <p:nvSpPr>
          <p:cNvPr id="177" name="Google Shape;177;p11"/>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SRC-2026-0614-EMOTET</a:t>
            </a:r>
            <a:endParaRPr b="0" i="0" sz="1400" u="none" cap="none" strike="noStrike"/>
          </a:p>
        </p:txBody>
      </p:sp>
      <p:sp>
        <p:nvSpPr>
          <p:cNvPr id="178" name="Google Shape;178;p11"/>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179" name="Google Shape;179;p11"/>
          <p:cNvSpPr/>
          <p:nvPr/>
        </p:nvSpPr>
        <p:spPr>
          <a:xfrm>
            <a:off x="762000" y="698500"/>
            <a:ext cx="14732000" cy="482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600" u="none" cap="none" strike="noStrike">
                <a:solidFill>
                  <a:srgbClr val="FFFFFF"/>
                </a:solidFill>
                <a:latin typeface="Liter"/>
                <a:ea typeface="Liter"/>
                <a:cs typeface="Liter"/>
                <a:sym typeface="Liter"/>
              </a:rPr>
              <a:t>module.c — Plugin Architecture for Extensible Malware</a:t>
            </a:r>
            <a:endParaRPr b="0" i="0" sz="2600" u="none" cap="none" strike="noStrike"/>
          </a:p>
        </p:txBody>
      </p:sp>
      <p:cxnSp>
        <p:nvCxnSpPr>
          <p:cNvPr id="180" name="Google Shape;180;p11"/>
          <p:cNvCxnSpPr/>
          <p:nvPr/>
        </p:nvCxnSpPr>
        <p:spPr>
          <a:xfrm>
            <a:off x="762000" y="1244600"/>
            <a:ext cx="14732000" cy="0"/>
          </a:xfrm>
          <a:prstGeom prst="straightConnector1">
            <a:avLst/>
          </a:prstGeom>
          <a:noFill/>
          <a:ln cap="flat" cmpd="sng" w="12700">
            <a:solidFill>
              <a:srgbClr val="5A6070"/>
            </a:solidFill>
            <a:prstDash val="solid"/>
            <a:round/>
            <a:headEnd len="sm" w="sm" type="none"/>
            <a:tailEnd len="sm" w="sm" type="none"/>
          </a:ln>
        </p:spPr>
      </p:cxnSp>
      <p:sp>
        <p:nvSpPr>
          <p:cNvPr id="181" name="Google Shape;181;p11"/>
          <p:cNvSpPr/>
          <p:nvPr/>
        </p:nvSpPr>
        <p:spPr>
          <a:xfrm>
            <a:off x="762000" y="1397000"/>
            <a:ext cx="3048000" cy="279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OFFENSIVE TECHNIQUE</a:t>
            </a:r>
            <a:endParaRPr b="0" i="0" sz="1200" u="none" cap="none" strike="noStrike"/>
          </a:p>
        </p:txBody>
      </p:sp>
      <p:sp>
        <p:nvSpPr>
          <p:cNvPr id="182" name="Google Shape;182;p11"/>
          <p:cNvSpPr/>
          <p:nvPr/>
        </p:nvSpPr>
        <p:spPr>
          <a:xfrm>
            <a:off x="3937000" y="1397000"/>
            <a:ext cx="6350000" cy="2794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None/>
            </a:pPr>
            <a:r>
              <a:rPr b="0" i="0" lang="en-US" sz="1600" u="none" cap="none" strike="noStrike">
                <a:solidFill>
                  <a:srgbClr val="D92525"/>
                </a:solidFill>
                <a:latin typeface="Quattrocento Sans"/>
                <a:ea typeface="Quattrocento Sans"/>
                <a:cs typeface="Quattrocento Sans"/>
                <a:sym typeface="Quattrocento Sans"/>
              </a:rPr>
              <a:t>On-Demand Plugin Delivery with RSA Verification</a:t>
            </a:r>
            <a:endParaRPr b="0" i="0" sz="1600" u="none" cap="none" strike="noStrike"/>
          </a:p>
        </p:txBody>
      </p:sp>
      <p:sp>
        <p:nvSpPr>
          <p:cNvPr id="183" name="Google Shape;183;p11"/>
          <p:cNvSpPr/>
          <p:nvPr/>
        </p:nvSpPr>
        <p:spPr>
          <a:xfrm>
            <a:off x="762000" y="1841500"/>
            <a:ext cx="14732000" cy="1079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1300" u="none" cap="none" strike="noStrike">
                <a:solidFill>
                  <a:srgbClr val="E8ECF1"/>
                </a:solidFill>
                <a:latin typeface="Quattrocento Sans"/>
                <a:ea typeface="Quattrocento Sans"/>
                <a:cs typeface="Quattrocento Sans"/>
                <a:sym typeface="Quattrocento Sans"/>
              </a:rPr>
              <a:t>Emotet's defining innovation is its </a:t>
            </a:r>
            <a:r>
              <a:rPr b="1" i="0" lang="en-US" sz="1300" u="none" cap="none" strike="noStrike">
                <a:solidFill>
                  <a:srgbClr val="E8ECF1"/>
                </a:solidFill>
                <a:latin typeface="Quattrocento Sans"/>
                <a:ea typeface="Quattrocento Sans"/>
                <a:cs typeface="Quattrocento Sans"/>
                <a:sym typeface="Quattrocento Sans"/>
              </a:rPr>
              <a:t>modular architecture</a:t>
            </a:r>
            <a:r>
              <a:rPr b="0" i="0" lang="en-US" sz="1300" u="none" cap="none" strike="noStrike">
                <a:solidFill>
                  <a:srgbClr val="E8ECF1"/>
                </a:solidFill>
                <a:latin typeface="Quattrocento Sans"/>
                <a:ea typeface="Quattrocento Sans"/>
                <a:cs typeface="Quattrocento Sans"/>
                <a:sym typeface="Quattrocento Sans"/>
              </a:rPr>
              <a:t>. The core loader maintains C2 and persistence, while actual malicious functionality is delivered as separately loaded DLL plugins. All plugins are </a:t>
            </a:r>
            <a:r>
              <a:rPr b="1" i="0" lang="en-US" sz="1300" u="none" cap="none" strike="noStrike">
                <a:solidFill>
                  <a:srgbClr val="E8ECF1"/>
                </a:solidFill>
                <a:latin typeface="Quattrocento Sans"/>
                <a:ea typeface="Quattrocento Sans"/>
                <a:cs typeface="Quattrocento Sans"/>
                <a:sym typeface="Quattrocento Sans"/>
              </a:rPr>
              <a:t>RSA-signed</a:t>
            </a:r>
            <a:r>
              <a:rPr b="0" i="0" lang="en-US" sz="1300" u="none" cap="none" strike="noStrike">
                <a:solidFill>
                  <a:srgbClr val="E8ECF1"/>
                </a:solidFill>
                <a:latin typeface="Quattrocento Sans"/>
                <a:ea typeface="Quattrocento Sans"/>
                <a:cs typeface="Quattrocento Sans"/>
                <a:sym typeface="Quattrocento Sans"/>
              </a:rPr>
              <a:t> to prevent tampering.</a:t>
            </a:r>
            <a:endParaRPr b="0" i="0" sz="1300" u="none" cap="none" strike="noStrike"/>
          </a:p>
        </p:txBody>
      </p:sp>
      <p:sp>
        <p:nvSpPr>
          <p:cNvPr id="184" name="Google Shape;184;p11"/>
          <p:cNvSpPr/>
          <p:nvPr/>
        </p:nvSpPr>
        <p:spPr>
          <a:xfrm>
            <a:off x="762000" y="26416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Plugin Module Types</a:t>
            </a:r>
            <a:endParaRPr b="0" i="0" sz="1800" u="none" cap="none" strike="noStrike"/>
          </a:p>
        </p:txBody>
      </p:sp>
      <p:graphicFrame>
        <p:nvGraphicFramePr>
          <p:cNvPr id="185" name="Google Shape;185;p11"/>
          <p:cNvGraphicFramePr/>
          <p:nvPr/>
        </p:nvGraphicFramePr>
        <p:xfrm>
          <a:off x="762000" y="3289300"/>
          <a:ext cx="3000000" cy="3000000"/>
        </p:xfrm>
        <a:graphic>
          <a:graphicData uri="http://schemas.openxmlformats.org/drawingml/2006/table">
            <a:tbl>
              <a:tblPr>
                <a:noFill/>
                <a:tableStyleId>{8D3EB3A7-DA65-40AD-92DE-6E7132627B1C}</a:tableStyleId>
              </a:tblPr>
              <a:tblGrid>
                <a:gridCol w="2651750"/>
                <a:gridCol w="3241050"/>
                <a:gridCol w="4419600"/>
                <a:gridCol w="4419600"/>
              </a:tblGrid>
              <a:tr h="373375">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MODULE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TYPE ID</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FUNCTION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TARGET DATA</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r>
              <a:tr h="45872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Banking</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0x01</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Web injects and banking credential theft</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Online banking sessions, 2FA bypass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45872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Spam</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0x02</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Email propagation engine (mailer.dll)</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Contact lists, email threads, SMTP</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45872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Credentials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0x03</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Outlook/browser credential harvesting</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Email credentials, browser cookies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45872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Spreading</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0x04</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Network lateral movement</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SMB shares, credential brute-force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45872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DDOS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0x05</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Distributed denial of service (rarely used)</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Target IPs provided by C2</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bl>
          </a:graphicData>
        </a:graphic>
      </p:graphicFrame>
      <p:sp>
        <p:nvSpPr>
          <p:cNvPr id="186" name="Google Shape;186;p11"/>
          <p:cNvSpPr/>
          <p:nvPr/>
        </p:nvSpPr>
        <p:spPr>
          <a:xfrm>
            <a:off x="762000" y="62484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Plugin Delivery Pipeline</a:t>
            </a:r>
            <a:endParaRPr b="0" i="0" sz="1800" u="none" cap="none" strike="noStrike"/>
          </a:p>
        </p:txBody>
      </p:sp>
      <p:sp>
        <p:nvSpPr>
          <p:cNvPr id="187" name="Google Shape;187;p11"/>
          <p:cNvSpPr/>
          <p:nvPr/>
        </p:nvSpPr>
        <p:spPr>
          <a:xfrm>
            <a:off x="762000" y="6692900"/>
            <a:ext cx="14732000" cy="16510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1" i="0" lang="en-US" sz="1500" u="none" cap="none" strike="noStrike">
                <a:solidFill>
                  <a:srgbClr val="E8ECF1"/>
                </a:solidFill>
                <a:latin typeface="Quattrocento Sans"/>
                <a:ea typeface="Quattrocento Sans"/>
                <a:cs typeface="Quattrocento Sans"/>
                <a:sym typeface="Quattrocento Sans"/>
              </a:rPr>
              <a:t>1. C2 Command</a:t>
            </a:r>
            <a:r>
              <a:rPr b="0" i="0" lang="en-US" sz="1500" u="none" cap="none" strike="noStrike">
                <a:solidFill>
                  <a:srgbClr val="E8ECF1"/>
                </a:solidFill>
                <a:latin typeface="Quattrocento Sans"/>
                <a:ea typeface="Quattrocento Sans"/>
                <a:cs typeface="Quattrocento Sans"/>
                <a:sym typeface="Quattrocento Sans"/>
              </a:rPr>
              <a:t> — Core loader receives module download command with module ID and URL</a:t>
            </a:r>
            <a:endParaRPr b="0" i="0" sz="1500" u="none" cap="none" strike="noStrike"/>
          </a:p>
          <a:p>
            <a:pPr indent="0" lvl="0" marL="0" marR="0" rtl="0" algn="l">
              <a:lnSpc>
                <a:spcPct val="160000"/>
              </a:lnSpc>
              <a:spcBef>
                <a:spcPts val="0"/>
              </a:spcBef>
              <a:spcAft>
                <a:spcPts val="0"/>
              </a:spcAft>
              <a:buNone/>
            </a:pPr>
            <a:r>
              <a:rPr b="1" i="0" lang="en-US" sz="1500" u="none" cap="none" strike="noStrike">
                <a:solidFill>
                  <a:srgbClr val="E8ECF1"/>
                </a:solidFill>
                <a:latin typeface="Quattrocento Sans"/>
                <a:ea typeface="Quattrocento Sans"/>
                <a:cs typeface="Quattrocento Sans"/>
                <a:sym typeface="Quattrocento Sans"/>
              </a:rPr>
              <a:t>2. Download</a:t>
            </a:r>
            <a:r>
              <a:rPr b="0" i="0" lang="en-US" sz="1500" u="none" cap="none" strike="noStrike">
                <a:solidFill>
                  <a:srgbClr val="E8ECF1"/>
                </a:solidFill>
                <a:latin typeface="Quattrocento Sans"/>
                <a:ea typeface="Quattrocento Sans"/>
                <a:cs typeface="Quattrocento Sans"/>
                <a:sym typeface="Quattrocento Sans"/>
              </a:rPr>
              <a:t> — Plugin downloaded over HTTP (LZMA-compressed, RC4-encrypted payload)</a:t>
            </a:r>
            <a:endParaRPr b="0" i="0" sz="1500" u="none" cap="none" strike="noStrike"/>
          </a:p>
          <a:p>
            <a:pPr indent="0" lvl="0" marL="0" marR="0" rtl="0" algn="l">
              <a:lnSpc>
                <a:spcPct val="160000"/>
              </a:lnSpc>
              <a:spcBef>
                <a:spcPts val="0"/>
              </a:spcBef>
              <a:spcAft>
                <a:spcPts val="0"/>
              </a:spcAft>
              <a:buNone/>
            </a:pPr>
            <a:r>
              <a:rPr b="1" i="0" lang="en-US" sz="1500" u="none" cap="none" strike="noStrike">
                <a:solidFill>
                  <a:srgbClr val="E8ECF1"/>
                </a:solidFill>
                <a:latin typeface="Quattrocento Sans"/>
                <a:ea typeface="Quattrocento Sans"/>
                <a:cs typeface="Quattrocento Sans"/>
                <a:sym typeface="Quattrocento Sans"/>
              </a:rPr>
              <a:t>3. Verify</a:t>
            </a:r>
            <a:r>
              <a:rPr b="0" i="0" lang="en-US" sz="1500" u="none" cap="none" strike="noStrike">
                <a:solidFill>
                  <a:srgbClr val="E8ECF1"/>
                </a:solidFill>
                <a:latin typeface="Quattrocento Sans"/>
                <a:ea typeface="Quattrocento Sans"/>
                <a:cs typeface="Quattrocento Sans"/>
                <a:sym typeface="Quattrocento Sans"/>
              </a:rPr>
              <a:t> — RSA signature verified against embedded public key — </a:t>
            </a:r>
            <a:r>
              <a:rPr b="1" i="0" lang="en-US" sz="1500" u="none" cap="none" strike="noStrike">
                <a:solidFill>
                  <a:srgbClr val="E8ECF1"/>
                </a:solidFill>
                <a:latin typeface="Quattrocento Sans"/>
                <a:ea typeface="Quattrocento Sans"/>
                <a:cs typeface="Quattrocento Sans"/>
                <a:sym typeface="Quattrocento Sans"/>
              </a:rPr>
              <a:t>rejected if invalid</a:t>
            </a:r>
            <a:endParaRPr b="0" i="0" sz="1500" u="none" cap="none" strike="noStrike"/>
          </a:p>
          <a:p>
            <a:pPr indent="0" lvl="0" marL="0" marR="0" rtl="0" algn="l">
              <a:lnSpc>
                <a:spcPct val="160000"/>
              </a:lnSpc>
              <a:spcBef>
                <a:spcPts val="0"/>
              </a:spcBef>
              <a:spcAft>
                <a:spcPts val="0"/>
              </a:spcAft>
              <a:buNone/>
            </a:pPr>
            <a:r>
              <a:rPr b="1" i="0" lang="en-US" sz="1500" u="none" cap="none" strike="noStrike">
                <a:solidFill>
                  <a:srgbClr val="E8ECF1"/>
                </a:solidFill>
                <a:latin typeface="Quattrocento Sans"/>
                <a:ea typeface="Quattrocento Sans"/>
                <a:cs typeface="Quattrocento Sans"/>
                <a:sym typeface="Quattrocento Sans"/>
              </a:rPr>
              <a:t>4. Decrypt</a:t>
            </a:r>
            <a:r>
              <a:rPr b="0" i="0" lang="en-US" sz="1500" u="none" cap="none" strike="noStrike">
                <a:solidFill>
                  <a:srgbClr val="E8ECF1"/>
                </a:solidFill>
                <a:latin typeface="Quattrocento Sans"/>
                <a:ea typeface="Quattrocento Sans"/>
                <a:cs typeface="Quattrocento Sans"/>
                <a:sym typeface="Quattrocento Sans"/>
              </a:rPr>
              <a:t> — RC4 decrypted using bot-derived key, LZMA decompressed to raw DLL</a:t>
            </a:r>
            <a:endParaRPr b="0" i="0" sz="1500" u="none" cap="none" strike="noStrike"/>
          </a:p>
          <a:p>
            <a:pPr indent="0" lvl="0" marL="0" marR="0" rtl="0" algn="l">
              <a:lnSpc>
                <a:spcPct val="160000"/>
              </a:lnSpc>
              <a:spcBef>
                <a:spcPts val="0"/>
              </a:spcBef>
              <a:spcAft>
                <a:spcPts val="0"/>
              </a:spcAft>
              <a:buNone/>
            </a:pPr>
            <a:r>
              <a:rPr b="1" i="0" lang="en-US" sz="1500" u="none" cap="none" strike="noStrike">
                <a:solidFill>
                  <a:srgbClr val="E8ECF1"/>
                </a:solidFill>
                <a:latin typeface="Quattrocento Sans"/>
                <a:ea typeface="Quattrocento Sans"/>
                <a:cs typeface="Quattrocento Sans"/>
                <a:sym typeface="Quattrocento Sans"/>
              </a:rPr>
              <a:t>5. Inject</a:t>
            </a:r>
            <a:r>
              <a:rPr b="0" i="0" lang="en-US" sz="1500" u="none" cap="none" strike="noStrike">
                <a:solidFill>
                  <a:srgbClr val="E8ECF1"/>
                </a:solidFill>
                <a:latin typeface="Quattrocento Sans"/>
                <a:ea typeface="Quattrocento Sans"/>
                <a:cs typeface="Quattrocento Sans"/>
                <a:sym typeface="Quattrocento Sans"/>
              </a:rPr>
              <a:t> — DLL injected into appropriate target process using technique from inject.c</a:t>
            </a:r>
            <a:endParaRPr b="0" i="0" sz="1500" u="none" cap="none" strike="noStrike"/>
          </a:p>
        </p:txBody>
      </p:sp>
      <p:cxnSp>
        <p:nvCxnSpPr>
          <p:cNvPr id="188" name="Google Shape;188;p11"/>
          <p:cNvCxnSpPr/>
          <p:nvPr/>
        </p:nvCxnSpPr>
        <p:spPr>
          <a:xfrm>
            <a:off x="762000" y="8978900"/>
            <a:ext cx="14732000" cy="0"/>
          </a:xfrm>
          <a:prstGeom prst="straightConnector1">
            <a:avLst/>
          </a:prstGeom>
          <a:noFill/>
          <a:ln cap="flat" cmpd="sng" w="12700">
            <a:solidFill>
              <a:srgbClr val="5A6070"/>
            </a:solidFill>
            <a:prstDash val="solid"/>
            <a:round/>
            <a:headEnd len="sm" w="sm" type="none"/>
            <a:tailEnd len="sm" w="sm" type="none"/>
          </a:ln>
        </p:spPr>
      </p:cxnSp>
      <p:sp>
        <p:nvSpPr>
          <p:cNvPr id="189" name="Google Shape;189;p11"/>
          <p:cNvSpPr/>
          <p:nvPr/>
        </p:nvSpPr>
        <p:spPr>
          <a:xfrm>
            <a:off x="7366000" y="90424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09 / 13</a:t>
            </a:r>
            <a:endParaRPr b="0" i="0" sz="1400" u="none" cap="none" strike="noStrike"/>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D21"/>
        </a:solidFill>
      </p:bgPr>
    </p:bg>
    <p:spTree>
      <p:nvGrpSpPr>
        <p:cNvPr id="194" name="Shape 194"/>
        <p:cNvGrpSpPr/>
        <p:nvPr/>
      </p:nvGrpSpPr>
      <p:grpSpPr>
        <a:xfrm>
          <a:off x="0" y="0"/>
          <a:ext cx="0" cy="0"/>
          <a:chOff x="0" y="0"/>
          <a:chExt cx="0" cy="0"/>
        </a:xfrm>
      </p:grpSpPr>
      <p:sp>
        <p:nvSpPr>
          <p:cNvPr id="195" name="Google Shape;195;p12"/>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SRC-2026-0614-EMOTET</a:t>
            </a:r>
            <a:endParaRPr b="0" i="0" sz="1400" u="none" cap="none" strike="noStrike"/>
          </a:p>
        </p:txBody>
      </p:sp>
      <p:sp>
        <p:nvSpPr>
          <p:cNvPr id="196" name="Google Shape;196;p12"/>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197" name="Google Shape;197;p12"/>
          <p:cNvSpPr/>
          <p:nvPr/>
        </p:nvSpPr>
        <p:spPr>
          <a:xfrm>
            <a:off x="762000" y="2286000"/>
            <a:ext cx="2540000" cy="1016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7200" u="none" cap="none" strike="noStrike">
                <a:solidFill>
                  <a:srgbClr val="D92525"/>
                </a:solidFill>
                <a:latin typeface="Liter"/>
                <a:ea typeface="Liter"/>
                <a:cs typeface="Liter"/>
                <a:sym typeface="Liter"/>
              </a:rPr>
              <a:t>03</a:t>
            </a:r>
            <a:endParaRPr b="0" i="0" sz="7200" u="none" cap="none" strike="noStrike"/>
          </a:p>
        </p:txBody>
      </p:sp>
      <p:cxnSp>
        <p:nvCxnSpPr>
          <p:cNvPr id="198" name="Google Shape;198;p12"/>
          <p:cNvCxnSpPr/>
          <p:nvPr/>
        </p:nvCxnSpPr>
        <p:spPr>
          <a:xfrm>
            <a:off x="762000" y="3556000"/>
            <a:ext cx="2540000" cy="0"/>
          </a:xfrm>
          <a:prstGeom prst="straightConnector1">
            <a:avLst/>
          </a:prstGeom>
          <a:noFill/>
          <a:ln cap="flat" cmpd="sng" w="38100">
            <a:solidFill>
              <a:srgbClr val="D92525"/>
            </a:solidFill>
            <a:prstDash val="solid"/>
            <a:round/>
            <a:headEnd len="sm" w="sm" type="none"/>
            <a:tailEnd len="sm" w="sm" type="none"/>
          </a:ln>
        </p:spPr>
      </p:cxnSp>
      <p:sp>
        <p:nvSpPr>
          <p:cNvPr id="199" name="Google Shape;199;p12"/>
          <p:cNvSpPr/>
          <p:nvPr/>
        </p:nvSpPr>
        <p:spPr>
          <a:xfrm>
            <a:off x="762000" y="3810000"/>
            <a:ext cx="12700000" cy="698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4400" u="none" cap="none" strike="noStrike">
                <a:solidFill>
                  <a:srgbClr val="FFFFFF"/>
                </a:solidFill>
                <a:latin typeface="Liter"/>
                <a:ea typeface="Liter"/>
                <a:cs typeface="Liter"/>
                <a:sym typeface="Liter"/>
              </a:rPr>
              <a:t>PROPAGATION AND EVASION</a:t>
            </a:r>
            <a:endParaRPr b="0" i="0" sz="4400" u="none" cap="none" strike="noStrike"/>
          </a:p>
        </p:txBody>
      </p:sp>
      <p:sp>
        <p:nvSpPr>
          <p:cNvPr id="200" name="Google Shape;200;p12"/>
          <p:cNvSpPr/>
          <p:nvPr/>
        </p:nvSpPr>
        <p:spPr>
          <a:xfrm>
            <a:off x="762000" y="4699000"/>
            <a:ext cx="11430000" cy="4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2200" u="none" cap="none" strike="noStrike">
                <a:solidFill>
                  <a:srgbClr val="8C95A5"/>
                </a:solidFill>
                <a:latin typeface="Quattrocento Sans"/>
                <a:ea typeface="Quattrocento Sans"/>
                <a:cs typeface="Quattrocento Sans"/>
                <a:sym typeface="Quattrocento Sans"/>
              </a:rPr>
              <a:t>Email Thread Hijacking | Network Lateral Movement | Anti-Analysis</a:t>
            </a:r>
            <a:endParaRPr b="0" i="0" sz="2200" u="none" cap="none" strike="noStrike"/>
          </a:p>
        </p:txBody>
      </p:sp>
      <p:sp>
        <p:nvSpPr>
          <p:cNvPr id="201" name="Google Shape;201;p12"/>
          <p:cNvSpPr/>
          <p:nvPr/>
        </p:nvSpPr>
        <p:spPr>
          <a:xfrm>
            <a:off x="762000" y="5842000"/>
            <a:ext cx="10160000" cy="2159000"/>
          </a:xfrm>
          <a:prstGeom prst="rect">
            <a:avLst/>
          </a:prstGeom>
          <a:noFill/>
          <a:ln>
            <a:noFill/>
          </a:ln>
        </p:spPr>
        <p:txBody>
          <a:bodyPr anchorCtr="0" anchor="t" bIns="0" lIns="0" spcFirstLastPara="1" rIns="0" wrap="square" tIns="0">
            <a:noAutofit/>
          </a:bodyPr>
          <a:lstStyle/>
          <a:p>
            <a:pPr indent="0" lvl="0" marL="0" marR="0" rtl="0" algn="l">
              <a:lnSpc>
                <a:spcPct val="180000"/>
              </a:lnSpc>
              <a:spcBef>
                <a:spcPts val="0"/>
              </a:spcBef>
              <a:spcAft>
                <a:spcPts val="0"/>
              </a:spcAft>
              <a:buNone/>
            </a:pPr>
            <a:r>
              <a:rPr b="1" i="0" lang="en-US" sz="1600" u="none" cap="none" strike="noStrike">
                <a:solidFill>
                  <a:srgbClr val="8C95A5"/>
                </a:solidFill>
                <a:latin typeface="Quattrocento Sans"/>
                <a:ea typeface="Quattrocento Sans"/>
                <a:cs typeface="Quattrocento Sans"/>
                <a:sym typeface="Quattrocento Sans"/>
              </a:rPr>
              <a:t>THREAT PROFILE:</a:t>
            </a:r>
            <a:r>
              <a:rPr b="0" i="0" lang="en-US" sz="1600" u="none" cap="none" strike="noStrike">
                <a:solidFill>
                  <a:srgbClr val="8C95A5"/>
                </a:solidFill>
                <a:latin typeface="Quattrocento Sans"/>
                <a:ea typeface="Quattrocento Sans"/>
                <a:cs typeface="Quattrocento Sans"/>
                <a:sym typeface="Quattrocento Sans"/>
              </a:rPr>
              <a:t> Self-Propagating Modular Trojan</a:t>
            </a:r>
            <a:endParaRPr b="0" i="0" sz="1600" u="none" cap="none" strike="noStrike"/>
          </a:p>
          <a:p>
            <a:pPr indent="0" lvl="0" marL="0" marR="0" rtl="0" algn="l">
              <a:lnSpc>
                <a:spcPct val="180000"/>
              </a:lnSpc>
              <a:spcBef>
                <a:spcPts val="0"/>
              </a:spcBef>
              <a:spcAft>
                <a:spcPts val="0"/>
              </a:spcAft>
              <a:buNone/>
            </a:pPr>
            <a:r>
              <a:rPr b="1" i="0" lang="en-US" sz="1600" u="none" cap="none" strike="noStrike">
                <a:solidFill>
                  <a:srgbClr val="8C95A5"/>
                </a:solidFill>
                <a:latin typeface="Quattrocento Sans"/>
                <a:ea typeface="Quattrocento Sans"/>
                <a:cs typeface="Quattrocento Sans"/>
                <a:sym typeface="Quattrocento Sans"/>
              </a:rPr>
              <a:t>Spreading:</a:t>
            </a:r>
            <a:r>
              <a:rPr b="0" i="0" lang="en-US" sz="1600" u="none" cap="none" strike="noStrike">
                <a:solidFill>
                  <a:srgbClr val="8C95A5"/>
                </a:solidFill>
                <a:latin typeface="Quattrocento Sans"/>
                <a:ea typeface="Quattrocento Sans"/>
                <a:cs typeface="Quattrocento Sans"/>
                <a:sym typeface="Quattrocento Sans"/>
              </a:rPr>
              <a:t> Email thread hijacking, SMB brute-force, credential theft</a:t>
            </a:r>
            <a:endParaRPr b="0" i="0" sz="1600" u="none" cap="none" strike="noStrike"/>
          </a:p>
          <a:p>
            <a:pPr indent="0" lvl="0" marL="0" marR="0" rtl="0" algn="l">
              <a:lnSpc>
                <a:spcPct val="180000"/>
              </a:lnSpc>
              <a:spcBef>
                <a:spcPts val="0"/>
              </a:spcBef>
              <a:spcAft>
                <a:spcPts val="0"/>
              </a:spcAft>
              <a:buNone/>
            </a:pPr>
            <a:r>
              <a:rPr b="1" i="0" lang="en-US" sz="1600" u="none" cap="none" strike="noStrike">
                <a:solidFill>
                  <a:srgbClr val="8C95A5"/>
                </a:solidFill>
                <a:latin typeface="Quattrocento Sans"/>
                <a:ea typeface="Quattrocento Sans"/>
                <a:cs typeface="Quattrocento Sans"/>
                <a:sym typeface="Quattrocento Sans"/>
              </a:rPr>
              <a:t>Evasion:</a:t>
            </a:r>
            <a:r>
              <a:rPr b="0" i="0" lang="en-US" sz="1600" u="none" cap="none" strike="noStrike">
                <a:solidFill>
                  <a:srgbClr val="8C95A5"/>
                </a:solidFill>
                <a:latin typeface="Quattrocento Sans"/>
                <a:ea typeface="Quattrocento Sans"/>
                <a:cs typeface="Quattrocento Sans"/>
                <a:sym typeface="Quattrocento Sans"/>
              </a:rPr>
              <a:t> Code obfuscation, API hashing, encrypted C2 communications</a:t>
            </a:r>
            <a:endParaRPr b="0" i="0" sz="1600" u="none" cap="none" strike="noStrike"/>
          </a:p>
          <a:p>
            <a:pPr indent="0" lvl="0" marL="0" marR="0" rtl="0" algn="l">
              <a:lnSpc>
                <a:spcPct val="180000"/>
              </a:lnSpc>
              <a:spcBef>
                <a:spcPts val="0"/>
              </a:spcBef>
              <a:spcAft>
                <a:spcPts val="0"/>
              </a:spcAft>
              <a:buNone/>
            </a:pPr>
            <a:r>
              <a:rPr b="1" i="0" lang="en-US" sz="1600" u="none" cap="none" strike="noStrike">
                <a:solidFill>
                  <a:srgbClr val="8C95A5"/>
                </a:solidFill>
                <a:latin typeface="Quattrocento Sans"/>
                <a:ea typeface="Quattrocento Sans"/>
                <a:cs typeface="Quattrocento Sans"/>
                <a:sym typeface="Quattrocento Sans"/>
              </a:rPr>
              <a:t>Volume:</a:t>
            </a:r>
            <a:r>
              <a:rPr b="0" i="0" lang="en-US" sz="1600" u="none" cap="none" strike="noStrike">
                <a:solidFill>
                  <a:srgbClr val="8C95A5"/>
                </a:solidFill>
                <a:latin typeface="Quattrocento Sans"/>
                <a:ea typeface="Quattrocento Sans"/>
                <a:cs typeface="Quattrocento Sans"/>
                <a:sym typeface="Quattrocento Sans"/>
              </a:rPr>
              <a:t> 1M+ malspam emails per epoch cycle</a:t>
            </a:r>
            <a:endParaRPr b="0" i="0" sz="1600" u="none" cap="none" strike="noStrike"/>
          </a:p>
        </p:txBody>
      </p:sp>
      <p:cxnSp>
        <p:nvCxnSpPr>
          <p:cNvPr id="202" name="Google Shape;202;p12"/>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203" name="Google Shape;203;p12"/>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10 / 13</a:t>
            </a:r>
            <a:endParaRPr b="0" i="0" sz="1400" u="none" cap="none" strike="noStrike"/>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208" name="Shape 208"/>
        <p:cNvGrpSpPr/>
        <p:nvPr/>
      </p:nvGrpSpPr>
      <p:grpSpPr>
        <a:xfrm>
          <a:off x="0" y="0"/>
          <a:ext cx="0" cy="0"/>
          <a:chOff x="0" y="0"/>
          <a:chExt cx="0" cy="0"/>
        </a:xfrm>
      </p:grpSpPr>
      <p:sp>
        <p:nvSpPr>
          <p:cNvPr id="209" name="Google Shape;209;p13"/>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SRC-2026-0614-EMOTET</a:t>
            </a:r>
            <a:endParaRPr b="0" i="0" sz="1400" u="none" cap="none" strike="noStrike"/>
          </a:p>
        </p:txBody>
      </p:sp>
      <p:sp>
        <p:nvSpPr>
          <p:cNvPr id="210" name="Google Shape;210;p13"/>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211" name="Google Shape;211;p13"/>
          <p:cNvSpPr/>
          <p:nvPr/>
        </p:nvSpPr>
        <p:spPr>
          <a:xfrm>
            <a:off x="762000" y="698500"/>
            <a:ext cx="14732000" cy="482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600" u="none" cap="none" strike="noStrike">
                <a:solidFill>
                  <a:srgbClr val="FFFFFF"/>
                </a:solidFill>
                <a:latin typeface="Liter"/>
                <a:ea typeface="Liter"/>
                <a:cs typeface="Liter"/>
                <a:sym typeface="Liter"/>
              </a:rPr>
              <a:t>mailer.dll — Email Thread Hijacking and Spam Propagation</a:t>
            </a:r>
            <a:endParaRPr b="0" i="0" sz="2600" u="none" cap="none" strike="noStrike"/>
          </a:p>
        </p:txBody>
      </p:sp>
      <p:cxnSp>
        <p:nvCxnSpPr>
          <p:cNvPr id="212" name="Google Shape;212;p13"/>
          <p:cNvCxnSpPr/>
          <p:nvPr/>
        </p:nvCxnSpPr>
        <p:spPr>
          <a:xfrm>
            <a:off x="762000" y="1244600"/>
            <a:ext cx="14732000" cy="0"/>
          </a:xfrm>
          <a:prstGeom prst="straightConnector1">
            <a:avLst/>
          </a:prstGeom>
          <a:noFill/>
          <a:ln cap="flat" cmpd="sng" w="12700">
            <a:solidFill>
              <a:srgbClr val="5A6070"/>
            </a:solidFill>
            <a:prstDash val="solid"/>
            <a:round/>
            <a:headEnd len="sm" w="sm" type="none"/>
            <a:tailEnd len="sm" w="sm" type="none"/>
          </a:ln>
        </p:spPr>
      </p:cxnSp>
      <p:sp>
        <p:nvSpPr>
          <p:cNvPr id="213" name="Google Shape;213;p13"/>
          <p:cNvSpPr/>
          <p:nvPr/>
        </p:nvSpPr>
        <p:spPr>
          <a:xfrm>
            <a:off x="762000" y="1397000"/>
            <a:ext cx="3048000" cy="279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OFFENSIVE TECHNIQUE</a:t>
            </a:r>
            <a:endParaRPr b="0" i="0" sz="1200" u="none" cap="none" strike="noStrike"/>
          </a:p>
        </p:txBody>
      </p:sp>
      <p:sp>
        <p:nvSpPr>
          <p:cNvPr id="214" name="Google Shape;214;p13"/>
          <p:cNvSpPr/>
          <p:nvPr/>
        </p:nvSpPr>
        <p:spPr>
          <a:xfrm>
            <a:off x="3937000" y="1397000"/>
            <a:ext cx="7620000" cy="2794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None/>
            </a:pPr>
            <a:r>
              <a:rPr b="0" i="0" lang="en-US" sz="1600" u="none" cap="none" strike="noStrike">
                <a:solidFill>
                  <a:srgbClr val="D92525"/>
                </a:solidFill>
                <a:latin typeface="Quattrocento Sans"/>
                <a:ea typeface="Quattrocento Sans"/>
                <a:cs typeface="Quattrocento Sans"/>
                <a:sym typeface="Quattrocento Sans"/>
              </a:rPr>
              <a:t>Email Thread Hijacking, Contact List Harvesting, SMTP Relay</a:t>
            </a:r>
            <a:endParaRPr b="0" i="0" sz="1600" u="none" cap="none" strike="noStrike"/>
          </a:p>
        </p:txBody>
      </p:sp>
      <p:sp>
        <p:nvSpPr>
          <p:cNvPr id="215" name="Google Shape;215;p13"/>
          <p:cNvSpPr/>
          <p:nvPr/>
        </p:nvSpPr>
        <p:spPr>
          <a:xfrm>
            <a:off x="762000" y="1841500"/>
            <a:ext cx="14732000" cy="1079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1300" u="none" cap="none" strike="noStrike">
                <a:solidFill>
                  <a:srgbClr val="E8ECF1"/>
                </a:solidFill>
                <a:latin typeface="Quattrocento Sans"/>
                <a:ea typeface="Quattrocento Sans"/>
                <a:cs typeface="Quattrocento Sans"/>
                <a:sym typeface="Quattrocento Sans"/>
              </a:rPr>
              <a:t>Emotet's </a:t>
            </a:r>
            <a:r>
              <a:rPr b="1" i="0" lang="en-US" sz="1300" u="none" cap="none" strike="noStrike">
                <a:solidFill>
                  <a:srgbClr val="E8ECF1"/>
                </a:solidFill>
                <a:latin typeface="Quattrocento Sans"/>
                <a:ea typeface="Quattrocento Sans"/>
                <a:cs typeface="Quattrocento Sans"/>
                <a:sym typeface="Quattrocento Sans"/>
              </a:rPr>
              <a:t>mailer.dll</a:t>
            </a:r>
            <a:r>
              <a:rPr b="0" i="0" lang="en-US" sz="1300" u="none" cap="none" strike="noStrike">
                <a:solidFill>
                  <a:srgbClr val="E8ECF1"/>
                </a:solidFill>
                <a:latin typeface="Quattrocento Sans"/>
                <a:ea typeface="Quattrocento Sans"/>
                <a:cs typeface="Quattrocento Sans"/>
                <a:sym typeface="Quattrocento Sans"/>
              </a:rPr>
              <a:t> plugin is its primary propagation engine. Unlike simple mass-spam, Emotet steals email conversations from victim inboxes and crafts </a:t>
            </a:r>
            <a:r>
              <a:rPr b="1" i="0" lang="en-US" sz="1300" u="none" cap="none" strike="noStrike">
                <a:solidFill>
                  <a:srgbClr val="E8ECF1"/>
                </a:solidFill>
                <a:latin typeface="Quattrocento Sans"/>
                <a:ea typeface="Quattrocento Sans"/>
                <a:cs typeface="Quattrocento Sans"/>
                <a:sym typeface="Quattrocento Sans"/>
              </a:rPr>
              <a:t>reply-chain attacks</a:t>
            </a:r>
            <a:r>
              <a:rPr b="0" i="0" lang="en-US" sz="1300" u="none" cap="none" strike="noStrike">
                <a:solidFill>
                  <a:srgbClr val="E8ECF1"/>
                </a:solidFill>
                <a:latin typeface="Quattrocento Sans"/>
                <a:ea typeface="Quattrocento Sans"/>
                <a:cs typeface="Quattrocento Sans"/>
                <a:sym typeface="Quattrocento Sans"/>
              </a:rPr>
              <a:t> that inherit the trust of existing threads — achieving dramatically higher open rates.</a:t>
            </a:r>
            <a:endParaRPr b="0" i="0" sz="1300" u="none" cap="none" strike="noStrike"/>
          </a:p>
        </p:txBody>
      </p:sp>
      <p:sp>
        <p:nvSpPr>
          <p:cNvPr id="216" name="Google Shape;216;p13"/>
          <p:cNvSpPr/>
          <p:nvPr/>
        </p:nvSpPr>
        <p:spPr>
          <a:xfrm>
            <a:off x="762000" y="2667000"/>
            <a:ext cx="7112000" cy="2794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3"/>
          <p:cNvSpPr/>
          <p:nvPr/>
        </p:nvSpPr>
        <p:spPr>
          <a:xfrm>
            <a:off x="762000" y="2667000"/>
            <a:ext cx="50800" cy="2794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3"/>
          <p:cNvSpPr/>
          <p:nvPr/>
        </p:nvSpPr>
        <p:spPr>
          <a:xfrm>
            <a:off x="1016000" y="2794000"/>
            <a:ext cx="6667500" cy="2540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300" u="none" cap="none" strike="noStrike">
                <a:solidFill>
                  <a:srgbClr val="E8ECF1"/>
                </a:solidFill>
                <a:latin typeface="Quattrocento Sans"/>
                <a:ea typeface="Quattrocento Sans"/>
                <a:cs typeface="Quattrocento Sans"/>
                <a:sym typeface="Quattrocento Sans"/>
              </a:rPr>
              <a:t>EMAIL THREAD HIJACKING</a:t>
            </a:r>
            <a:endParaRPr b="0" i="0" sz="1300" u="none" cap="none" strike="noStrike"/>
          </a:p>
          <a:p>
            <a:pPr indent="0" lvl="0" marL="0" marR="0" rtl="0" algn="l">
              <a:lnSpc>
                <a:spcPct val="150000"/>
              </a:lnSpc>
              <a:spcBef>
                <a:spcPts val="0"/>
              </a:spcBef>
              <a:spcAft>
                <a:spcPts val="0"/>
              </a:spcAft>
              <a:buNone/>
            </a:pPr>
            <a:r>
              <a:t/>
            </a:r>
            <a:endParaRPr b="0" i="0" sz="1300" u="none" cap="none" strike="noStrike"/>
          </a:p>
          <a:p>
            <a:pPr indent="0" lvl="0" marL="0" marR="0" rtl="0" algn="l">
              <a:lnSpc>
                <a:spcPct val="150000"/>
              </a:lnSpc>
              <a:spcBef>
                <a:spcPts val="0"/>
              </a:spcBef>
              <a:spcAft>
                <a:spcPts val="0"/>
              </a:spcAft>
              <a:buNone/>
            </a:pPr>
            <a:r>
              <a:rPr b="1" i="0" lang="en-US" sz="1300" u="none" cap="none" strike="noStrike">
                <a:solidFill>
                  <a:srgbClr val="E8ECF1"/>
                </a:solidFill>
                <a:latin typeface="Quattrocento Sans"/>
                <a:ea typeface="Quattrocento Sans"/>
                <a:cs typeface="Quattrocento Sans"/>
                <a:sym typeface="Quattrocento Sans"/>
              </a:rPr>
              <a:t>1. Harvest:</a:t>
            </a:r>
            <a:r>
              <a:rPr b="0" i="0" lang="en-US" sz="1300" u="none" cap="none" strike="noStrike">
                <a:solidFill>
                  <a:srgbClr val="E8ECF1"/>
                </a:solidFill>
                <a:latin typeface="Quattrocento Sans"/>
                <a:ea typeface="Quattrocento Sans"/>
                <a:cs typeface="Quattrocento Sans"/>
                <a:sym typeface="Quattrocento Sans"/>
              </a:rPr>
              <a:t> Extract email bodies + headers from Outlook PST/OST files</a:t>
            </a:r>
            <a:endParaRPr b="0" i="0" sz="1300" u="none" cap="none" strike="noStrike"/>
          </a:p>
          <a:p>
            <a:pPr indent="0" lvl="0" marL="0" marR="0" rtl="0" algn="l">
              <a:lnSpc>
                <a:spcPct val="150000"/>
              </a:lnSpc>
              <a:spcBef>
                <a:spcPts val="0"/>
              </a:spcBef>
              <a:spcAft>
                <a:spcPts val="0"/>
              </a:spcAft>
              <a:buNone/>
            </a:pPr>
            <a:r>
              <a:rPr b="1" i="0" lang="en-US" sz="1300" u="none" cap="none" strike="noStrike">
                <a:solidFill>
                  <a:srgbClr val="E8ECF1"/>
                </a:solidFill>
                <a:latin typeface="Quattrocento Sans"/>
                <a:ea typeface="Quattrocento Sans"/>
                <a:cs typeface="Quattrocento Sans"/>
                <a:sym typeface="Quattrocento Sans"/>
              </a:rPr>
              <a:t>2. Select:</a:t>
            </a:r>
            <a:r>
              <a:rPr b="0" i="0" lang="en-US" sz="1300" u="none" cap="none" strike="noStrike">
                <a:solidFill>
                  <a:srgbClr val="E8ECF1"/>
                </a:solidFill>
                <a:latin typeface="Quattrocento Sans"/>
                <a:ea typeface="Quattrocento Sans"/>
                <a:cs typeface="Quattrocento Sans"/>
                <a:sym typeface="Quattrocento Sans"/>
              </a:rPr>
              <a:t> Pick threads with attachments or financial keywords</a:t>
            </a:r>
            <a:endParaRPr b="0" i="0" sz="1300" u="none" cap="none" strike="noStrike"/>
          </a:p>
          <a:p>
            <a:pPr indent="0" lvl="0" marL="0" marR="0" rtl="0" algn="l">
              <a:lnSpc>
                <a:spcPct val="150000"/>
              </a:lnSpc>
              <a:spcBef>
                <a:spcPts val="0"/>
              </a:spcBef>
              <a:spcAft>
                <a:spcPts val="0"/>
              </a:spcAft>
              <a:buNone/>
            </a:pPr>
            <a:r>
              <a:rPr b="1" i="0" lang="en-US" sz="1300" u="none" cap="none" strike="noStrike">
                <a:solidFill>
                  <a:srgbClr val="E8ECF1"/>
                </a:solidFill>
                <a:latin typeface="Quattrocento Sans"/>
                <a:ea typeface="Quattrocento Sans"/>
                <a:cs typeface="Quattrocento Sans"/>
                <a:sym typeface="Quattrocento Sans"/>
              </a:rPr>
              <a:t>3. Forge:</a:t>
            </a:r>
            <a:r>
              <a:rPr b="0" i="0" lang="en-US" sz="1300" u="none" cap="none" strike="noStrike">
                <a:solidFill>
                  <a:srgbClr val="E8ECF1"/>
                </a:solidFill>
                <a:latin typeface="Quattrocento Sans"/>
                <a:ea typeface="Quattrocento Sans"/>
                <a:cs typeface="Quattrocento Sans"/>
                <a:sym typeface="Quattrocento Sans"/>
              </a:rPr>
              <a:t> Craft reply using stolen thread subject + participants</a:t>
            </a:r>
            <a:endParaRPr b="0" i="0" sz="1300" u="none" cap="none" strike="noStrike"/>
          </a:p>
          <a:p>
            <a:pPr indent="0" lvl="0" marL="0" marR="0" rtl="0" algn="l">
              <a:lnSpc>
                <a:spcPct val="150000"/>
              </a:lnSpc>
              <a:spcBef>
                <a:spcPts val="0"/>
              </a:spcBef>
              <a:spcAft>
                <a:spcPts val="0"/>
              </a:spcAft>
              <a:buNone/>
            </a:pPr>
            <a:r>
              <a:rPr b="1" i="0" lang="en-US" sz="1300" u="none" cap="none" strike="noStrike">
                <a:solidFill>
                  <a:srgbClr val="E8ECF1"/>
                </a:solidFill>
                <a:latin typeface="Quattrocento Sans"/>
                <a:ea typeface="Quattrocento Sans"/>
                <a:cs typeface="Quattrocento Sans"/>
                <a:sym typeface="Quattrocento Sans"/>
              </a:rPr>
              <a:t>4. Attach:</a:t>
            </a:r>
            <a:r>
              <a:rPr b="0" i="0" lang="en-US" sz="1300" u="none" cap="none" strike="noStrike">
                <a:solidFill>
                  <a:srgbClr val="E8ECF1"/>
                </a:solidFill>
                <a:latin typeface="Quattrocento Sans"/>
                <a:ea typeface="Quattrocento Sans"/>
                <a:cs typeface="Quattrocento Sans"/>
                <a:sym typeface="Quattrocento Sans"/>
              </a:rPr>
              <a:t> Emotet loader disguised as document or invoice</a:t>
            </a:r>
            <a:endParaRPr b="0" i="0" sz="1300" u="none" cap="none" strike="noStrike"/>
          </a:p>
          <a:p>
            <a:pPr indent="0" lvl="0" marL="0" marR="0" rtl="0" algn="l">
              <a:lnSpc>
                <a:spcPct val="150000"/>
              </a:lnSpc>
              <a:spcBef>
                <a:spcPts val="0"/>
              </a:spcBef>
              <a:spcAft>
                <a:spcPts val="0"/>
              </a:spcAft>
              <a:buNone/>
            </a:pPr>
            <a:r>
              <a:rPr b="1" i="0" lang="en-US" sz="1300" u="none" cap="none" strike="noStrike">
                <a:solidFill>
                  <a:srgbClr val="E8ECF1"/>
                </a:solidFill>
                <a:latin typeface="Quattrocento Sans"/>
                <a:ea typeface="Quattrocento Sans"/>
                <a:cs typeface="Quattrocento Sans"/>
                <a:sym typeface="Quattrocento Sans"/>
              </a:rPr>
              <a:t>5. Send:</a:t>
            </a:r>
            <a:r>
              <a:rPr b="0" i="0" lang="en-US" sz="1300" u="none" cap="none" strike="noStrike">
                <a:solidFill>
                  <a:srgbClr val="E8ECF1"/>
                </a:solidFill>
                <a:latin typeface="Quattrocento Sans"/>
                <a:ea typeface="Quattrocento Sans"/>
                <a:cs typeface="Quattrocento Sans"/>
                <a:sym typeface="Quattrocento Sans"/>
              </a:rPr>
              <a:t> Via victim's SMTP server or hardcoded relays</a:t>
            </a:r>
            <a:endParaRPr b="0" i="0" sz="1300" u="none" cap="none" strike="noStrike"/>
          </a:p>
          <a:p>
            <a:pPr indent="0" lvl="0" marL="0" marR="0" rtl="0" algn="l">
              <a:lnSpc>
                <a:spcPct val="150000"/>
              </a:lnSpc>
              <a:spcBef>
                <a:spcPts val="0"/>
              </a:spcBef>
              <a:spcAft>
                <a:spcPts val="0"/>
              </a:spcAft>
              <a:buNone/>
            </a:pPr>
            <a:r>
              <a:t/>
            </a:r>
            <a:endParaRPr b="0" i="0" sz="1300" u="none" cap="none" strike="noStrike"/>
          </a:p>
          <a:p>
            <a:pPr indent="0" lvl="0" marL="0" marR="0" rtl="0" algn="l">
              <a:lnSpc>
                <a:spcPct val="150000"/>
              </a:lnSpc>
              <a:spcBef>
                <a:spcPts val="0"/>
              </a:spcBef>
              <a:spcAft>
                <a:spcPts val="0"/>
              </a:spcAft>
              <a:buNone/>
            </a:pPr>
            <a:r>
              <a:rPr b="1" i="0" lang="en-US" sz="1300" u="none" cap="none" strike="noStrike">
                <a:solidFill>
                  <a:srgbClr val="E8ECF1"/>
                </a:solidFill>
                <a:latin typeface="Quattrocento Sans"/>
                <a:ea typeface="Quattrocento Sans"/>
                <a:cs typeface="Quattrocento Sans"/>
                <a:sym typeface="Quattrocento Sans"/>
              </a:rPr>
              <a:t>Result:</a:t>
            </a:r>
            <a:r>
              <a:rPr b="0" i="0" lang="en-US" sz="1300" u="none" cap="none" strike="noStrike">
                <a:solidFill>
                  <a:srgbClr val="E8ECF1"/>
                </a:solidFill>
                <a:latin typeface="Quattrocento Sans"/>
                <a:ea typeface="Quattrocento Sans"/>
                <a:cs typeface="Quattrocento Sans"/>
                <a:sym typeface="Quattrocento Sans"/>
              </a:rPr>
              <a:t> 40-60% open rate vs. 5% for cold spam</a:t>
            </a:r>
            <a:endParaRPr b="0" i="0" sz="1300" u="none" cap="none" strike="noStrike"/>
          </a:p>
        </p:txBody>
      </p:sp>
      <p:sp>
        <p:nvSpPr>
          <p:cNvPr id="219" name="Google Shape;219;p13"/>
          <p:cNvSpPr/>
          <p:nvPr/>
        </p:nvSpPr>
        <p:spPr>
          <a:xfrm>
            <a:off x="8191500" y="2667000"/>
            <a:ext cx="7302500" cy="27940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3"/>
          <p:cNvSpPr/>
          <p:nvPr/>
        </p:nvSpPr>
        <p:spPr>
          <a:xfrm>
            <a:off x="8191500" y="2667000"/>
            <a:ext cx="50800" cy="27940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3"/>
          <p:cNvSpPr/>
          <p:nvPr/>
        </p:nvSpPr>
        <p:spPr>
          <a:xfrm>
            <a:off x="8445500" y="2794000"/>
            <a:ext cx="6858000" cy="2540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SMTP RELAY AND EVASION</a:t>
            </a:r>
            <a:endParaRPr b="0" i="0" sz="1200" u="none" cap="none" strike="noStrike"/>
          </a:p>
          <a:p>
            <a:pPr indent="0" lvl="0" marL="0" marR="0" rtl="0" algn="l">
              <a:lnSpc>
                <a:spcPct val="150000"/>
              </a:lnSpc>
              <a:spcBef>
                <a:spcPts val="0"/>
              </a:spcBef>
              <a:spcAft>
                <a:spcPts val="0"/>
              </a:spcAft>
              <a:buNone/>
            </a:pPr>
            <a:r>
              <a:t/>
            </a:r>
            <a:endParaRPr b="0" i="0" sz="1200" u="none" cap="none" strike="noStrike"/>
          </a:p>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Relay Strategy:</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 Primary: Victim's own SMTP credentials</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 Fallback: Hardcoded open relay list</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 Final: Direct MX record delivery</a:t>
            </a:r>
            <a:endParaRPr b="0" i="0" sz="1200" u="none" cap="none" strike="noStrike"/>
          </a:p>
          <a:p>
            <a:pPr indent="0" lvl="0" marL="0" marR="0" rtl="0" algn="l">
              <a:lnSpc>
                <a:spcPct val="150000"/>
              </a:lnSpc>
              <a:spcBef>
                <a:spcPts val="0"/>
              </a:spcBef>
              <a:spcAft>
                <a:spcPts val="0"/>
              </a:spcAft>
              <a:buNone/>
            </a:pPr>
            <a:r>
              <a:t/>
            </a:r>
            <a:endParaRPr b="0" i="0" sz="1200" u="none" cap="none" strike="noStrike"/>
          </a:p>
          <a:p>
            <a:pPr indent="0" lvl="0" marL="0" marR="0" rtl="0" algn="l">
              <a:lnSpc>
                <a:spcPct val="150000"/>
              </a:lnSpc>
              <a:spcBef>
                <a:spcPts val="0"/>
              </a:spcBef>
              <a:spcAft>
                <a:spcPts val="0"/>
              </a:spcAft>
              <a:buNone/>
            </a:pPr>
            <a:r>
              <a:rPr b="1" i="0" lang="en-US" sz="1200" u="none" cap="none" strike="noStrike">
                <a:solidFill>
                  <a:srgbClr val="E8ECF1"/>
                </a:solidFill>
                <a:latin typeface="Quattrocento Sans"/>
                <a:ea typeface="Quattrocento Sans"/>
                <a:cs typeface="Quattrocento Sans"/>
                <a:sym typeface="Quattrocento Sans"/>
              </a:rPr>
              <a:t>Evasion Techniques:</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 Spoofed From: addresses match thread participants</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 Attachment names match thread context</a:t>
            </a:r>
            <a:endParaRPr b="0" i="0" sz="1200" u="none" cap="none" strike="noStrike"/>
          </a:p>
          <a:p>
            <a:pPr indent="0" lvl="0" marL="0" marR="0" rtl="0" algn="l">
              <a:lnSpc>
                <a:spcPct val="150000"/>
              </a:lnSpc>
              <a:spcBef>
                <a:spcPts val="0"/>
              </a:spcBef>
              <a:spcAft>
                <a:spcPts val="0"/>
              </a:spcAft>
              <a:buNone/>
            </a:pPr>
            <a:r>
              <a:rPr b="0" i="0" lang="en-US" sz="1200" u="none" cap="none" strike="noStrike">
                <a:solidFill>
                  <a:srgbClr val="E8ECF1"/>
                </a:solidFill>
                <a:latin typeface="Quattrocento Sans"/>
                <a:ea typeface="Quattrocento Sans"/>
                <a:cs typeface="Quattrocento Sans"/>
                <a:sym typeface="Quattrocento Sans"/>
              </a:rPr>
              <a:t>- Rate limiting: 50-100 emails per burst</a:t>
            </a:r>
            <a:endParaRPr b="0" i="0" sz="1200" u="none" cap="none" strike="noStrike"/>
          </a:p>
        </p:txBody>
      </p:sp>
      <p:sp>
        <p:nvSpPr>
          <p:cNvPr id="222" name="Google Shape;222;p13"/>
          <p:cNvSpPr/>
          <p:nvPr/>
        </p:nvSpPr>
        <p:spPr>
          <a:xfrm>
            <a:off x="762000" y="59944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Detection Opportunities — Mailer Module</a:t>
            </a:r>
            <a:endParaRPr b="0" i="0" sz="1800" u="none" cap="none" strike="noStrike"/>
          </a:p>
        </p:txBody>
      </p:sp>
      <p:graphicFrame>
        <p:nvGraphicFramePr>
          <p:cNvPr id="223" name="Google Shape;223;p13"/>
          <p:cNvGraphicFramePr/>
          <p:nvPr/>
        </p:nvGraphicFramePr>
        <p:xfrm>
          <a:off x="762000" y="6438900"/>
          <a:ext cx="3000000" cy="3000000"/>
        </p:xfrm>
        <a:graphic>
          <a:graphicData uri="http://schemas.openxmlformats.org/drawingml/2006/table">
            <a:tbl>
              <a:tblPr>
                <a:noFill/>
                <a:tableStyleId>{8D3EB3A7-DA65-40AD-92DE-6E7132627B1C}</a:tableStyleId>
              </a:tblPr>
              <a:tblGrid>
                <a:gridCol w="4419600"/>
                <a:gridCol w="10312400"/>
              </a:tblGrid>
              <a:tr h="431800">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DETECTION OPPORTUNITY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WHY IT WORKS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r>
              <a:tr h="582925">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Outlook MAPI access to read PST/OST files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The mailer.dll uses MAPI to read email stores. EDR can detect unexpected MAPI access from non-Outlook processes. Monitor for MAPISession and OpenMessageStore calls.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582925">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Sudden outbound SMTP spikes from workstations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Workstations rarely send bulk email. An endpoint establishing dozens of SMTP connections to external MX records is anomalous and can be detected at the network boundary.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561350">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Reply-to threads with executable attachments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Email security gateways can detect replies to old threads containing macro-enabled documents or .exe files within ZIP archives — a clear Emotet indicator.</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bl>
          </a:graphicData>
        </a:graphic>
      </p:graphicFrame>
      <p:cxnSp>
        <p:nvCxnSpPr>
          <p:cNvPr id="224" name="Google Shape;224;p13"/>
          <p:cNvCxnSpPr/>
          <p:nvPr/>
        </p:nvCxnSpPr>
        <p:spPr>
          <a:xfrm>
            <a:off x="762000" y="8978900"/>
            <a:ext cx="14732000" cy="0"/>
          </a:xfrm>
          <a:prstGeom prst="straightConnector1">
            <a:avLst/>
          </a:prstGeom>
          <a:noFill/>
          <a:ln cap="flat" cmpd="sng" w="12700">
            <a:solidFill>
              <a:srgbClr val="5A6070"/>
            </a:solidFill>
            <a:prstDash val="solid"/>
            <a:round/>
            <a:headEnd len="sm" w="sm" type="none"/>
            <a:tailEnd len="sm" w="sm" type="none"/>
          </a:ln>
        </p:spPr>
      </p:cxnSp>
      <p:sp>
        <p:nvSpPr>
          <p:cNvPr id="225" name="Google Shape;225;p13"/>
          <p:cNvSpPr/>
          <p:nvPr/>
        </p:nvSpPr>
        <p:spPr>
          <a:xfrm>
            <a:off x="7366000" y="90424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11 / 13</a:t>
            </a:r>
            <a:endParaRPr b="0" i="0" sz="1400" u="none" cap="none" strike="noStrike"/>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230" name="Shape 230"/>
        <p:cNvGrpSpPr/>
        <p:nvPr/>
      </p:nvGrpSpPr>
      <p:grpSpPr>
        <a:xfrm>
          <a:off x="0" y="0"/>
          <a:ext cx="0" cy="0"/>
          <a:chOff x="0" y="0"/>
          <a:chExt cx="0" cy="0"/>
        </a:xfrm>
      </p:grpSpPr>
      <p:sp>
        <p:nvSpPr>
          <p:cNvPr id="231" name="Google Shape;231;p14"/>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SRC-2026-0614-EMOTET</a:t>
            </a:r>
            <a:endParaRPr b="0" i="0" sz="1400" u="none" cap="none" strike="noStrike"/>
          </a:p>
        </p:txBody>
      </p:sp>
      <p:sp>
        <p:nvSpPr>
          <p:cNvPr id="232" name="Google Shape;232;p14"/>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233" name="Google Shape;233;p14"/>
          <p:cNvSpPr/>
          <p:nvPr/>
        </p:nvSpPr>
        <p:spPr>
          <a:xfrm>
            <a:off x="762000" y="698500"/>
            <a:ext cx="14732000" cy="482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600" u="none" cap="none" strike="noStrike">
                <a:solidFill>
                  <a:srgbClr val="FFFFFF"/>
                </a:solidFill>
                <a:latin typeface="Liter"/>
                <a:ea typeface="Liter"/>
                <a:cs typeface="Liter"/>
                <a:sym typeface="Liter"/>
              </a:rPr>
              <a:t>MITRE ATT&amp;CK Mapping — Emotet TTPs</a:t>
            </a:r>
            <a:endParaRPr b="0" i="0" sz="2600" u="none" cap="none" strike="noStrike"/>
          </a:p>
        </p:txBody>
      </p:sp>
      <p:cxnSp>
        <p:nvCxnSpPr>
          <p:cNvPr id="234" name="Google Shape;234;p14"/>
          <p:cNvCxnSpPr/>
          <p:nvPr/>
        </p:nvCxnSpPr>
        <p:spPr>
          <a:xfrm>
            <a:off x="762000" y="1244600"/>
            <a:ext cx="14732000" cy="0"/>
          </a:xfrm>
          <a:prstGeom prst="straightConnector1">
            <a:avLst/>
          </a:prstGeom>
          <a:noFill/>
          <a:ln cap="flat" cmpd="sng" w="12700">
            <a:solidFill>
              <a:srgbClr val="5A6070"/>
            </a:solidFill>
            <a:prstDash val="solid"/>
            <a:round/>
            <a:headEnd len="sm" w="sm" type="none"/>
            <a:tailEnd len="sm" w="sm" type="none"/>
          </a:ln>
        </p:spPr>
      </p:cxnSp>
      <p:sp>
        <p:nvSpPr>
          <p:cNvPr id="235" name="Google Shape;235;p14"/>
          <p:cNvSpPr/>
          <p:nvPr/>
        </p:nvSpPr>
        <p:spPr>
          <a:xfrm>
            <a:off x="762000" y="1397000"/>
            <a:ext cx="3048000" cy="279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OFFENSIVE TECHNIQUE</a:t>
            </a:r>
            <a:endParaRPr b="0" i="0" sz="1200" u="none" cap="none" strike="noStrike"/>
          </a:p>
        </p:txBody>
      </p:sp>
      <p:sp>
        <p:nvSpPr>
          <p:cNvPr id="236" name="Google Shape;236;p14"/>
          <p:cNvSpPr/>
          <p:nvPr/>
        </p:nvSpPr>
        <p:spPr>
          <a:xfrm>
            <a:off x="3937000" y="1397000"/>
            <a:ext cx="8890000" cy="2794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None/>
            </a:pPr>
            <a:r>
              <a:rPr b="0" i="0" lang="en-US" sz="1600" u="none" cap="none" strike="noStrike">
                <a:solidFill>
                  <a:srgbClr val="D92525"/>
                </a:solidFill>
                <a:latin typeface="Quattrocento Sans"/>
                <a:ea typeface="Quattrocento Sans"/>
                <a:cs typeface="Quattrocento Sans"/>
                <a:sym typeface="Quattrocento Sans"/>
              </a:rPr>
              <a:t>Multi-Stage Kill Chain Aligned to MITRE ATT&amp;CK Framework v14</a:t>
            </a:r>
            <a:endParaRPr b="0" i="0" sz="1600" u="none" cap="none" strike="noStrike"/>
          </a:p>
        </p:txBody>
      </p:sp>
      <p:graphicFrame>
        <p:nvGraphicFramePr>
          <p:cNvPr id="237" name="Google Shape;237;p14"/>
          <p:cNvGraphicFramePr/>
          <p:nvPr/>
        </p:nvGraphicFramePr>
        <p:xfrm>
          <a:off x="762000" y="1841500"/>
          <a:ext cx="3000000" cy="3000000"/>
        </p:xfrm>
        <a:graphic>
          <a:graphicData uri="http://schemas.openxmlformats.org/drawingml/2006/table">
            <a:tbl>
              <a:tblPr>
                <a:noFill/>
                <a:tableStyleId>{8D3EB3A7-DA65-40AD-92DE-6E7132627B1C}</a:tableStyleId>
              </a:tblPr>
              <a:tblGrid>
                <a:gridCol w="2357125"/>
                <a:gridCol w="3241050"/>
                <a:gridCol w="3241050"/>
                <a:gridCol w="5892800"/>
              </a:tblGrid>
              <a:tr h="528325">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TACTIC</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TECHNIQUE ID</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TECHNIQUE NAME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EMOTET IMPLEMENTATION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r>
              <a:tr h="759450">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Initial Access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T1566.001</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Phishing: Spearphishing Attachment</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Malicious Word/Excel macros delivered via email thread hijacking with contextually relevant attachment names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759450">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Execution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T1204.002</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User Execution: Malicious File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VBA macros spawn PowerShell to download and execute Stage 1 loader from C2 infrastructure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759450">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Persistence</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T1547.001</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Registry Run Keys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HKCU\Run and HKLM\Run keys point to randomly named executable in %APPDATA%\[random]\</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759450">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Defense Evasion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T1055.012</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Process Hollowing</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inject.c creates suspended process, unmaps sections, writes payload, resumes — targeting browsers and system processes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759450">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Credential Access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T1003.001</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LSASS Memory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Credential harvesting module dumps LSASS memory and extracts credentials using Mimikatz-like techniques for lateral movement</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759450">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Lateral Movement</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T1021.002</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SMB/Windows Admin Shares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Spreading module brute-forces SMB admin shares using stolen credentials, copies loader, schedules WMI-based execution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759450">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Command and Control</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T1071.001</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Application Layer: Web</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HTTP/S C2 with RC4-encrypted payloads, rotating through 10-30 Tier 2 proxy nodes per epoch, RSA-signed modules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759450">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Exfiltration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T1041</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Exfiltration Over C2</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Banking credentials, email contacts, and browsing data exfiltrated via encrypted POST requests to Tier 2 C2 nodes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bl>
          </a:graphicData>
        </a:graphic>
      </p:graphicFrame>
      <p:cxnSp>
        <p:nvCxnSpPr>
          <p:cNvPr id="238" name="Google Shape;238;p14"/>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239" name="Google Shape;239;p14"/>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12 / 13</a:t>
            </a:r>
            <a:endParaRPr b="0" i="0" sz="1400" u="none" cap="none" strike="noStrike"/>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418"/>
        </a:solidFill>
      </p:bgPr>
    </p:bg>
    <p:spTree>
      <p:nvGrpSpPr>
        <p:cNvPr id="244" name="Shape 244"/>
        <p:cNvGrpSpPr/>
        <p:nvPr/>
      </p:nvGrpSpPr>
      <p:grpSpPr>
        <a:xfrm>
          <a:off x="0" y="0"/>
          <a:ext cx="0" cy="0"/>
          <a:chOff x="0" y="0"/>
          <a:chExt cx="0" cy="0"/>
        </a:xfrm>
      </p:grpSpPr>
      <p:sp>
        <p:nvSpPr>
          <p:cNvPr id="245" name="Google Shape;245;p15"/>
          <p:cNvSpPr/>
          <p:nvPr/>
        </p:nvSpPr>
        <p:spPr>
          <a:xfrm>
            <a:off x="762000" y="254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SRC-2026-0614-EMOTET</a:t>
            </a:r>
            <a:endParaRPr b="0" i="0" sz="1400" u="none" cap="none" strike="noStrike"/>
          </a:p>
        </p:txBody>
      </p:sp>
      <p:sp>
        <p:nvSpPr>
          <p:cNvPr id="246" name="Google Shape;246;p15"/>
          <p:cNvSpPr/>
          <p:nvPr/>
        </p:nvSpPr>
        <p:spPr>
          <a:xfrm>
            <a:off x="13462000" y="254000"/>
            <a:ext cx="2032000" cy="254000"/>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CONFIDENTIAL</a:t>
            </a:r>
            <a:endParaRPr b="0" i="0" sz="1200" u="none" cap="none" strike="noStrike"/>
          </a:p>
        </p:txBody>
      </p:sp>
      <p:sp>
        <p:nvSpPr>
          <p:cNvPr id="247" name="Google Shape;247;p15"/>
          <p:cNvSpPr/>
          <p:nvPr/>
        </p:nvSpPr>
        <p:spPr>
          <a:xfrm>
            <a:off x="762000" y="698500"/>
            <a:ext cx="14732000" cy="482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600" u="none" cap="none" strike="noStrike">
                <a:solidFill>
                  <a:srgbClr val="FFFFFF"/>
                </a:solidFill>
                <a:latin typeface="Liter"/>
                <a:ea typeface="Liter"/>
                <a:cs typeface="Liter"/>
                <a:sym typeface="Liter"/>
              </a:rPr>
              <a:t>Key Takeaways — Defending Against Emotet</a:t>
            </a:r>
            <a:endParaRPr b="0" i="0" sz="2600" u="none" cap="none" strike="noStrike"/>
          </a:p>
        </p:txBody>
      </p:sp>
      <p:cxnSp>
        <p:nvCxnSpPr>
          <p:cNvPr id="248" name="Google Shape;248;p15"/>
          <p:cNvCxnSpPr/>
          <p:nvPr/>
        </p:nvCxnSpPr>
        <p:spPr>
          <a:xfrm>
            <a:off x="762000" y="1244600"/>
            <a:ext cx="14732000" cy="0"/>
          </a:xfrm>
          <a:prstGeom prst="straightConnector1">
            <a:avLst/>
          </a:prstGeom>
          <a:noFill/>
          <a:ln cap="flat" cmpd="sng" w="12700">
            <a:solidFill>
              <a:srgbClr val="5A6070"/>
            </a:solidFill>
            <a:prstDash val="solid"/>
            <a:round/>
            <a:headEnd len="sm" w="sm" type="none"/>
            <a:tailEnd len="sm" w="sm" type="none"/>
          </a:ln>
        </p:spPr>
      </p:cxnSp>
      <p:sp>
        <p:nvSpPr>
          <p:cNvPr id="249" name="Google Shape;249;p15"/>
          <p:cNvSpPr/>
          <p:nvPr/>
        </p:nvSpPr>
        <p:spPr>
          <a:xfrm>
            <a:off x="762000" y="1397000"/>
            <a:ext cx="3048000" cy="279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200" u="none" cap="none" strike="noStrike">
                <a:solidFill>
                  <a:srgbClr val="D92525"/>
                </a:solidFill>
                <a:latin typeface="Liter"/>
                <a:ea typeface="Liter"/>
                <a:cs typeface="Liter"/>
                <a:sym typeface="Liter"/>
              </a:rPr>
              <a:t>EXECUTIVE SUMMARY</a:t>
            </a:r>
            <a:endParaRPr b="0" i="0" sz="1200" u="none" cap="none" strike="noStrike"/>
          </a:p>
        </p:txBody>
      </p:sp>
      <p:sp>
        <p:nvSpPr>
          <p:cNvPr id="250" name="Google Shape;250;p15"/>
          <p:cNvSpPr/>
          <p:nvPr/>
        </p:nvSpPr>
        <p:spPr>
          <a:xfrm>
            <a:off x="3937000" y="1397000"/>
            <a:ext cx="8890000" cy="2794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None/>
            </a:pPr>
            <a:r>
              <a:rPr b="0" i="0" lang="en-US" sz="1600" u="none" cap="none" strike="noStrike">
                <a:solidFill>
                  <a:srgbClr val="D92525"/>
                </a:solidFill>
                <a:latin typeface="Quattrocento Sans"/>
                <a:ea typeface="Quattrocento Sans"/>
                <a:cs typeface="Quattrocento Sans"/>
                <a:sym typeface="Quattrocento Sans"/>
              </a:rPr>
              <a:t>Critical Defensive Controls and Detection Priorities</a:t>
            </a:r>
            <a:endParaRPr b="0" i="0" sz="1600" u="none" cap="none" strike="noStrike"/>
          </a:p>
        </p:txBody>
      </p:sp>
      <p:sp>
        <p:nvSpPr>
          <p:cNvPr id="251" name="Google Shape;251;p15"/>
          <p:cNvSpPr/>
          <p:nvPr/>
        </p:nvSpPr>
        <p:spPr>
          <a:xfrm>
            <a:off x="762000" y="1879600"/>
            <a:ext cx="7112000" cy="14605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762000" y="1879600"/>
            <a:ext cx="7112000" cy="508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p:nvPr/>
        </p:nvSpPr>
        <p:spPr>
          <a:xfrm>
            <a:off x="952500" y="2006600"/>
            <a:ext cx="6731000" cy="1270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1. MODULAR ARCHITECTURE = ASYMMETRIC THREAT</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Emotet's plugin system means the core loader alone is insufficient for detection. </a:t>
            </a:r>
            <a:r>
              <a:rPr b="1" i="0" lang="en-US" sz="1400" u="none" cap="none" strike="noStrike">
                <a:solidFill>
                  <a:srgbClr val="E8ECF1"/>
                </a:solidFill>
                <a:latin typeface="Quattrocento Sans"/>
                <a:ea typeface="Quattrocento Sans"/>
                <a:cs typeface="Quattrocento Sans"/>
                <a:sym typeface="Quattrocento Sans"/>
              </a:rPr>
              <a:t>Behavioral monitoring must cover the entire plugin lifecycle</a:t>
            </a:r>
            <a:r>
              <a:rPr b="0" i="0" lang="en-US" sz="1400" u="none" cap="none" strike="noStrike">
                <a:solidFill>
                  <a:srgbClr val="E8ECF1"/>
                </a:solidFill>
                <a:latin typeface="Quattrocento Sans"/>
                <a:ea typeface="Quattrocento Sans"/>
                <a:cs typeface="Quattrocento Sans"/>
                <a:sym typeface="Quattrocento Sans"/>
              </a:rPr>
              <a:t> — download, verification, injection, and execution of external DLLs.</a:t>
            </a:r>
            <a:endParaRPr b="0" i="0" sz="1400" u="none" cap="none" strike="noStrike"/>
          </a:p>
        </p:txBody>
      </p:sp>
      <p:sp>
        <p:nvSpPr>
          <p:cNvPr id="254" name="Google Shape;254;p15"/>
          <p:cNvSpPr/>
          <p:nvPr/>
        </p:nvSpPr>
        <p:spPr>
          <a:xfrm>
            <a:off x="8191500" y="1879600"/>
            <a:ext cx="7302500" cy="14605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
          <p:cNvSpPr/>
          <p:nvPr/>
        </p:nvSpPr>
        <p:spPr>
          <a:xfrm>
            <a:off x="8191500" y="1879600"/>
            <a:ext cx="7302500" cy="508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5"/>
          <p:cNvSpPr/>
          <p:nvPr/>
        </p:nvSpPr>
        <p:spPr>
          <a:xfrm>
            <a:off x="8382000" y="2006600"/>
            <a:ext cx="6921500" cy="1270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2. EPOCH ROTATION DEFEATS STATIC IOCs</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With 5+ epochs and constant C2 rotation, </a:t>
            </a:r>
            <a:r>
              <a:rPr b="1" i="0" lang="en-US" sz="1400" u="none" cap="none" strike="noStrike">
                <a:solidFill>
                  <a:srgbClr val="E8ECF1"/>
                </a:solidFill>
                <a:latin typeface="Quattrocento Sans"/>
                <a:ea typeface="Quattrocento Sans"/>
                <a:cs typeface="Quattrocento Sans"/>
                <a:sym typeface="Quattrocento Sans"/>
              </a:rPr>
              <a:t>IP and domain blacklists are insufficient</a:t>
            </a:r>
            <a:r>
              <a:rPr b="0" i="0" lang="en-US" sz="1400" u="none" cap="none" strike="noStrike">
                <a:solidFill>
                  <a:srgbClr val="E8ECF1"/>
                </a:solidFill>
                <a:latin typeface="Quattrocento Sans"/>
                <a:ea typeface="Quattrocento Sans"/>
                <a:cs typeface="Quattrocento Sans"/>
                <a:sym typeface="Quattrocento Sans"/>
              </a:rPr>
              <a:t>. Network detection must focus on behavioral patterns — RC4-encrypted HTTP, specific User-Agent strings, and RSA signature verification traffic.</a:t>
            </a:r>
            <a:endParaRPr b="0" i="0" sz="1400" u="none" cap="none" strike="noStrike"/>
          </a:p>
        </p:txBody>
      </p:sp>
      <p:sp>
        <p:nvSpPr>
          <p:cNvPr id="257" name="Google Shape;257;p15"/>
          <p:cNvSpPr/>
          <p:nvPr/>
        </p:nvSpPr>
        <p:spPr>
          <a:xfrm>
            <a:off x="762000" y="3556000"/>
            <a:ext cx="7112000" cy="14605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5"/>
          <p:cNvSpPr/>
          <p:nvPr/>
        </p:nvSpPr>
        <p:spPr>
          <a:xfrm>
            <a:off x="762000" y="3556000"/>
            <a:ext cx="7112000" cy="508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5"/>
          <p:cNvSpPr/>
          <p:nvPr/>
        </p:nvSpPr>
        <p:spPr>
          <a:xfrm>
            <a:off x="952500" y="3683000"/>
            <a:ext cx="6731000" cy="1270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3. EMAIL THREAD HIJACKING BYPASSES EMAIL GATEWAYS</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Reply-chain attacks inherit SPF/DKIM trust from legitimate conversations. </a:t>
            </a:r>
            <a:r>
              <a:rPr b="1" i="0" lang="en-US" sz="1400" u="none" cap="none" strike="noStrike">
                <a:solidFill>
                  <a:srgbClr val="E8ECF1"/>
                </a:solidFill>
                <a:latin typeface="Quattrocento Sans"/>
                <a:ea typeface="Quattrocento Sans"/>
                <a:cs typeface="Quattrocento Sans"/>
                <a:sym typeface="Quattrocento Sans"/>
              </a:rPr>
              <a:t>User awareness training is insufficient</a:t>
            </a:r>
            <a:r>
              <a:rPr b="0" i="0" lang="en-US" sz="1400" u="none" cap="none" strike="noStrike">
                <a:solidFill>
                  <a:srgbClr val="E8ECF1"/>
                </a:solidFill>
                <a:latin typeface="Quattrocento Sans"/>
                <a:ea typeface="Quattrocento Sans"/>
                <a:cs typeface="Quattrocento Sans"/>
                <a:sym typeface="Quattrocento Sans"/>
              </a:rPr>
              <a:t> — email security must detect anomalous reply patterns and unexpected attachments in ongoing threads.</a:t>
            </a:r>
            <a:endParaRPr b="0" i="0" sz="1400" u="none" cap="none" strike="noStrike"/>
          </a:p>
        </p:txBody>
      </p:sp>
      <p:sp>
        <p:nvSpPr>
          <p:cNvPr id="260" name="Google Shape;260;p15"/>
          <p:cNvSpPr/>
          <p:nvPr/>
        </p:nvSpPr>
        <p:spPr>
          <a:xfrm>
            <a:off x="8191500" y="3556000"/>
            <a:ext cx="7302500" cy="1460500"/>
          </a:xfrm>
          <a:prstGeom prst="rect">
            <a:avLst/>
          </a:prstGeom>
          <a:solidFill>
            <a:srgbClr val="1E2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p:cNvSpPr/>
          <p:nvPr/>
        </p:nvSpPr>
        <p:spPr>
          <a:xfrm>
            <a:off x="8191500" y="3556000"/>
            <a:ext cx="7302500" cy="50800"/>
          </a:xfrm>
          <a:prstGeom prst="rect">
            <a:avLst/>
          </a:prstGeom>
          <a:solidFill>
            <a:srgbClr val="D92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5"/>
          <p:cNvSpPr/>
          <p:nvPr/>
        </p:nvSpPr>
        <p:spPr>
          <a:xfrm>
            <a:off x="8382000" y="3683000"/>
            <a:ext cx="6921500" cy="1270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400" u="none" cap="none" strike="noStrike">
                <a:solidFill>
                  <a:srgbClr val="E8ECF1"/>
                </a:solidFill>
                <a:latin typeface="Quattrocento Sans"/>
                <a:ea typeface="Quattrocento Sans"/>
                <a:cs typeface="Quattrocento Sans"/>
                <a:sym typeface="Quattrocento Sans"/>
              </a:rPr>
              <a:t>4. MULTI-TECHNIQUE INJECTION REQUIRES BEHAVIORAL DETECTION</a:t>
            </a:r>
            <a:endParaRPr b="0" i="0" sz="1400" u="none" cap="none" strike="noStrike"/>
          </a:p>
          <a:p>
            <a:pPr indent="0" lvl="0" marL="0" marR="0" rtl="0" algn="l">
              <a:lnSpc>
                <a:spcPct val="150000"/>
              </a:lnSpc>
              <a:spcBef>
                <a:spcPts val="0"/>
              </a:spcBef>
              <a:spcAft>
                <a:spcPts val="0"/>
              </a:spcAft>
              <a:buNone/>
            </a:pPr>
            <a:r>
              <a:rPr b="0" i="0" lang="en-US" sz="1400" u="none" cap="none" strike="noStrike">
                <a:solidFill>
                  <a:srgbClr val="E8ECF1"/>
                </a:solidFill>
                <a:latin typeface="Quattrocento Sans"/>
                <a:ea typeface="Quattrocento Sans"/>
                <a:cs typeface="Quattrocento Sans"/>
                <a:sym typeface="Quattrocento Sans"/>
              </a:rPr>
              <a:t>Process hollowing, APC injection, and thread hijacking rotate per target. </a:t>
            </a:r>
            <a:r>
              <a:rPr b="1" i="0" lang="en-US" sz="1400" u="none" cap="none" strike="noStrike">
                <a:solidFill>
                  <a:srgbClr val="E8ECF1"/>
                </a:solidFill>
                <a:latin typeface="Quattrocento Sans"/>
                <a:ea typeface="Quattrocento Sans"/>
                <a:cs typeface="Quattrocento Sans"/>
                <a:sym typeface="Quattrocento Sans"/>
              </a:rPr>
              <a:t>EDR must detect the API sequence patterns</a:t>
            </a:r>
            <a:r>
              <a:rPr b="0" i="0" lang="en-US" sz="1400" u="none" cap="none" strike="noStrike">
                <a:solidFill>
                  <a:srgbClr val="E8ECF1"/>
                </a:solidFill>
                <a:latin typeface="Quattrocento Sans"/>
                <a:ea typeface="Quattrocento Sans"/>
                <a:cs typeface="Quattrocento Sans"/>
                <a:sym typeface="Quattrocento Sans"/>
              </a:rPr>
              <a:t> (NtUnmapViewOfSection, QueueUserAPC, SetThreadContext) rather than targeting single techniques.</a:t>
            </a:r>
            <a:endParaRPr b="0" i="0" sz="1400" u="none" cap="none" strike="noStrike"/>
          </a:p>
        </p:txBody>
      </p:sp>
      <p:sp>
        <p:nvSpPr>
          <p:cNvPr id="263" name="Google Shape;263;p15"/>
          <p:cNvSpPr/>
          <p:nvPr/>
        </p:nvSpPr>
        <p:spPr>
          <a:xfrm>
            <a:off x="762000" y="5308600"/>
            <a:ext cx="7620000" cy="355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800" u="none" cap="none" strike="noStrike">
                <a:solidFill>
                  <a:srgbClr val="FFFFFF"/>
                </a:solidFill>
                <a:latin typeface="Liter"/>
                <a:ea typeface="Liter"/>
                <a:cs typeface="Liter"/>
                <a:sym typeface="Liter"/>
              </a:rPr>
              <a:t>Recommended Defensive Controls</a:t>
            </a:r>
            <a:endParaRPr b="0" i="0" sz="1800" u="none" cap="none" strike="noStrike"/>
          </a:p>
        </p:txBody>
      </p:sp>
      <p:graphicFrame>
        <p:nvGraphicFramePr>
          <p:cNvPr id="264" name="Google Shape;264;p15"/>
          <p:cNvGraphicFramePr/>
          <p:nvPr/>
        </p:nvGraphicFramePr>
        <p:xfrm>
          <a:off x="762000" y="5740400"/>
          <a:ext cx="3000000" cy="3000000"/>
        </p:xfrm>
        <a:graphic>
          <a:graphicData uri="http://schemas.openxmlformats.org/drawingml/2006/table">
            <a:tbl>
              <a:tblPr>
                <a:noFill/>
                <a:tableStyleId>{8D3EB3A7-DA65-40AD-92DE-6E7132627B1C}</a:tableStyleId>
              </a:tblPr>
              <a:tblGrid>
                <a:gridCol w="3241050"/>
                <a:gridCol w="5598150"/>
                <a:gridCol w="5892800"/>
              </a:tblGrid>
              <a:tr h="426725">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CONTROL</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DETECTION METHOD</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c>
                  <a:txBody>
                    <a:bodyPr/>
                    <a:lstStyle/>
                    <a:p>
                      <a:pPr indent="0" lvl="0" marL="0" marR="0" rtl="0" algn="ctr">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DETECTION LOGIC</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252A32"/>
                    </a:solidFill>
                  </a:tcPr>
                </a:tc>
              </a:tr>
              <a:tr h="5600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EDR</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Process injection API sequences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Alert on NtUnmapViewOfSection + WriteProcessMemory in sequence; SetThreadContext targeting remote processes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5600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Email Gateway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Thread reply anomaly detection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Flag replies to old threads with macro documents; detect sudden spikes in outbound email from internal mailboxes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r h="5600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Network</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C2 beaconing patterns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Detect periodic HTTPS POSTs with encrypted payloads; monitor for connections to newly registered domains at regular intervals</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11418"/>
                    </a:solidFill>
                  </a:tcPr>
                </a:tc>
              </a:tr>
              <a:tr h="560075">
                <a:tc>
                  <a:txBody>
                    <a:bodyPr/>
                    <a:lstStyle/>
                    <a:p>
                      <a:pPr indent="0" lvl="0" marL="0" marR="0" rtl="0" algn="ctr">
                        <a:spcBef>
                          <a:spcPts val="0"/>
                        </a:spcBef>
                        <a:spcAft>
                          <a:spcPts val="0"/>
                        </a:spcAft>
                        <a:buNone/>
                      </a:pPr>
                      <a:r>
                        <a:rPr lang="en-US" sz="1600" u="none" cap="none" strike="noStrike">
                          <a:solidFill>
                            <a:srgbClr val="D92525"/>
                          </a:solidFill>
                          <a:latin typeface="Quattrocento Sans"/>
                          <a:ea typeface="Quattrocento Sans"/>
                          <a:cs typeface="Quattrocento Sans"/>
                          <a:sym typeface="Quattrocento Sans"/>
                        </a:rPr>
                        <a:t>Identity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Lateral movement detection</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c>
                  <a:txBody>
                    <a:bodyPr/>
                    <a:lstStyle/>
                    <a:p>
                      <a:pPr indent="0" lvl="0" marL="0" marR="0" rtl="0" algn="ctr">
                        <a:spcBef>
                          <a:spcPts val="0"/>
                        </a:spcBef>
                        <a:spcAft>
                          <a:spcPts val="0"/>
                        </a:spcAft>
                        <a:buNone/>
                      </a:pPr>
                      <a:r>
                        <a:rPr lang="en-US" sz="1600" u="none" cap="none" strike="noStrike">
                          <a:solidFill>
                            <a:srgbClr val="E8ECF1"/>
                          </a:solidFill>
                          <a:latin typeface="Quattrocento Sans"/>
                          <a:ea typeface="Quattrocento Sans"/>
                          <a:cs typeface="Quattrocento Sans"/>
                          <a:sym typeface="Quattrocento Sans"/>
                        </a:rPr>
                        <a:t>Alert on SMB connections from workstations to multiple hosts; detect credential reuse across multiple systems simultaneously</a:t>
                      </a:r>
                      <a:endParaRPr sz="1600" u="none" cap="none" strike="noStrike">
                        <a:latin typeface="Quattrocento Sans"/>
                        <a:ea typeface="Quattrocento Sans"/>
                        <a:cs typeface="Quattrocento Sans"/>
                        <a:sym typeface="Quattrocento Sans"/>
                      </a:endParaRPr>
                    </a:p>
                  </a:txBody>
                  <a:tcPr marT="0" marB="0" marR="54875" marL="54875" anchor="ctr">
                    <a:lnL cap="flat" cmpd="sng" w="12700">
                      <a:solidFill>
                        <a:srgbClr val="5A6070"/>
                      </a:solidFill>
                      <a:prstDash val="solid"/>
                      <a:round/>
                      <a:headEnd len="sm" w="sm" type="none"/>
                      <a:tailEnd len="sm" w="sm" type="none"/>
                    </a:lnL>
                    <a:lnR cap="flat" cmpd="sng" w="12700">
                      <a:solidFill>
                        <a:srgbClr val="5A6070"/>
                      </a:solidFill>
                      <a:prstDash val="solid"/>
                      <a:round/>
                      <a:headEnd len="sm" w="sm" type="none"/>
                      <a:tailEnd len="sm" w="sm" type="none"/>
                    </a:lnR>
                    <a:lnT cap="flat" cmpd="sng" w="12700">
                      <a:solidFill>
                        <a:srgbClr val="5A6070"/>
                      </a:solidFill>
                      <a:prstDash val="solid"/>
                      <a:round/>
                      <a:headEnd len="sm" w="sm" type="none"/>
                      <a:tailEnd len="sm" w="sm" type="none"/>
                    </a:lnT>
                    <a:lnB cap="flat" cmpd="sng" w="12700">
                      <a:solidFill>
                        <a:srgbClr val="5A6070"/>
                      </a:solidFill>
                      <a:prstDash val="solid"/>
                      <a:round/>
                      <a:headEnd len="sm" w="sm" type="none"/>
                      <a:tailEnd len="sm" w="sm" type="none"/>
                    </a:lnB>
                    <a:solidFill>
                      <a:srgbClr val="1A1D21"/>
                    </a:solidFill>
                  </a:tcPr>
                </a:tc>
              </a:tr>
            </a:tbl>
          </a:graphicData>
        </a:graphic>
      </p:graphicFrame>
      <p:cxnSp>
        <p:nvCxnSpPr>
          <p:cNvPr id="265" name="Google Shape;265;p15"/>
          <p:cNvCxnSpPr/>
          <p:nvPr/>
        </p:nvCxnSpPr>
        <p:spPr>
          <a:xfrm>
            <a:off x="762000" y="8763000"/>
            <a:ext cx="14732000" cy="0"/>
          </a:xfrm>
          <a:prstGeom prst="straightConnector1">
            <a:avLst/>
          </a:prstGeom>
          <a:noFill/>
          <a:ln cap="flat" cmpd="sng" w="12700">
            <a:solidFill>
              <a:srgbClr val="5A6070"/>
            </a:solidFill>
            <a:prstDash val="solid"/>
            <a:round/>
            <a:headEnd len="sm" w="sm" type="none"/>
            <a:tailEnd len="sm" w="sm" type="none"/>
          </a:ln>
        </p:spPr>
      </p:cxnSp>
      <p:sp>
        <p:nvSpPr>
          <p:cNvPr id="266" name="Google Shape;266;p15"/>
          <p:cNvSpPr/>
          <p:nvPr/>
        </p:nvSpPr>
        <p:spPr>
          <a:xfrm>
            <a:off x="7366000" y="8826500"/>
            <a:ext cx="1524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8C95A5"/>
                </a:solidFill>
                <a:latin typeface="Quattrocento Sans"/>
                <a:ea typeface="Quattrocento Sans"/>
                <a:cs typeface="Quattrocento Sans"/>
                <a:sym typeface="Quattrocento Sans"/>
              </a:rPr>
              <a:t>13 / 13</a:t>
            </a:r>
            <a:endParaRPr b="0" i="0" sz="1400" u="none" cap="none" strike="noStrike"/>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