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9144000" cx="16256000"/>
  <p:notesSz cx="9144000" cy="16256000"/>
  <p:embeddedFontLst>
    <p:embeddedFont>
      <p:font typeface="Liter"/>
      <p:regular r:id="rId21"/>
    </p:embeddedFont>
    <p:embeddedFont>
      <p:font typeface="Quattrocento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DFEE790-FD8F-451C-B811-B6AE758B8932}">
  <a:tblStyle styleId="{ADFEE790-FD8F-451C-B811-B6AE758B893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QuattrocentoSans-regular.fntdata"/><Relationship Id="rId21" Type="http://schemas.openxmlformats.org/officeDocument/2006/relationships/font" Target="fonts/Liter-regular.fntdata"/><Relationship Id="rId24" Type="http://schemas.openxmlformats.org/officeDocument/2006/relationships/font" Target="fonts/QuattrocentoSans-italic.fntdata"/><Relationship Id="rId23" Type="http://schemas.openxmlformats.org/officeDocument/2006/relationships/font" Target="fonts/QuattrocentoSans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Quattrocento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418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6256000" cy="355600"/>
          </a:xfrm>
          <a:prstGeom prst="rect">
            <a:avLst/>
          </a:prstGeom>
          <a:solidFill>
            <a:srgbClr val="D9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0"/>
            <a:ext cx="16256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CONFIDENTIAL — DEFENSIVE THREAT INTELLIGENCE — EDUCATIONAL RESEARCH</a:t>
            </a:r>
            <a:endParaRPr b="0" i="0" sz="1200" u="none" cap="none" strike="noStrike"/>
          </a:p>
        </p:txBody>
      </p:sp>
      <p:sp>
        <p:nvSpPr>
          <p:cNvPr id="18" name="Google Shape;18;p3"/>
          <p:cNvSpPr/>
          <p:nvPr/>
        </p:nvSpPr>
        <p:spPr>
          <a:xfrm>
            <a:off x="1270000" y="2032000"/>
            <a:ext cx="13716000" cy="8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ASYNCRAT</a:t>
            </a:r>
            <a:endParaRPr b="0" i="0" sz="4800" u="none" cap="none" strike="noStrike"/>
          </a:p>
        </p:txBody>
      </p:sp>
      <p:sp>
        <p:nvSpPr>
          <p:cNvPr id="19" name="Google Shape;19;p3"/>
          <p:cNvSpPr/>
          <p:nvPr/>
        </p:nvSpPr>
        <p:spPr>
          <a:xfrm>
            <a:off x="1270000" y="2984500"/>
            <a:ext cx="13716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REMOTE ACCESS TROJAN</a:t>
            </a:r>
            <a:endParaRPr b="0" i="0" sz="2400" u="none" cap="none" strike="noStrike"/>
          </a:p>
        </p:txBody>
      </p:sp>
      <p:cxnSp>
        <p:nvCxnSpPr>
          <p:cNvPr id="20" name="Google Shape;20;p3"/>
          <p:cNvCxnSpPr/>
          <p:nvPr/>
        </p:nvCxnSpPr>
        <p:spPr>
          <a:xfrm>
            <a:off x="5588000" y="3810000"/>
            <a:ext cx="5080000" cy="0"/>
          </a:xfrm>
          <a:prstGeom prst="straightConnector1">
            <a:avLst/>
          </a:prstGeom>
          <a:noFill/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p3"/>
          <p:cNvSpPr/>
          <p:nvPr/>
        </p:nvSpPr>
        <p:spPr>
          <a:xfrm>
            <a:off x="2540000" y="4064000"/>
            <a:ext cx="111760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THREAT INTELLIGENCE REPORT</a:t>
            </a:r>
            <a:endParaRPr b="0" i="0" sz="2400" u="none" cap="none" strike="noStrike"/>
          </a:p>
        </p:txBody>
      </p:sp>
      <p:sp>
        <p:nvSpPr>
          <p:cNvPr id="22" name="Google Shape;22;p3"/>
          <p:cNvSpPr/>
          <p:nvPr/>
        </p:nvSpPr>
        <p:spPr>
          <a:xfrm>
            <a:off x="3048000" y="4699000"/>
            <a:ext cx="1016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Offensive-Informed Defensive Analysis</a:t>
            </a:r>
            <a:endParaRPr b="0" i="0" sz="2000" u="none" cap="none" strike="noStrike"/>
          </a:p>
        </p:txBody>
      </p:sp>
      <p:sp>
        <p:nvSpPr>
          <p:cNvPr id="23" name="Google Shape;23;p3"/>
          <p:cNvSpPr/>
          <p:nvPr/>
        </p:nvSpPr>
        <p:spPr>
          <a:xfrm>
            <a:off x="4318000" y="5588000"/>
            <a:ext cx="7620000" cy="2032000"/>
          </a:xfrm>
          <a:prstGeom prst="rect">
            <a:avLst/>
          </a:pr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4699000" y="5842000"/>
            <a:ext cx="6858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REPORT ID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 SRC-2026-0614-ASYNC</a:t>
            </a:r>
            <a:endParaRPr b="0" i="0" sz="1600" u="none" cap="none" strike="noStrike"/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ANALYSIS DATE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2026-06-14</a:t>
            </a:r>
            <a:endParaRPr b="0" i="0" sz="1600" u="none" cap="none" strike="noStrike"/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        github.com/NYAN-x-CAT/AsyncRAT (2019)</a:t>
            </a:r>
            <a:endParaRPr b="0" i="0" sz="1600" u="none" cap="none" strike="noStrike"/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CLASSIFICATION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Defensive Threat Intelligence</a:t>
            </a:r>
            <a:endParaRPr b="0" i="0" sz="1600" u="none" cap="none" strike="noStrike"/>
          </a:p>
        </p:txBody>
      </p:sp>
      <p:sp>
        <p:nvSpPr>
          <p:cNvPr id="25" name="Google Shape;25;p3"/>
          <p:cNvSpPr/>
          <p:nvPr/>
        </p:nvSpPr>
        <p:spPr>
          <a:xfrm>
            <a:off x="0" y="8636000"/>
            <a:ext cx="16256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EDUCATIONAL RESEARCH — OFFENSIVE ANALYSIS FOR DEFENSIVE PURPOSES ONLY</a:t>
            </a:r>
            <a:endParaRPr b="0" i="0" sz="1400" u="none" cap="none" strike="noStrike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418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762000" y="254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SRC-2026-0614-ASYNC</a:t>
            </a:r>
            <a:endParaRPr b="0" i="0" sz="1400" u="none" cap="none" strike="noStrike"/>
          </a:p>
        </p:txBody>
      </p:sp>
      <p:sp>
        <p:nvSpPr>
          <p:cNvPr id="32" name="Google Shape;32;p4"/>
          <p:cNvSpPr/>
          <p:nvPr/>
        </p:nvSpPr>
        <p:spPr>
          <a:xfrm>
            <a:off x="13462000" y="254000"/>
            <a:ext cx="2032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CONFIDENTIAL</a:t>
            </a:r>
            <a:endParaRPr b="0" i="0" sz="1200" u="none" cap="none" strike="noStrike"/>
          </a:p>
        </p:txBody>
      </p:sp>
      <p:sp>
        <p:nvSpPr>
          <p:cNvPr id="33" name="Google Shape;33;p4"/>
          <p:cNvSpPr/>
          <p:nvPr/>
        </p:nvSpPr>
        <p:spPr>
          <a:xfrm>
            <a:off x="762000" y="889000"/>
            <a:ext cx="6350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TABLE OF CONTENTS</a:t>
            </a:r>
            <a:endParaRPr b="0" i="0" sz="3600" u="none" cap="none" strike="noStrike"/>
          </a:p>
        </p:txBody>
      </p:sp>
      <p:cxnSp>
        <p:nvCxnSpPr>
          <p:cNvPr id="34" name="Google Shape;34;p4"/>
          <p:cNvCxnSpPr/>
          <p:nvPr/>
        </p:nvCxnSpPr>
        <p:spPr>
          <a:xfrm>
            <a:off x="762000" y="1651000"/>
            <a:ext cx="14732000" cy="0"/>
          </a:xfrm>
          <a:prstGeom prst="straightConnector1">
            <a:avLst/>
          </a:prstGeom>
          <a:noFill/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" name="Google Shape;35;p4"/>
          <p:cNvSpPr/>
          <p:nvPr/>
        </p:nvSpPr>
        <p:spPr>
          <a:xfrm>
            <a:off x="762000" y="2032000"/>
            <a:ext cx="889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01</a:t>
            </a:r>
            <a:endParaRPr b="0" i="0" sz="3600" u="none" cap="none" strike="noStrike"/>
          </a:p>
        </p:txBody>
      </p:sp>
      <p:sp>
        <p:nvSpPr>
          <p:cNvPr id="36" name="Google Shape;36;p4"/>
          <p:cNvSpPr/>
          <p:nvPr/>
        </p:nvSpPr>
        <p:spPr>
          <a:xfrm>
            <a:off x="1778000" y="2032000"/>
            <a:ext cx="635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ASYNCRAT SOURCE CODE ANALYSIS</a:t>
            </a:r>
            <a:endParaRPr b="0" i="0" sz="2200" u="none" cap="none" strike="noStrike"/>
          </a:p>
        </p:txBody>
      </p:sp>
      <p:sp>
        <p:nvSpPr>
          <p:cNvPr id="37" name="Google Shape;37;p4"/>
          <p:cNvSpPr/>
          <p:nvPr/>
        </p:nvSpPr>
        <p:spPr>
          <a:xfrm>
            <a:off x="1778000" y="2476500"/>
            <a:ext cx="8890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Infection chain, client architecture, C2 protocol, process injection techniques</a:t>
            </a:r>
            <a:endParaRPr b="0" i="0" sz="1400" u="none" cap="none" strike="noStrike"/>
          </a:p>
        </p:txBody>
      </p:sp>
      <p:sp>
        <p:nvSpPr>
          <p:cNvPr id="38" name="Google Shape;38;p4"/>
          <p:cNvSpPr/>
          <p:nvPr/>
        </p:nvSpPr>
        <p:spPr>
          <a:xfrm>
            <a:off x="762000" y="3238500"/>
            <a:ext cx="889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02</a:t>
            </a:r>
            <a:endParaRPr b="0" i="0" sz="3600" u="none" cap="none" strike="noStrike"/>
          </a:p>
        </p:txBody>
      </p:sp>
      <p:sp>
        <p:nvSpPr>
          <p:cNvPr id="39" name="Google Shape;39;p4"/>
          <p:cNvSpPr/>
          <p:nvPr/>
        </p:nvSpPr>
        <p:spPr>
          <a:xfrm>
            <a:off x="1778000" y="3238500"/>
            <a:ext cx="635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PERSISTENCE &amp; ANTI-ANALYSIS</a:t>
            </a:r>
            <a:endParaRPr b="0" i="0" sz="2200" u="none" cap="none" strike="noStrike"/>
          </a:p>
        </p:txBody>
      </p:sp>
      <p:sp>
        <p:nvSpPr>
          <p:cNvPr id="40" name="Google Shape;40;p4"/>
          <p:cNvSpPr/>
          <p:nvPr/>
        </p:nvSpPr>
        <p:spPr>
          <a:xfrm>
            <a:off x="1778000" y="3683000"/>
            <a:ext cx="8890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Scheduled tasks, registry persistence, VM detection, sandbox evasion techniques</a:t>
            </a:r>
            <a:endParaRPr b="0" i="0" sz="1400" u="none" cap="none" strike="noStrike"/>
          </a:p>
        </p:txBody>
      </p:sp>
      <p:sp>
        <p:nvSpPr>
          <p:cNvPr id="41" name="Google Shape;41;p4"/>
          <p:cNvSpPr/>
          <p:nvPr/>
        </p:nvSpPr>
        <p:spPr>
          <a:xfrm>
            <a:off x="762000" y="4445000"/>
            <a:ext cx="889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03</a:t>
            </a:r>
            <a:endParaRPr b="0" i="0" sz="3600" u="none" cap="none" strike="noStrike"/>
          </a:p>
        </p:txBody>
      </p:sp>
      <p:sp>
        <p:nvSpPr>
          <p:cNvPr id="42" name="Google Shape;42;p4"/>
          <p:cNvSpPr/>
          <p:nvPr/>
        </p:nvSpPr>
        <p:spPr>
          <a:xfrm>
            <a:off x="1778000" y="4445000"/>
            <a:ext cx="635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DETECTION OPPORTUNITIES</a:t>
            </a:r>
            <a:endParaRPr b="0" i="0" sz="2200" u="none" cap="none" strike="noStrike"/>
          </a:p>
        </p:txBody>
      </p:sp>
      <p:sp>
        <p:nvSpPr>
          <p:cNvPr id="43" name="Google Shape;43;p4"/>
          <p:cNvSpPr/>
          <p:nvPr/>
        </p:nvSpPr>
        <p:spPr>
          <a:xfrm>
            <a:off x="1778000" y="4889500"/>
            <a:ext cx="8890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Network signatures, host-based indicators, behavioral detection strategies</a:t>
            </a:r>
            <a:endParaRPr b="0" i="0" sz="1400" u="none" cap="none" strike="noStrike"/>
          </a:p>
        </p:txBody>
      </p:sp>
      <p:sp>
        <p:nvSpPr>
          <p:cNvPr id="44" name="Google Shape;44;p4"/>
          <p:cNvSpPr/>
          <p:nvPr/>
        </p:nvSpPr>
        <p:spPr>
          <a:xfrm>
            <a:off x="762000" y="5651500"/>
            <a:ext cx="889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04</a:t>
            </a:r>
            <a:endParaRPr b="0" i="0" sz="3600" u="none" cap="none" strike="noStrike"/>
          </a:p>
        </p:txBody>
      </p:sp>
      <p:sp>
        <p:nvSpPr>
          <p:cNvPr id="45" name="Google Shape;45;p4"/>
          <p:cNvSpPr/>
          <p:nvPr/>
        </p:nvSpPr>
        <p:spPr>
          <a:xfrm>
            <a:off x="1778000" y="5651500"/>
            <a:ext cx="635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MITRE ATT&amp;CK MAPPING &amp; DEFENSIVE CONTROLS</a:t>
            </a:r>
            <a:endParaRPr b="0" i="0" sz="2200" u="none" cap="none" strike="noStrike"/>
          </a:p>
        </p:txBody>
      </p:sp>
      <p:sp>
        <p:nvSpPr>
          <p:cNvPr id="46" name="Google Shape;46;p4"/>
          <p:cNvSpPr/>
          <p:nvPr/>
        </p:nvSpPr>
        <p:spPr>
          <a:xfrm>
            <a:off x="1778000" y="6096000"/>
            <a:ext cx="8890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Comprehensive technique mapping with defensive control recommendations</a:t>
            </a:r>
            <a:endParaRPr b="0" i="0" sz="1400" u="none" cap="none" strike="noStrike"/>
          </a:p>
        </p:txBody>
      </p:sp>
      <p:cxnSp>
        <p:nvCxnSpPr>
          <p:cNvPr id="47" name="Google Shape;47;p4"/>
          <p:cNvCxnSpPr/>
          <p:nvPr/>
        </p:nvCxn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4"/>
          <p:cNvSpPr/>
          <p:nvPr/>
        </p:nvSpPr>
        <p:spPr>
          <a:xfrm>
            <a:off x="7366000" y="88265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 / 15</a:t>
            </a:r>
            <a:endParaRPr b="0" i="0" sz="1400" u="none" cap="none" strike="noStrike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"/>
          <p:cNvSpPr/>
          <p:nvPr/>
        </p:nvSpPr>
        <p:spPr>
          <a:xfrm>
            <a:off x="762000" y="254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SRC-2026-0614-ASYNC</a:t>
            </a:r>
            <a:endParaRPr b="0" i="0" sz="1400" u="none" cap="none" strike="noStrike"/>
          </a:p>
        </p:txBody>
      </p:sp>
      <p:sp>
        <p:nvSpPr>
          <p:cNvPr id="55" name="Google Shape;55;p5"/>
          <p:cNvSpPr/>
          <p:nvPr/>
        </p:nvSpPr>
        <p:spPr>
          <a:xfrm>
            <a:off x="13462000" y="254000"/>
            <a:ext cx="2032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CONFIDENTIAL</a:t>
            </a:r>
            <a:endParaRPr b="0" i="0" sz="1200" u="none" cap="none" strike="noStrike"/>
          </a:p>
        </p:txBody>
      </p:sp>
      <p:sp>
        <p:nvSpPr>
          <p:cNvPr id="56" name="Google Shape;56;p5"/>
          <p:cNvSpPr/>
          <p:nvPr/>
        </p:nvSpPr>
        <p:spPr>
          <a:xfrm>
            <a:off x="762000" y="2286000"/>
            <a:ext cx="25400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01</a:t>
            </a:r>
            <a:endParaRPr b="0" i="0" sz="7200" u="none" cap="none" strike="noStrike"/>
          </a:p>
        </p:txBody>
      </p:sp>
      <p:cxnSp>
        <p:nvCxnSpPr>
          <p:cNvPr id="57" name="Google Shape;57;p5"/>
          <p:cNvCxnSpPr/>
          <p:nvPr/>
        </p:nvCxnSpPr>
        <p:spPr>
          <a:xfrm>
            <a:off x="762000" y="3556000"/>
            <a:ext cx="2540000" cy="0"/>
          </a:xfrm>
          <a:prstGeom prst="straightConnector1">
            <a:avLst/>
          </a:prstGeom>
          <a:noFill/>
          <a:ln cap="flat" cmpd="sng" w="38100">
            <a:solidFill>
              <a:srgbClr val="D9252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5"/>
          <p:cNvSpPr/>
          <p:nvPr/>
        </p:nvSpPr>
        <p:spPr>
          <a:xfrm>
            <a:off x="762000" y="3810000"/>
            <a:ext cx="12700000" cy="6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ASYNCRAT SOURCE CODE ANALYSIS</a:t>
            </a:r>
            <a:endParaRPr b="0" i="0" sz="4400" u="none" cap="none" strike="noStrike"/>
          </a:p>
        </p:txBody>
      </p:sp>
      <p:sp>
        <p:nvSpPr>
          <p:cNvPr id="59" name="Google Shape;59;p5"/>
          <p:cNvSpPr/>
          <p:nvPr/>
        </p:nvSpPr>
        <p:spPr>
          <a:xfrm>
            <a:off x="762000" y="4699000"/>
            <a:ext cx="114300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Remote Access Trojan | .NET Framework | Multi-Stage Infection Chain</a:t>
            </a:r>
            <a:endParaRPr b="0" i="0" sz="2200" u="none" cap="none" strike="noStrike"/>
          </a:p>
        </p:txBody>
      </p:sp>
      <p:sp>
        <p:nvSpPr>
          <p:cNvPr id="60" name="Google Shape;60;p5"/>
          <p:cNvSpPr/>
          <p:nvPr/>
        </p:nvSpPr>
        <p:spPr>
          <a:xfrm>
            <a:off x="762000" y="5842000"/>
            <a:ext cx="10160000" cy="2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THREAT PROFILE:</a:t>
            </a:r>
            <a:r>
              <a:rPr b="0" i="0" lang="en-US" sz="16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Remote Access Trojan (RAT)</a:t>
            </a:r>
            <a:endParaRPr b="0" i="0" sz="1600" u="none" cap="none" strike="noStrike"/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Source:</a:t>
            </a:r>
            <a:r>
              <a:rPr b="0" i="0" lang="en-US" sz="16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github.com/NYAN-x-CAT/AsyncRAT (Leaked 2019)</a:t>
            </a:r>
            <a:endParaRPr b="0" i="0" sz="1600" u="none" cap="none" strike="noStrike"/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Language:</a:t>
            </a:r>
            <a:r>
              <a:rPr b="0" i="0" lang="en-US" sz="16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C# / .NET Framework | </a:t>
            </a:r>
            <a:r>
              <a:rPr b="1" i="0" lang="en-US" sz="16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Target:</a:t>
            </a:r>
            <a:r>
              <a:rPr b="0" i="0" lang="en-US" sz="16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Windows</a:t>
            </a:r>
            <a:endParaRPr b="0" i="0" sz="1600" u="none" cap="none" strike="noStrike"/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C2 Protocol:</a:t>
            </a:r>
            <a:r>
              <a:rPr b="0" i="0" lang="en-US" sz="16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Custom TCP over TLS | </a:t>
            </a:r>
            <a:r>
              <a:rPr b="1" i="0" lang="en-US" sz="16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Default Ports:</a:t>
            </a:r>
            <a:r>
              <a:rPr b="0" i="0" lang="en-US" sz="16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6606, 7707, 8808</a:t>
            </a:r>
            <a:endParaRPr b="0" i="0" sz="1600" u="none" cap="none" strike="noStrike"/>
          </a:p>
        </p:txBody>
      </p:sp>
      <p:cxnSp>
        <p:nvCxnSpPr>
          <p:cNvPr id="61" name="Google Shape;61;p5"/>
          <p:cNvCxnSpPr/>
          <p:nvPr/>
        </p:nvCxn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5"/>
          <p:cNvSpPr/>
          <p:nvPr/>
        </p:nvSpPr>
        <p:spPr>
          <a:xfrm>
            <a:off x="7366000" y="88265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 / 15</a:t>
            </a:r>
            <a:endParaRPr b="0" i="0" sz="1400" u="none" cap="none" strike="noStrike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418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"/>
          <p:cNvSpPr/>
          <p:nvPr/>
        </p:nvSpPr>
        <p:spPr>
          <a:xfrm>
            <a:off x="762000" y="254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SRC-2026-0614-ASYNC</a:t>
            </a:r>
            <a:endParaRPr b="0" i="0" sz="1400" u="none" cap="none" strike="noStrike"/>
          </a:p>
        </p:txBody>
      </p:sp>
      <p:sp>
        <p:nvSpPr>
          <p:cNvPr id="69" name="Google Shape;69;p6"/>
          <p:cNvSpPr/>
          <p:nvPr/>
        </p:nvSpPr>
        <p:spPr>
          <a:xfrm>
            <a:off x="13462000" y="254000"/>
            <a:ext cx="2032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CONFIDENTIAL</a:t>
            </a:r>
            <a:endParaRPr b="0" i="0" sz="1200" u="none" cap="none" strike="noStrike"/>
          </a:p>
        </p:txBody>
      </p:sp>
      <p:sp>
        <p:nvSpPr>
          <p:cNvPr id="70" name="Google Shape;70;p6"/>
          <p:cNvSpPr/>
          <p:nvPr/>
        </p:nvSpPr>
        <p:spPr>
          <a:xfrm>
            <a:off x="762000" y="698500"/>
            <a:ext cx="147320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AsyncRAT Infection Chain — From Phishing to Full System Compromise</a:t>
            </a:r>
            <a:endParaRPr b="0" i="0" sz="2600" u="none" cap="none" strike="noStrike"/>
          </a:p>
        </p:txBody>
      </p:sp>
      <p:cxnSp>
        <p:nvCxnSpPr>
          <p:cNvPr id="71" name="Google Shape;71;p6"/>
          <p:cNvCxnSpPr/>
          <p:nvPr/>
        </p:nvCxnSpPr>
        <p:spPr>
          <a:xfrm>
            <a:off x="762000" y="1244600"/>
            <a:ext cx="14732000" cy="0"/>
          </a:xfrm>
          <a:prstGeom prst="straightConnector1">
            <a:avLst/>
          </a:prstGeom>
          <a:noFill/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6"/>
          <p:cNvSpPr/>
          <p:nvPr/>
        </p:nvSpPr>
        <p:spPr>
          <a:xfrm>
            <a:off x="762000" y="1397000"/>
            <a:ext cx="3048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OFFENSIVE TECHNIQUE</a:t>
            </a:r>
            <a:endParaRPr b="0" i="0" sz="1200" u="none" cap="none" strike="noStrike"/>
          </a:p>
        </p:txBody>
      </p:sp>
      <p:sp>
        <p:nvSpPr>
          <p:cNvPr id="73" name="Google Shape;73;p6"/>
          <p:cNvSpPr/>
          <p:nvPr/>
        </p:nvSpPr>
        <p:spPr>
          <a:xfrm>
            <a:off x="3937000" y="1397000"/>
            <a:ext cx="7620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Multi-Stage Malicious Document Delivery with Process Hollowing</a:t>
            </a:r>
            <a:endParaRPr b="0" i="0" sz="1600" u="none" cap="none" strike="noStrike"/>
          </a:p>
        </p:txBody>
      </p:sp>
      <p:sp>
        <p:nvSpPr>
          <p:cNvPr id="74" name="Google Shape;74;p6"/>
          <p:cNvSpPr/>
          <p:nvPr/>
        </p:nvSpPr>
        <p:spPr>
          <a:xfrm>
            <a:off x="762000" y="1841500"/>
            <a:ext cx="147320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AsyncRAT is delivered through sophisticated multi-stage infection chains. Initial vectors include malicious </a:t>
            </a:r>
            <a:r>
              <a:rPr b="1" i="0" lang="en-US" sz="18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OneNote attachments</a:t>
            </a:r>
            <a:r>
              <a:rPr b="0" i="0" lang="en-US" sz="18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</a:t>
            </a:r>
            <a:r>
              <a:rPr b="1" i="0" lang="en-US" sz="18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HTA files</a:t>
            </a:r>
            <a:r>
              <a:rPr b="0" i="0" lang="en-US" sz="18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and heavily obfuscated batch scripts. The chain progresses through PowerShell downloaders, intermediate VBS/BAT stages, and finally process hollowing injection to load the .NET RAT payload.</a:t>
            </a:r>
            <a:endParaRPr b="0" i="0" sz="1800" u="none" cap="none" strike="noStrike"/>
          </a:p>
        </p:txBody>
      </p:sp>
      <p:sp>
        <p:nvSpPr>
          <p:cNvPr id="75" name="Google Shape;75;p6"/>
          <p:cNvSpPr/>
          <p:nvPr/>
        </p:nvSpPr>
        <p:spPr>
          <a:xfrm>
            <a:off x="762000" y="3048000"/>
            <a:ext cx="2667000" cy="762000"/>
          </a:xfrm>
          <a:prstGeom prst="rect">
            <a:avLst/>
          </a:prstGeom>
          <a:solidFill>
            <a:srgbClr val="1E2227"/>
          </a:solidFill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"/>
          <p:cNvSpPr/>
          <p:nvPr/>
        </p:nvSpPr>
        <p:spPr>
          <a:xfrm>
            <a:off x="762000" y="3048000"/>
            <a:ext cx="2667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8ECF1"/>
                </a:solidFill>
                <a:latin typeface="Liter"/>
                <a:ea typeface="Liter"/>
                <a:cs typeface="Liter"/>
                <a:sym typeface="Liter"/>
              </a:rPr>
              <a:t>STAGE 1</a:t>
            </a:r>
            <a:endParaRPr b="0" i="0" sz="1400" u="none" cap="none" strike="noStrike"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8ECF1"/>
                </a:solidFill>
                <a:latin typeface="Liter"/>
                <a:ea typeface="Liter"/>
                <a:cs typeface="Liter"/>
                <a:sym typeface="Liter"/>
              </a:rPr>
              <a:t>Phishing Email</a:t>
            </a:r>
            <a:endParaRPr b="0" i="0" sz="1400" u="none" cap="none" strike="noStrike"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C95A5"/>
                </a:solidFill>
                <a:latin typeface="Liter"/>
                <a:ea typeface="Liter"/>
                <a:cs typeface="Liter"/>
                <a:sym typeface="Liter"/>
              </a:rPr>
              <a:t>.one / .hta / .bat</a:t>
            </a:r>
            <a:endParaRPr b="0" i="0" sz="1400" u="none" cap="none" strike="noStrike"/>
          </a:p>
        </p:txBody>
      </p:sp>
      <p:cxnSp>
        <p:nvCxnSpPr>
          <p:cNvPr id="77" name="Google Shape;77;p6"/>
          <p:cNvCxnSpPr/>
          <p:nvPr/>
        </p:nvCxnSpPr>
        <p:spPr>
          <a:xfrm>
            <a:off x="3429000" y="3403600"/>
            <a:ext cx="381000" cy="0"/>
          </a:xfrm>
          <a:prstGeom prst="straightConnector1">
            <a:avLst/>
          </a:prstGeom>
          <a:noFill/>
          <a:ln cap="flat" cmpd="sng" w="25400">
            <a:solidFill>
              <a:srgbClr val="D9252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78" name="Google Shape;78;p6"/>
          <p:cNvSpPr/>
          <p:nvPr/>
        </p:nvSpPr>
        <p:spPr>
          <a:xfrm>
            <a:off x="3810000" y="3048000"/>
            <a:ext cx="2667000" cy="762000"/>
          </a:xfrm>
          <a:prstGeom prst="rect">
            <a:avLst/>
          </a:prstGeom>
          <a:solidFill>
            <a:srgbClr val="1E2227"/>
          </a:solidFill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"/>
          <p:cNvSpPr/>
          <p:nvPr/>
        </p:nvSpPr>
        <p:spPr>
          <a:xfrm>
            <a:off x="3810000" y="3048000"/>
            <a:ext cx="2667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8ECF1"/>
                </a:solidFill>
                <a:latin typeface="Liter"/>
                <a:ea typeface="Liter"/>
                <a:cs typeface="Liter"/>
                <a:sym typeface="Liter"/>
              </a:rPr>
              <a:t>STAGE 2</a:t>
            </a:r>
            <a:endParaRPr b="0" i="0" sz="1400" u="none" cap="none" strike="noStrike"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8ECF1"/>
                </a:solidFill>
                <a:latin typeface="Liter"/>
                <a:ea typeface="Liter"/>
                <a:cs typeface="Liter"/>
                <a:sym typeface="Liter"/>
              </a:rPr>
              <a:t>WSH / PowerShell</a:t>
            </a:r>
            <a:endParaRPr b="0" i="0" sz="1400" u="none" cap="none" strike="noStrike"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C95A5"/>
                </a:solidFill>
                <a:latin typeface="Liter"/>
                <a:ea typeface="Liter"/>
                <a:cs typeface="Liter"/>
                <a:sym typeface="Liter"/>
              </a:rPr>
              <a:t>x.png downloader</a:t>
            </a:r>
            <a:endParaRPr b="0" i="0" sz="1400" u="none" cap="none" strike="noStrike"/>
          </a:p>
        </p:txBody>
      </p:sp>
      <p:cxnSp>
        <p:nvCxnSpPr>
          <p:cNvPr id="80" name="Google Shape;80;p6"/>
          <p:cNvCxnSpPr/>
          <p:nvPr/>
        </p:nvCxnSpPr>
        <p:spPr>
          <a:xfrm>
            <a:off x="6477000" y="3403600"/>
            <a:ext cx="381000" cy="0"/>
          </a:xfrm>
          <a:prstGeom prst="straightConnector1">
            <a:avLst/>
          </a:prstGeom>
          <a:noFill/>
          <a:ln cap="flat" cmpd="sng" w="25400">
            <a:solidFill>
              <a:srgbClr val="D9252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81" name="Google Shape;81;p6"/>
          <p:cNvSpPr/>
          <p:nvPr/>
        </p:nvSpPr>
        <p:spPr>
          <a:xfrm>
            <a:off x="6858000" y="3048000"/>
            <a:ext cx="2667000" cy="762000"/>
          </a:xfrm>
          <a:prstGeom prst="rect">
            <a:avLst/>
          </a:prstGeom>
          <a:solidFill>
            <a:srgbClr val="1E2227"/>
          </a:solidFill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6858000" y="3048000"/>
            <a:ext cx="2667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8ECF1"/>
                </a:solidFill>
                <a:latin typeface="Liter"/>
                <a:ea typeface="Liter"/>
                <a:cs typeface="Liter"/>
                <a:sym typeface="Liter"/>
              </a:rPr>
              <a:t>STAGE 3</a:t>
            </a:r>
            <a:endParaRPr b="0" i="0" sz="1400" u="none" cap="none" strike="noStrike"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8ECF1"/>
                </a:solidFill>
                <a:latin typeface="Liter"/>
                <a:ea typeface="Liter"/>
                <a:cs typeface="Liter"/>
                <a:sym typeface="Liter"/>
              </a:rPr>
              <a:t>Intermediate Scripts</a:t>
            </a:r>
            <a:endParaRPr b="0" i="0" sz="1400" u="none" cap="none" strike="noStrike"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C95A5"/>
                </a:solidFill>
                <a:latin typeface="Liter"/>
                <a:ea typeface="Liter"/>
                <a:cs typeface="Liter"/>
                <a:sym typeface="Liter"/>
              </a:rPr>
              <a:t>xx.vbs / Bin.ps1</a:t>
            </a:r>
            <a:endParaRPr b="0" i="0" sz="1400" u="none" cap="none" strike="noStrike"/>
          </a:p>
        </p:txBody>
      </p:sp>
      <p:cxnSp>
        <p:nvCxnSpPr>
          <p:cNvPr id="83" name="Google Shape;83;p6"/>
          <p:cNvCxnSpPr/>
          <p:nvPr/>
        </p:nvCxnSpPr>
        <p:spPr>
          <a:xfrm>
            <a:off x="9525000" y="3403600"/>
            <a:ext cx="381000" cy="0"/>
          </a:xfrm>
          <a:prstGeom prst="straightConnector1">
            <a:avLst/>
          </a:prstGeom>
          <a:noFill/>
          <a:ln cap="flat" cmpd="sng" w="25400">
            <a:solidFill>
              <a:srgbClr val="D9252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84" name="Google Shape;84;p6"/>
          <p:cNvSpPr/>
          <p:nvPr/>
        </p:nvSpPr>
        <p:spPr>
          <a:xfrm>
            <a:off x="9906000" y="3048000"/>
            <a:ext cx="2667000" cy="762000"/>
          </a:xfrm>
          <a:prstGeom prst="rect">
            <a:avLst/>
          </a:prstGeom>
          <a:solidFill>
            <a:srgbClr val="1E2227"/>
          </a:solidFill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9906000" y="3048000"/>
            <a:ext cx="2667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8ECF1"/>
                </a:solidFill>
                <a:latin typeface="Liter"/>
                <a:ea typeface="Liter"/>
                <a:cs typeface="Liter"/>
                <a:sym typeface="Liter"/>
              </a:rPr>
              <a:t>STAGE 4</a:t>
            </a:r>
            <a:endParaRPr b="0" i="0" sz="1400" u="none" cap="none" strike="noStrike"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8ECF1"/>
                </a:solidFill>
                <a:latin typeface="Liter"/>
                <a:ea typeface="Liter"/>
                <a:cs typeface="Liter"/>
                <a:sym typeface="Liter"/>
              </a:rPr>
              <a:t>Injector Binary</a:t>
            </a:r>
            <a:endParaRPr b="0" i="0" sz="1400" u="none" cap="none" strike="noStrike"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C95A5"/>
                </a:solidFill>
                <a:latin typeface="Liter"/>
                <a:ea typeface="Liter"/>
                <a:cs typeface="Liter"/>
                <a:sym typeface="Liter"/>
              </a:rPr>
              <a:t>PE loader + AsyncRAT</a:t>
            </a:r>
            <a:endParaRPr b="0" i="0" sz="1400" u="none" cap="none" strike="noStrike"/>
          </a:p>
        </p:txBody>
      </p:sp>
      <p:cxnSp>
        <p:nvCxnSpPr>
          <p:cNvPr id="86" name="Google Shape;86;p6"/>
          <p:cNvCxnSpPr/>
          <p:nvPr/>
        </p:nvCxnSpPr>
        <p:spPr>
          <a:xfrm>
            <a:off x="12573000" y="3403600"/>
            <a:ext cx="381000" cy="0"/>
          </a:xfrm>
          <a:prstGeom prst="straightConnector1">
            <a:avLst/>
          </a:prstGeom>
          <a:noFill/>
          <a:ln cap="flat" cmpd="sng" w="25400">
            <a:solidFill>
              <a:srgbClr val="D9252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87" name="Google Shape;87;p6"/>
          <p:cNvSpPr/>
          <p:nvPr/>
        </p:nvSpPr>
        <p:spPr>
          <a:xfrm>
            <a:off x="12954000" y="3048000"/>
            <a:ext cx="2667000" cy="762000"/>
          </a:xfrm>
          <a:prstGeom prst="rect">
            <a:avLst/>
          </a:prstGeom>
          <a:solidFill>
            <a:srgbClr val="D9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12954000" y="3048000"/>
            <a:ext cx="2667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STAGE 5</a:t>
            </a:r>
            <a:endParaRPr b="0" i="0" sz="1400" u="none" cap="none" strike="noStrike"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AsyncRAT Execution</a:t>
            </a:r>
            <a:endParaRPr b="0" i="0" sz="1400" u="none" cap="none" strike="noStrike"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C2 Connection</a:t>
            </a:r>
            <a:endParaRPr b="0" i="0" sz="1400" u="none" cap="none" strike="noStrike"/>
          </a:p>
        </p:txBody>
      </p:sp>
      <p:sp>
        <p:nvSpPr>
          <p:cNvPr id="89" name="Google Shape;89;p6"/>
          <p:cNvSpPr/>
          <p:nvPr/>
        </p:nvSpPr>
        <p:spPr>
          <a:xfrm>
            <a:off x="762000" y="4127500"/>
            <a:ext cx="508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Detection Opportunities — Infection Chain</a:t>
            </a:r>
            <a:endParaRPr b="0" i="0" sz="1800" u="none" cap="none" strike="noStrike"/>
          </a:p>
        </p:txBody>
      </p:sp>
      <p:graphicFrame>
        <p:nvGraphicFramePr>
          <p:cNvPr id="90" name="Google Shape;90;p6"/>
          <p:cNvGraphicFramePr/>
          <p:nvPr/>
        </p:nvGraphicFramePr>
        <p:xfrm>
          <a:off x="762000" y="457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{ADFEE790-FD8F-451C-B811-B6AE758B8932}</a:tableStyleId>
              </a:tblPr>
              <a:tblGrid>
                <a:gridCol w="4419600"/>
                <a:gridCol w="10312400"/>
              </a:tblGrid>
              <a:tr h="528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DETECTION OPPORTUNITY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A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WHY IT WORKS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A32"/>
                    </a:solidFill>
                  </a:tcPr>
                </a:tc>
              </a:tr>
              <a:tr h="693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OneNote .one attachments with embedded scripts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Malicious OneNote files contain embedded HTA or batch scripts that execute on open. Block .one attachments at email gateway.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</a:tr>
              <a:tr h="693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PowerShell downloading from S3 / Cloudflare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Stage 2 PowerShell downloads payloads from cloud storage. Monitor for IEX + DownloadString from external domains.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</a:tr>
              <a:tr h="693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Process hollowing into .NET executables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CreateProcess of RegSvcs.exe/AppLaunch.exe in suspended state + NtUnmapViewOfSection is a high-fidelity indicator.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</a:tr>
              <a:tr h="693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Outbound connections to ports 6606/7707/8808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These are AsyncRAT default C2 ports. No legitimate service uses these ports. Block at perimeter for instant detection.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</a:tr>
            </a:tbl>
          </a:graphicData>
        </a:graphic>
      </p:graphicFrame>
      <p:cxnSp>
        <p:nvCxnSpPr>
          <p:cNvPr id="91" name="Google Shape;91;p6"/>
          <p:cNvCxnSpPr/>
          <p:nvPr/>
        </p:nvCxn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" name="Google Shape;92;p6"/>
          <p:cNvSpPr/>
          <p:nvPr/>
        </p:nvSpPr>
        <p:spPr>
          <a:xfrm>
            <a:off x="7366000" y="88265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 / 15</a:t>
            </a:r>
            <a:endParaRPr b="0" i="0" sz="1400" u="none" cap="none" strike="noStrike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418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"/>
          <p:cNvSpPr/>
          <p:nvPr/>
        </p:nvSpPr>
        <p:spPr>
          <a:xfrm>
            <a:off x="762000" y="254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SRC-2026-0614-ASYNC</a:t>
            </a:r>
            <a:endParaRPr b="0" i="0" sz="1400" u="none" cap="none" strike="noStrike"/>
          </a:p>
        </p:txBody>
      </p:sp>
      <p:sp>
        <p:nvSpPr>
          <p:cNvPr id="99" name="Google Shape;99;p7"/>
          <p:cNvSpPr/>
          <p:nvPr/>
        </p:nvSpPr>
        <p:spPr>
          <a:xfrm>
            <a:off x="13462000" y="254000"/>
            <a:ext cx="2032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CONFIDENTIAL</a:t>
            </a:r>
            <a:endParaRPr b="0" i="0" sz="1200" u="none" cap="none" strike="noStrike"/>
          </a:p>
        </p:txBody>
      </p:sp>
      <p:sp>
        <p:nvSpPr>
          <p:cNvPr id="100" name="Google Shape;100;p7"/>
          <p:cNvSpPr/>
          <p:nvPr/>
        </p:nvSpPr>
        <p:spPr>
          <a:xfrm>
            <a:off x="762000" y="698500"/>
            <a:ext cx="147320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The AsyncRAT Client — Core Architecture and Capabilities</a:t>
            </a:r>
            <a:endParaRPr b="0" i="0" sz="2600" u="none" cap="none" strike="noStrike"/>
          </a:p>
        </p:txBody>
      </p:sp>
      <p:cxnSp>
        <p:nvCxnSpPr>
          <p:cNvPr id="101" name="Google Shape;101;p7"/>
          <p:cNvCxnSpPr/>
          <p:nvPr/>
        </p:nvCxnSpPr>
        <p:spPr>
          <a:xfrm>
            <a:off x="762000" y="1244600"/>
            <a:ext cx="14732000" cy="0"/>
          </a:xfrm>
          <a:prstGeom prst="straightConnector1">
            <a:avLst/>
          </a:prstGeom>
          <a:noFill/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" name="Google Shape;102;p7"/>
          <p:cNvSpPr/>
          <p:nvPr/>
        </p:nvSpPr>
        <p:spPr>
          <a:xfrm>
            <a:off x="762000" y="1397000"/>
            <a:ext cx="3048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OFFENSIVE TECHNIQUE</a:t>
            </a:r>
            <a:endParaRPr b="0" i="0" sz="1200" u="none" cap="none" strike="noStrike"/>
          </a:p>
        </p:txBody>
      </p:sp>
      <p:sp>
        <p:nvSpPr>
          <p:cNvPr id="103" name="Google Shape;103;p7"/>
          <p:cNvSpPr/>
          <p:nvPr/>
        </p:nvSpPr>
        <p:spPr>
          <a:xfrm>
            <a:off x="3937000" y="1397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.NET Remote Access Trojan with Plugin Architecture</a:t>
            </a:r>
            <a:endParaRPr b="0" i="0" sz="1600" u="none" cap="none" strike="noStrike"/>
          </a:p>
        </p:txBody>
      </p:sp>
      <p:sp>
        <p:nvSpPr>
          <p:cNvPr id="104" name="Google Shape;104;p7"/>
          <p:cNvSpPr/>
          <p:nvPr/>
        </p:nvSpPr>
        <p:spPr>
          <a:xfrm>
            <a:off x="762000" y="1879600"/>
            <a:ext cx="6858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Core Capabilities</a:t>
            </a:r>
            <a:endParaRPr b="0" i="0" sz="1800" u="none" cap="none" strike="noStrike"/>
          </a:p>
        </p:txBody>
      </p:sp>
      <p:sp>
        <p:nvSpPr>
          <p:cNvPr id="105" name="Google Shape;105;p7"/>
          <p:cNvSpPr/>
          <p:nvPr/>
        </p:nvSpPr>
        <p:spPr>
          <a:xfrm>
            <a:off x="762000" y="2286000"/>
            <a:ext cx="6858000" cy="4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▶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Remote Desktop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View and record victim screen in real-time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▶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Keylogger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Capture all keystrokes with window context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▶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File Manager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Upload, download, delete, execute files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▶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Process Manager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List, kill, start processes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▶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Browser Credentials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Extract saved passwords from Chrome, Firefox, Edge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▶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Remote Camera/Mic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Capture audio and video from devices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▶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Chat Communication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Bidirectional messaging with operator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▶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Plugin System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Extensible via downloaded .dll modules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▶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System Information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Harvest OS, hardware, installed software</a:t>
            </a:r>
            <a:endParaRPr b="0" i="0" sz="16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▶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Disable Windows Defender</a:t>
            </a:r>
            <a:r>
              <a:rPr b="0" i="0" lang="en-US" sz="16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Tamper with security tools</a:t>
            </a:r>
            <a:endParaRPr b="0" i="0" sz="1600" u="none" cap="none" strike="noStrike"/>
          </a:p>
        </p:txBody>
      </p:sp>
      <p:sp>
        <p:nvSpPr>
          <p:cNvPr id="106" name="Google Shape;106;p7"/>
          <p:cNvSpPr/>
          <p:nvPr/>
        </p:nvSpPr>
        <p:spPr>
          <a:xfrm>
            <a:off x="8128000" y="1879600"/>
            <a:ext cx="7366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Technical Architecture</a:t>
            </a:r>
            <a:endParaRPr b="0" i="0" sz="1800" u="none" cap="none" strike="noStrike"/>
          </a:p>
        </p:txBody>
      </p:sp>
      <p:sp>
        <p:nvSpPr>
          <p:cNvPr id="107" name="Google Shape;107;p7"/>
          <p:cNvSpPr/>
          <p:nvPr/>
        </p:nvSpPr>
        <p:spPr>
          <a:xfrm>
            <a:off x="8128000" y="2286000"/>
            <a:ext cx="7366000" cy="4318000"/>
          </a:xfrm>
          <a:prstGeom prst="rect">
            <a:avLst/>
          </a:prstGeom>
          <a:solidFill>
            <a:srgbClr val="1E2227"/>
          </a:solidFill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8128000" y="2286000"/>
            <a:ext cx="50800" cy="4318000"/>
          </a:xfrm>
          <a:prstGeom prst="rect">
            <a:avLst/>
          </a:prstGeom>
          <a:solidFill>
            <a:srgbClr val="D9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"/>
          <p:cNvSpPr/>
          <p:nvPr/>
        </p:nvSpPr>
        <p:spPr>
          <a:xfrm>
            <a:off x="8382000" y="2413000"/>
            <a:ext cx="6921500" cy="40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Liter"/>
                <a:ea typeface="Liter"/>
                <a:cs typeface="Liter"/>
                <a:sym typeface="Liter"/>
              </a:rPr>
              <a:t>// AsyncRAT is written in C# using .NET Framework</a:t>
            </a:r>
            <a:endParaRPr b="0" i="0" sz="14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Liter"/>
                <a:ea typeface="Liter"/>
                <a:cs typeface="Liter"/>
                <a:sym typeface="Liter"/>
              </a:rPr>
              <a:t>// The client connects to the operator's server</a:t>
            </a:r>
            <a:endParaRPr b="0" i="0" sz="14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namespace</a:t>
            </a: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AsyncRAT_Sharp</a:t>
            </a:r>
            <a:endParaRPr b="0" i="0" sz="14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{</a:t>
            </a:r>
            <a:endParaRPr b="0" i="0" sz="14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</a:t>
            </a:r>
            <a:r>
              <a:rPr b="0" i="0" lang="en-US" sz="14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class</a:t>
            </a: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</a:t>
            </a:r>
            <a:r>
              <a:rPr b="1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Client</a:t>
            </a:r>
            <a:endParaRPr b="0" i="0" sz="14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{</a:t>
            </a:r>
            <a:endParaRPr b="0" i="0" sz="14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    </a:t>
            </a:r>
            <a:r>
              <a:rPr b="0" i="0" lang="en-US" sz="1400" u="none" cap="none" strike="noStrike">
                <a:solidFill>
                  <a:srgbClr val="8C95A5"/>
                </a:solidFill>
                <a:latin typeface="Liter"/>
                <a:ea typeface="Liter"/>
                <a:cs typeface="Liter"/>
                <a:sym typeface="Liter"/>
              </a:rPr>
              <a:t>// Default C2 ports (configurable)</a:t>
            </a:r>
            <a:endParaRPr b="0" i="0" sz="14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    </a:t>
            </a:r>
            <a:r>
              <a:rPr b="0" i="0" lang="en-US" sz="14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static int</a:t>
            </a: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PORT = </a:t>
            </a:r>
            <a:r>
              <a:rPr b="0" i="0" lang="en-US" sz="1400" u="none" cap="none" strike="noStrike">
                <a:solidFill>
                  <a:srgbClr val="E8A020"/>
                </a:solidFill>
                <a:latin typeface="Liter"/>
                <a:ea typeface="Liter"/>
                <a:cs typeface="Liter"/>
                <a:sym typeface="Liter"/>
              </a:rPr>
              <a:t>6606</a:t>
            </a: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;</a:t>
            </a:r>
            <a:endParaRPr b="0" i="0" sz="14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    </a:t>
            </a:r>
            <a:r>
              <a:rPr b="0" i="0" lang="en-US" sz="1400" u="none" cap="none" strike="noStrike">
                <a:solidFill>
                  <a:srgbClr val="8C95A5"/>
                </a:solidFill>
                <a:latin typeface="Liter"/>
                <a:ea typeface="Liter"/>
                <a:cs typeface="Liter"/>
                <a:sym typeface="Liter"/>
              </a:rPr>
              <a:t>// or 7707, or 8808</a:t>
            </a:r>
            <a:endParaRPr b="0" i="0" sz="14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    </a:t>
            </a:r>
            <a:r>
              <a:rPr b="0" i="0" lang="en-US" sz="1400" u="none" cap="none" strike="noStrike">
                <a:solidFill>
                  <a:srgbClr val="8C95A5"/>
                </a:solidFill>
                <a:latin typeface="Liter"/>
                <a:ea typeface="Liter"/>
                <a:cs typeface="Liter"/>
                <a:sym typeface="Liter"/>
              </a:rPr>
              <a:t>// TLS encryption for C2 channel</a:t>
            </a:r>
            <a:endParaRPr b="0" i="0" sz="14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    </a:t>
            </a:r>
            <a:r>
              <a:rPr b="0" i="0" lang="en-US" sz="14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static</a:t>
            </a: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SslStream </a:t>
            </a:r>
            <a:r>
              <a:rPr b="1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sslStream</a:t>
            </a: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;</a:t>
            </a:r>
            <a:endParaRPr b="0" i="0" sz="14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    </a:t>
            </a:r>
            <a:r>
              <a:rPr b="0" i="0" lang="en-US" sz="1400" u="none" cap="none" strike="noStrike">
                <a:solidFill>
                  <a:srgbClr val="8C95A5"/>
                </a:solidFill>
                <a:latin typeface="Liter"/>
                <a:ea typeface="Liter"/>
                <a:cs typeface="Liter"/>
                <a:sym typeface="Liter"/>
              </a:rPr>
              <a:t>// Plugin manager for extensibility</a:t>
            </a:r>
            <a:endParaRPr b="0" i="0" sz="14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    </a:t>
            </a:r>
            <a:r>
              <a:rPr b="0" i="0" lang="en-US" sz="14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static</a:t>
            </a: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PluginLoader </a:t>
            </a:r>
            <a:r>
              <a:rPr b="1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plugins</a:t>
            </a: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;</a:t>
            </a:r>
            <a:endParaRPr b="0" i="0" sz="14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}</a:t>
            </a:r>
            <a:endParaRPr b="0" i="0" sz="14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}</a:t>
            </a:r>
            <a:endParaRPr b="0" i="0" sz="1400" u="none" cap="none" strike="noStrike"/>
          </a:p>
        </p:txBody>
      </p:sp>
      <p:sp>
        <p:nvSpPr>
          <p:cNvPr id="110" name="Google Shape;110;p7"/>
          <p:cNvSpPr/>
          <p:nvPr/>
        </p:nvSpPr>
        <p:spPr>
          <a:xfrm>
            <a:off x="762000" y="6794500"/>
            <a:ext cx="14732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Source:</a:t>
            </a: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github.com/NYAN-x-CAT/AsyncRAT — Released 2019, widely forked into DCRat, VenomRAT, and other derivatives</a:t>
            </a:r>
            <a:endParaRPr b="0" i="0" sz="1400" u="none" cap="none" strike="noStrike"/>
          </a:p>
        </p:txBody>
      </p:sp>
      <p:cxnSp>
        <p:nvCxnSpPr>
          <p:cNvPr id="111" name="Google Shape;111;p7"/>
          <p:cNvCxnSpPr/>
          <p:nvPr/>
        </p:nvCxn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7"/>
          <p:cNvSpPr/>
          <p:nvPr/>
        </p:nvSpPr>
        <p:spPr>
          <a:xfrm>
            <a:off x="7366000" y="88265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05 / 15</a:t>
            </a:r>
            <a:endParaRPr b="0" i="0" sz="1400" u="none" cap="none" strike="noStrike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418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"/>
          <p:cNvSpPr/>
          <p:nvPr/>
        </p:nvSpPr>
        <p:spPr>
          <a:xfrm>
            <a:off x="762000" y="254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SRC-2026-0614-ASYNC</a:t>
            </a:r>
            <a:endParaRPr b="0" i="0" sz="1400" u="none" cap="none" strike="noStrike"/>
          </a:p>
        </p:txBody>
      </p:sp>
      <p:sp>
        <p:nvSpPr>
          <p:cNvPr id="119" name="Google Shape;119;p8"/>
          <p:cNvSpPr/>
          <p:nvPr/>
        </p:nvSpPr>
        <p:spPr>
          <a:xfrm>
            <a:off x="13462000" y="254000"/>
            <a:ext cx="2032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CONFIDENTIAL</a:t>
            </a:r>
            <a:endParaRPr b="0" i="0" sz="1200" u="none" cap="none" strike="noStrike"/>
          </a:p>
        </p:txBody>
      </p:sp>
      <p:sp>
        <p:nvSpPr>
          <p:cNvPr id="120" name="Google Shape;120;p8"/>
          <p:cNvSpPr/>
          <p:nvPr/>
        </p:nvSpPr>
        <p:spPr>
          <a:xfrm>
            <a:off x="762000" y="698500"/>
            <a:ext cx="147320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C2 Communication — Custom TCP Protocol with TLS Encryption</a:t>
            </a:r>
            <a:endParaRPr b="0" i="0" sz="2600" u="none" cap="none" strike="noStrike"/>
          </a:p>
        </p:txBody>
      </p:sp>
      <p:cxnSp>
        <p:nvCxnSpPr>
          <p:cNvPr id="121" name="Google Shape;121;p8"/>
          <p:cNvCxnSpPr/>
          <p:nvPr/>
        </p:nvCxnSpPr>
        <p:spPr>
          <a:xfrm>
            <a:off x="762000" y="1244600"/>
            <a:ext cx="14732000" cy="0"/>
          </a:xfrm>
          <a:prstGeom prst="straightConnector1">
            <a:avLst/>
          </a:prstGeom>
          <a:noFill/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" name="Google Shape;122;p8"/>
          <p:cNvSpPr/>
          <p:nvPr/>
        </p:nvSpPr>
        <p:spPr>
          <a:xfrm>
            <a:off x="762000" y="1397000"/>
            <a:ext cx="3048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OFFENSIVE TECHNIQUE</a:t>
            </a:r>
            <a:endParaRPr b="0" i="0" sz="1200" u="none" cap="none" strike="noStrike"/>
          </a:p>
        </p:txBody>
      </p:sp>
      <p:sp>
        <p:nvSpPr>
          <p:cNvPr id="123" name="Google Shape;123;p8"/>
          <p:cNvSpPr/>
          <p:nvPr/>
        </p:nvSpPr>
        <p:spPr>
          <a:xfrm>
            <a:off x="3937000" y="1397000"/>
            <a:ext cx="7620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Custom TCP Binary Protocol over TLS with Self-Signed Certificates</a:t>
            </a:r>
            <a:endParaRPr b="0" i="0" sz="1600" u="none" cap="none" strike="noStrike"/>
          </a:p>
        </p:txBody>
      </p:sp>
      <p:sp>
        <p:nvSpPr>
          <p:cNvPr id="124" name="Google Shape;124;p8"/>
          <p:cNvSpPr/>
          <p:nvPr/>
        </p:nvSpPr>
        <p:spPr>
          <a:xfrm>
            <a:off x="762000" y="1879600"/>
            <a:ext cx="6858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Protocol Characteristics</a:t>
            </a:r>
            <a:endParaRPr b="0" i="0" sz="1800" u="none" cap="none" strike="noStrike"/>
          </a:p>
        </p:txBody>
      </p:sp>
      <p:sp>
        <p:nvSpPr>
          <p:cNvPr id="125" name="Google Shape;125;p8"/>
          <p:cNvSpPr/>
          <p:nvPr/>
        </p:nvSpPr>
        <p:spPr>
          <a:xfrm>
            <a:off x="762000" y="2286000"/>
            <a:ext cx="6858000" cy="2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AsyncRAT uses a </a:t>
            </a:r>
            <a:r>
              <a:rPr b="1" i="0" lang="en-US" sz="14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custom TCP protocol</a:t>
            </a:r>
            <a:r>
              <a:rPr b="0" i="0" lang="en-US" sz="14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for C2 communication, wrapped in SSL/TLS encryption. Key characteristics:</a:t>
            </a:r>
            <a:endParaRPr b="0" i="0" sz="14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▶</a:t>
            </a:r>
            <a:r>
              <a:rPr b="0" i="0" lang="en-US" sz="14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4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Default ports:</a:t>
            </a:r>
            <a:r>
              <a:rPr b="0" i="0" lang="en-US" sz="14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6606, 7707, 8808 (operator-configurable)</a:t>
            </a:r>
            <a:endParaRPr b="0" i="0" sz="14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▶</a:t>
            </a:r>
            <a:r>
              <a:rPr b="0" i="0" lang="en-US" sz="14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4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TLS certificate CN:</a:t>
            </a:r>
            <a:r>
              <a:rPr b="0" i="0" lang="en-US" sz="14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"AsyncRAT Server" (self-signed)</a:t>
            </a:r>
            <a:endParaRPr b="0" i="0" sz="14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▶</a:t>
            </a:r>
            <a:r>
              <a:rPr b="0" i="0" lang="en-US" sz="14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4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Beacon interval:</a:t>
            </a:r>
            <a:r>
              <a:rPr b="0" i="0" lang="en-US" sz="14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Configurable, typically 1-5 seconds</a:t>
            </a:r>
            <a:endParaRPr b="0" i="0" sz="14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▶</a:t>
            </a:r>
            <a:r>
              <a:rPr b="0" i="0" lang="en-US" sz="14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4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Packet structure:</a:t>
            </a:r>
            <a:r>
              <a:rPr b="0" i="0" lang="en-US" sz="14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Length-prefixed binary messages</a:t>
            </a:r>
            <a:endParaRPr b="0" i="0" sz="14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▶</a:t>
            </a:r>
            <a:r>
              <a:rPr b="0" i="0" lang="en-US" sz="14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4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Encryption:</a:t>
            </a:r>
            <a:r>
              <a:rPr b="0" i="0" lang="en-US" sz="14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AES after TLS handshake</a:t>
            </a:r>
            <a:endParaRPr b="0" i="0" sz="1400" u="none" cap="none" strike="noStrike"/>
          </a:p>
        </p:txBody>
      </p:sp>
      <p:sp>
        <p:nvSpPr>
          <p:cNvPr id="126" name="Google Shape;126;p8"/>
          <p:cNvSpPr/>
          <p:nvPr/>
        </p:nvSpPr>
        <p:spPr>
          <a:xfrm>
            <a:off x="8128000" y="1879600"/>
            <a:ext cx="7366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Connection Establishment</a:t>
            </a:r>
            <a:endParaRPr b="0" i="0" sz="1800" u="none" cap="none" strike="noStrike"/>
          </a:p>
        </p:txBody>
      </p:sp>
      <p:sp>
        <p:nvSpPr>
          <p:cNvPr id="127" name="Google Shape;127;p8"/>
          <p:cNvSpPr/>
          <p:nvPr/>
        </p:nvSpPr>
        <p:spPr>
          <a:xfrm>
            <a:off x="8128000" y="2286000"/>
            <a:ext cx="7366000" cy="2540000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8"/>
          <p:cNvSpPr/>
          <p:nvPr/>
        </p:nvSpPr>
        <p:spPr>
          <a:xfrm>
            <a:off x="8128000" y="2286000"/>
            <a:ext cx="50800" cy="2540000"/>
          </a:xfrm>
          <a:prstGeom prst="rect">
            <a:avLst/>
          </a:prstGeom>
          <a:solidFill>
            <a:srgbClr val="D9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8"/>
          <p:cNvSpPr/>
          <p:nvPr/>
        </p:nvSpPr>
        <p:spPr>
          <a:xfrm>
            <a:off x="8382000" y="2413000"/>
            <a:ext cx="69215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Liter"/>
                <a:ea typeface="Liter"/>
                <a:cs typeface="Liter"/>
                <a:sym typeface="Liter"/>
              </a:rPr>
              <a:t>// AsyncRAT C2 connection logic</a:t>
            </a:r>
            <a:endParaRPr b="0" i="0" sz="14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private static void</a:t>
            </a: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</a:t>
            </a:r>
            <a:r>
              <a:rPr b="1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Connect</a:t>
            </a: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()</a:t>
            </a:r>
            <a:endParaRPr b="0" i="0" sz="14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{</a:t>
            </a:r>
            <a:endParaRPr b="0" i="0" sz="14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client = </a:t>
            </a:r>
            <a:r>
              <a:rPr b="0" i="0" lang="en-US" sz="14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new</a:t>
            </a: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TcpClient();</a:t>
            </a:r>
            <a:endParaRPr b="0" i="0" sz="14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client.Connect(HOST, PORT); </a:t>
            </a:r>
            <a:r>
              <a:rPr b="0" i="0" lang="en-US" sz="1400" u="none" cap="none" strike="noStrike">
                <a:solidFill>
                  <a:srgbClr val="8C95A5"/>
                </a:solidFill>
                <a:latin typeface="Liter"/>
                <a:ea typeface="Liter"/>
                <a:cs typeface="Liter"/>
                <a:sym typeface="Liter"/>
              </a:rPr>
              <a:t>// 6606/7707/8808</a:t>
            </a:r>
            <a:endParaRPr b="0" i="0" sz="14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SslStream ssl = </a:t>
            </a:r>
            <a:r>
              <a:rPr b="0" i="0" lang="en-US" sz="14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new</a:t>
            </a: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SslStream(</a:t>
            </a:r>
            <a:endParaRPr b="0" i="0" sz="14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    client.GetStream(), </a:t>
            </a:r>
            <a:r>
              <a:rPr b="0" i="0" lang="en-US" sz="14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false</a:t>
            </a: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,</a:t>
            </a:r>
            <a:endParaRPr b="0" i="0" sz="14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    ValidateCertificate);</a:t>
            </a:r>
            <a:endParaRPr b="0" i="0" sz="14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ssl.AuthenticateAsClient(HOST);</a:t>
            </a:r>
            <a:endParaRPr b="0" i="0" sz="14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</a:t>
            </a:r>
            <a:r>
              <a:rPr b="0" i="0" lang="en-US" sz="1400" u="none" cap="none" strike="noStrike">
                <a:solidFill>
                  <a:srgbClr val="8C95A5"/>
                </a:solidFill>
                <a:latin typeface="Liter"/>
                <a:ea typeface="Liter"/>
                <a:cs typeface="Liter"/>
                <a:sym typeface="Liter"/>
              </a:rPr>
              <a:t>// Beacon begins — sends system info</a:t>
            </a:r>
            <a:endParaRPr b="0" i="0" sz="14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}</a:t>
            </a:r>
            <a:endParaRPr b="0" i="0" sz="1400" u="none" cap="none" strike="noStrike"/>
          </a:p>
        </p:txBody>
      </p:sp>
      <p:sp>
        <p:nvSpPr>
          <p:cNvPr id="130" name="Google Shape;130;p8"/>
          <p:cNvSpPr/>
          <p:nvPr/>
        </p:nvSpPr>
        <p:spPr>
          <a:xfrm>
            <a:off x="762000" y="5143500"/>
            <a:ext cx="762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Detection Opportunities — C2 Protocol</a:t>
            </a:r>
            <a:endParaRPr b="0" i="0" sz="1800" u="none" cap="none" strike="noStrike"/>
          </a:p>
        </p:txBody>
      </p:sp>
      <p:graphicFrame>
        <p:nvGraphicFramePr>
          <p:cNvPr id="131" name="Google Shape;131;p8"/>
          <p:cNvGraphicFramePr/>
          <p:nvPr/>
        </p:nvGraphicFramePr>
        <p:xfrm>
          <a:off x="762000" y="5588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{ADFEE790-FD8F-451C-B811-B6AE758B8932}</a:tableStyleId>
              </a:tblPr>
              <a:tblGrid>
                <a:gridCol w="4419600"/>
                <a:gridCol w="10312400"/>
              </a:tblGrid>
              <a:tr h="508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DETECTION OPPORTUNITY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A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WHY IT WORKS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A3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Self-signed cert with CN="AsyncRAT Server"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The default certificate common name is a high-fidelity indicator. Monitor SSL handshakes for this CN string.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Connections to ports 6606/7707/8808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No legitimate service uses these ports. Any outbound connection is suspicious. Effective at network perimeter.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Regular beaconing with consistent jitter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AsyncRAT beacons at fixed intervals with small random jitter. Statistical timing analysis reveals the pattern.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</a:tr>
            </a:tbl>
          </a:graphicData>
        </a:graphic>
      </p:graphicFrame>
      <p:sp>
        <p:nvSpPr>
          <p:cNvPr id="132" name="Google Shape;132;p8"/>
          <p:cNvSpPr/>
          <p:nvPr/>
        </p:nvSpPr>
        <p:spPr>
          <a:xfrm>
            <a:off x="762000" y="8255000"/>
            <a:ext cx="2540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DEFENSIVE CONTROLS</a:t>
            </a:r>
            <a:endParaRPr b="0" i="0" sz="1400" u="none" cap="none" strike="noStrike"/>
          </a:p>
        </p:txBody>
      </p:sp>
      <p:sp>
        <p:nvSpPr>
          <p:cNvPr id="133" name="Google Shape;133;p8"/>
          <p:cNvSpPr/>
          <p:nvPr/>
        </p:nvSpPr>
        <p:spPr>
          <a:xfrm>
            <a:off x="3429000" y="8255000"/>
            <a:ext cx="12065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Block ports 6606/7707/8808 at perimeter | SSL inspection for self-signed cert CN | DNS sinkholing of known C2 domains</a:t>
            </a:r>
            <a:endParaRPr b="0" i="0" sz="1400" u="none" cap="none" strike="noStrike"/>
          </a:p>
        </p:txBody>
      </p:sp>
      <p:cxnSp>
        <p:nvCxnSpPr>
          <p:cNvPr id="134" name="Google Shape;134;p8"/>
          <p:cNvCxnSpPr/>
          <p:nvPr/>
        </p:nvCxn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" name="Google Shape;135;p8"/>
          <p:cNvSpPr/>
          <p:nvPr/>
        </p:nvSpPr>
        <p:spPr>
          <a:xfrm>
            <a:off x="7366000" y="88265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06 / 15</a:t>
            </a:r>
            <a:endParaRPr b="0" i="0" sz="1400" u="none" cap="none" strike="noStrike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418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"/>
          <p:cNvSpPr/>
          <p:nvPr/>
        </p:nvSpPr>
        <p:spPr>
          <a:xfrm>
            <a:off x="762000" y="254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SRC-2026-0614-ASYNC</a:t>
            </a:r>
            <a:endParaRPr b="0" i="0" sz="1400" u="none" cap="none" strike="noStrike"/>
          </a:p>
        </p:txBody>
      </p:sp>
      <p:sp>
        <p:nvSpPr>
          <p:cNvPr id="142" name="Google Shape;142;p9"/>
          <p:cNvSpPr/>
          <p:nvPr/>
        </p:nvSpPr>
        <p:spPr>
          <a:xfrm>
            <a:off x="13462000" y="254000"/>
            <a:ext cx="2032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CONFIDENTIAL</a:t>
            </a:r>
            <a:endParaRPr b="0" i="0" sz="1200" u="none" cap="none" strike="noStrike"/>
          </a:p>
        </p:txBody>
      </p:sp>
      <p:sp>
        <p:nvSpPr>
          <p:cNvPr id="143" name="Google Shape;143;p9"/>
          <p:cNvSpPr/>
          <p:nvPr/>
        </p:nvSpPr>
        <p:spPr>
          <a:xfrm>
            <a:off x="762000" y="698500"/>
            <a:ext cx="147320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Process Injection — Process Hollowing for Evasion</a:t>
            </a:r>
            <a:endParaRPr b="0" i="0" sz="2600" u="none" cap="none" strike="noStrike"/>
          </a:p>
        </p:txBody>
      </p:sp>
      <p:cxnSp>
        <p:nvCxnSpPr>
          <p:cNvPr id="144" name="Google Shape;144;p9"/>
          <p:cNvCxnSpPr/>
          <p:nvPr/>
        </p:nvCxnSpPr>
        <p:spPr>
          <a:xfrm>
            <a:off x="762000" y="1244600"/>
            <a:ext cx="14732000" cy="0"/>
          </a:xfrm>
          <a:prstGeom prst="straightConnector1">
            <a:avLst/>
          </a:prstGeom>
          <a:noFill/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5" name="Google Shape;145;p9"/>
          <p:cNvSpPr/>
          <p:nvPr/>
        </p:nvSpPr>
        <p:spPr>
          <a:xfrm>
            <a:off x="762000" y="1397000"/>
            <a:ext cx="3048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OFFENSIVE TECHNIQUE</a:t>
            </a:r>
            <a:endParaRPr b="0" i="0" sz="1200" u="none" cap="none" strike="noStrike"/>
          </a:p>
        </p:txBody>
      </p:sp>
      <p:sp>
        <p:nvSpPr>
          <p:cNvPr id="146" name="Google Shape;146;p9"/>
          <p:cNvSpPr/>
          <p:nvPr/>
        </p:nvSpPr>
        <p:spPr>
          <a:xfrm>
            <a:off x="3937000" y="1397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Process Hollowing into .NET Framework Executables</a:t>
            </a:r>
            <a:endParaRPr b="0" i="0" sz="1600" u="none" cap="none" strike="noStrike"/>
          </a:p>
        </p:txBody>
      </p:sp>
      <p:sp>
        <p:nvSpPr>
          <p:cNvPr id="147" name="Google Shape;147;p9"/>
          <p:cNvSpPr/>
          <p:nvPr/>
        </p:nvSpPr>
        <p:spPr>
          <a:xfrm>
            <a:off x="762000" y="1879600"/>
            <a:ext cx="6858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How Process Hollowing Works</a:t>
            </a:r>
            <a:endParaRPr b="0" i="0" sz="1800" u="none" cap="none" strike="noStrike"/>
          </a:p>
        </p:txBody>
      </p:sp>
      <p:sp>
        <p:nvSpPr>
          <p:cNvPr id="148" name="Google Shape;148;p9"/>
          <p:cNvSpPr/>
          <p:nvPr/>
        </p:nvSpPr>
        <p:spPr>
          <a:xfrm>
            <a:off x="762000" y="2286000"/>
            <a:ext cx="6858000" cy="29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AsyncRAT uses </a:t>
            </a:r>
            <a:r>
              <a:rPr b="1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process hollowing</a:t>
            </a:r>
            <a:r>
              <a:rPr b="0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to execute its payload in the context of a legitimate Windows process. The technique follows these steps:</a:t>
            </a:r>
            <a:endParaRPr b="0" i="0" sz="13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</a:t>
            </a:r>
            <a:r>
              <a:rPr b="0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Create a suspended process of a legitimate .NET executable (RegSvcs.exe or AppLaunch.exe)</a:t>
            </a:r>
            <a:endParaRPr b="0" i="0" sz="13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</a:t>
            </a:r>
            <a:r>
              <a:rPr b="0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Unmap the legitimate executable from memory using NtUnmapViewOfSection</a:t>
            </a:r>
            <a:endParaRPr b="0" i="0" sz="13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</a:t>
            </a:r>
            <a:r>
              <a:rPr b="0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Allocate new memory in the hollowed process with VirtualAllocEx (RWX permissions)</a:t>
            </a:r>
            <a:endParaRPr b="0" i="0" sz="13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</a:t>
            </a:r>
            <a:r>
              <a:rPr b="0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Write the malicious AsyncRAT payload into the allocated memory</a:t>
            </a:r>
            <a:endParaRPr b="0" i="0" sz="13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5.</a:t>
            </a:r>
            <a:r>
              <a:rPr b="0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Resume the main thread — AsyncRAT now runs as the "legitimate" process</a:t>
            </a:r>
            <a:endParaRPr b="0" i="0" sz="1300" u="none" cap="none" strike="noStrike"/>
          </a:p>
        </p:txBody>
      </p:sp>
      <p:sp>
        <p:nvSpPr>
          <p:cNvPr id="149" name="Google Shape;149;p9"/>
          <p:cNvSpPr/>
          <p:nvPr/>
        </p:nvSpPr>
        <p:spPr>
          <a:xfrm>
            <a:off x="8128000" y="1879600"/>
            <a:ext cx="7366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Injection Code Pattern</a:t>
            </a:r>
            <a:endParaRPr b="0" i="0" sz="1800" u="none" cap="none" strike="noStrike"/>
          </a:p>
        </p:txBody>
      </p:sp>
      <p:sp>
        <p:nvSpPr>
          <p:cNvPr id="150" name="Google Shape;150;p9"/>
          <p:cNvSpPr/>
          <p:nvPr/>
        </p:nvSpPr>
        <p:spPr>
          <a:xfrm>
            <a:off x="8128000" y="2286000"/>
            <a:ext cx="7366000" cy="2921000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9"/>
          <p:cNvSpPr/>
          <p:nvPr/>
        </p:nvSpPr>
        <p:spPr>
          <a:xfrm>
            <a:off x="8128000" y="2286000"/>
            <a:ext cx="50800" cy="2921000"/>
          </a:xfrm>
          <a:prstGeom prst="rect">
            <a:avLst/>
          </a:prstGeom>
          <a:solidFill>
            <a:srgbClr val="D9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9"/>
          <p:cNvSpPr/>
          <p:nvPr/>
        </p:nvSpPr>
        <p:spPr>
          <a:xfrm>
            <a:off x="8382000" y="2413000"/>
            <a:ext cx="69215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8C95A5"/>
                </a:solidFill>
                <a:latin typeface="Liter"/>
                <a:ea typeface="Liter"/>
                <a:cs typeface="Liter"/>
                <a:sym typeface="Liter"/>
              </a:rPr>
              <a:t>// Process Hollowing — AsyncRAT injector</a:t>
            </a:r>
            <a:endParaRPr b="0" i="0" sz="13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bool</a:t>
            </a: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</a:t>
            </a:r>
            <a:r>
              <a:rPr b="1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HollowProcess</a:t>
            </a: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(</a:t>
            </a:r>
            <a:r>
              <a:rPr b="0" i="0" lang="en-US" sz="13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char*</a:t>
            </a: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targetPath,</a:t>
            </a:r>
            <a:endParaRPr b="0" i="0" sz="13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                      </a:t>
            </a:r>
            <a:r>
              <a:rPr b="0" i="0" lang="en-US" sz="13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byte*</a:t>
            </a: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payload, </a:t>
            </a:r>
            <a:r>
              <a:rPr b="0" i="0" lang="en-US" sz="13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size_t</a:t>
            </a: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size)</a:t>
            </a:r>
            <a:endParaRPr b="0" i="0" sz="13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{</a:t>
            </a:r>
            <a:endParaRPr b="0" i="0" sz="13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</a:t>
            </a:r>
            <a:r>
              <a:rPr b="0" i="0" lang="en-US" sz="1300" u="none" cap="none" strike="noStrike">
                <a:solidFill>
                  <a:srgbClr val="8C95A5"/>
                </a:solidFill>
                <a:latin typeface="Liter"/>
                <a:ea typeface="Liter"/>
                <a:cs typeface="Liter"/>
                <a:sym typeface="Liter"/>
              </a:rPr>
              <a:t>// 1. Create suspended process</a:t>
            </a:r>
            <a:endParaRPr b="0" i="0" sz="13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CreateProcess(targetPath, NULL, NULL, NULL,</a:t>
            </a:r>
            <a:endParaRPr b="0" i="0" sz="13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    FALSE, CREATE_SUSPENDED, NULL, NULL, &amp;si, &amp;pi);</a:t>
            </a:r>
            <a:endParaRPr b="0" i="0" sz="13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</a:t>
            </a:r>
            <a:r>
              <a:rPr b="0" i="0" lang="en-US" sz="1300" u="none" cap="none" strike="noStrike">
                <a:solidFill>
                  <a:srgbClr val="8C95A5"/>
                </a:solidFill>
                <a:latin typeface="Liter"/>
                <a:ea typeface="Liter"/>
                <a:cs typeface="Liter"/>
                <a:sym typeface="Liter"/>
              </a:rPr>
              <a:t>// 2. Unmap legitimate code</a:t>
            </a:r>
            <a:endParaRPr b="0" i="0" sz="13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NtUnmapViewOfSection(pi.hProcess, baseAddr);</a:t>
            </a:r>
            <a:endParaRPr b="0" i="0" sz="13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</a:t>
            </a:r>
            <a:r>
              <a:rPr b="0" i="0" lang="en-US" sz="1300" u="none" cap="none" strike="noStrike">
                <a:solidFill>
                  <a:srgbClr val="8C95A5"/>
                </a:solidFill>
                <a:latin typeface="Liter"/>
                <a:ea typeface="Liter"/>
                <a:cs typeface="Liter"/>
                <a:sym typeface="Liter"/>
              </a:rPr>
              <a:t>// 3. Allocate and write payload</a:t>
            </a:r>
            <a:endParaRPr b="0" i="0" sz="13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VirtualAllocEx(pi.hProcess, baseAddr, size,</a:t>
            </a:r>
            <a:endParaRPr b="0" i="0" sz="13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    MEM_COMMIT | MEM_RESERVE, PAGE_EXECUTE_READWRITE);</a:t>
            </a:r>
            <a:endParaRPr b="0" i="0" sz="13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WriteProcessMemory(pi.hProcess, baseAddr, payload, size, NULL);</a:t>
            </a:r>
            <a:endParaRPr b="0" i="0" sz="13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</a:t>
            </a:r>
            <a:r>
              <a:rPr b="0" i="0" lang="en-US" sz="1300" u="none" cap="none" strike="noStrike">
                <a:solidFill>
                  <a:srgbClr val="8C95A5"/>
                </a:solidFill>
                <a:latin typeface="Liter"/>
                <a:ea typeface="Liter"/>
                <a:cs typeface="Liter"/>
                <a:sym typeface="Liter"/>
              </a:rPr>
              <a:t>// 4. Resume execution</a:t>
            </a:r>
            <a:endParaRPr b="0" i="0" sz="13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ResumeThread(pi.hThread);</a:t>
            </a:r>
            <a:endParaRPr b="0" i="0" sz="13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}</a:t>
            </a:r>
            <a:endParaRPr b="0" i="0" sz="1300" u="none" cap="none" strike="noStrike"/>
          </a:p>
        </p:txBody>
      </p:sp>
      <p:sp>
        <p:nvSpPr>
          <p:cNvPr id="153" name="Google Shape;153;p9"/>
          <p:cNvSpPr/>
          <p:nvPr/>
        </p:nvSpPr>
        <p:spPr>
          <a:xfrm>
            <a:off x="762000" y="5461000"/>
            <a:ext cx="762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Detection Opportunities — Process Hollowing</a:t>
            </a:r>
            <a:endParaRPr b="0" i="0" sz="1800" u="none" cap="none" strike="noStrike"/>
          </a:p>
        </p:txBody>
      </p:sp>
      <p:graphicFrame>
        <p:nvGraphicFramePr>
          <p:cNvPr id="154" name="Google Shape;154;p9"/>
          <p:cNvGraphicFramePr/>
          <p:nvPr/>
        </p:nvGraphicFramePr>
        <p:xfrm>
          <a:off x="762000" y="5905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{ADFEE790-FD8F-451C-B811-B6AE758B8932}</a:tableStyleId>
              </a:tblPr>
              <a:tblGrid>
                <a:gridCol w="4419600"/>
                <a:gridCol w="10312400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DETECTION OPPORTUNITY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A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WHY IT WORKS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A32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NtUnmapViewOfSection on suspended process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Legitimate software never unmaps its own image. This API call on a recently created suspended process is a high-fidelity indicator of hollowing.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RWX memory allocation in remote process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VirtualAllocEx with PAGE_EXECUTE_READWRITE targeting a child process is suspicious. Monitor for RWX → RX permission transitions.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Parent-child process anomalies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Word.exe or OneNote spawning RegSvcs.exe/AppLaunch.exe in suspended state is anomalous. Baseline parent-child relationships.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</a:tr>
            </a:tbl>
          </a:graphicData>
        </a:graphic>
      </p:graphicFrame>
      <p:sp>
        <p:nvSpPr>
          <p:cNvPr id="155" name="Google Shape;155;p9"/>
          <p:cNvSpPr/>
          <p:nvPr/>
        </p:nvSpPr>
        <p:spPr>
          <a:xfrm>
            <a:off x="762000" y="8318500"/>
            <a:ext cx="2540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DEFENSIVE CONTROLS</a:t>
            </a:r>
            <a:endParaRPr b="0" i="0" sz="1400" u="none" cap="none" strike="noStrike"/>
          </a:p>
        </p:txBody>
      </p:sp>
      <p:sp>
        <p:nvSpPr>
          <p:cNvPr id="156" name="Google Shape;156;p9"/>
          <p:cNvSpPr/>
          <p:nvPr/>
        </p:nvSpPr>
        <p:spPr>
          <a:xfrm>
            <a:off x="3429000" y="8318500"/>
            <a:ext cx="12065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EDR with process hollowing detection | Sysmon Event ID 8 (CreateRemoteThread) | Parent-child process baselining | AMSI for script content inspection</a:t>
            </a:r>
            <a:endParaRPr b="0" i="0" sz="1400" u="none" cap="none" strike="noStrike"/>
          </a:p>
        </p:txBody>
      </p:sp>
      <p:cxnSp>
        <p:nvCxnSpPr>
          <p:cNvPr id="157" name="Google Shape;157;p9"/>
          <p:cNvCxnSpPr/>
          <p:nvPr/>
        </p:nvCxn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p9"/>
          <p:cNvSpPr/>
          <p:nvPr/>
        </p:nvSpPr>
        <p:spPr>
          <a:xfrm>
            <a:off x="7366000" y="88265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07 / 15</a:t>
            </a:r>
            <a:endParaRPr b="0" i="0" sz="1400" u="none" cap="none" strike="noStrike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"/>
          <p:cNvSpPr/>
          <p:nvPr/>
        </p:nvSpPr>
        <p:spPr>
          <a:xfrm>
            <a:off x="762000" y="254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SRC-2026-0614-ASYNC</a:t>
            </a:r>
            <a:endParaRPr b="0" i="0" sz="1400" u="none" cap="none" strike="noStrike"/>
          </a:p>
        </p:txBody>
      </p:sp>
      <p:sp>
        <p:nvSpPr>
          <p:cNvPr id="165" name="Google Shape;165;p10"/>
          <p:cNvSpPr/>
          <p:nvPr/>
        </p:nvSpPr>
        <p:spPr>
          <a:xfrm>
            <a:off x="13462000" y="254000"/>
            <a:ext cx="2032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CONFIDENTIAL</a:t>
            </a:r>
            <a:endParaRPr b="0" i="0" sz="1200" u="none" cap="none" strike="noStrike"/>
          </a:p>
        </p:txBody>
      </p:sp>
      <p:sp>
        <p:nvSpPr>
          <p:cNvPr id="166" name="Google Shape;166;p10"/>
          <p:cNvSpPr/>
          <p:nvPr/>
        </p:nvSpPr>
        <p:spPr>
          <a:xfrm>
            <a:off x="762000" y="2286000"/>
            <a:ext cx="25400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02</a:t>
            </a:r>
            <a:endParaRPr b="0" i="0" sz="7200" u="none" cap="none" strike="noStrike"/>
          </a:p>
        </p:txBody>
      </p:sp>
      <p:cxnSp>
        <p:nvCxnSpPr>
          <p:cNvPr id="167" name="Google Shape;167;p10"/>
          <p:cNvCxnSpPr/>
          <p:nvPr/>
        </p:nvCxnSpPr>
        <p:spPr>
          <a:xfrm>
            <a:off x="762000" y="3556000"/>
            <a:ext cx="2540000" cy="0"/>
          </a:xfrm>
          <a:prstGeom prst="straightConnector1">
            <a:avLst/>
          </a:prstGeom>
          <a:noFill/>
          <a:ln cap="flat" cmpd="sng" w="38100">
            <a:solidFill>
              <a:srgbClr val="D9252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8" name="Google Shape;168;p10"/>
          <p:cNvSpPr/>
          <p:nvPr/>
        </p:nvSpPr>
        <p:spPr>
          <a:xfrm>
            <a:off x="762000" y="3810000"/>
            <a:ext cx="12700000" cy="6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PERSISTENCE &amp; ANTI-ANALYSIS</a:t>
            </a:r>
            <a:endParaRPr b="0" i="0" sz="4400" u="none" cap="none" strike="noStrike"/>
          </a:p>
        </p:txBody>
      </p:sp>
      <p:sp>
        <p:nvSpPr>
          <p:cNvPr id="169" name="Google Shape;169;p10"/>
          <p:cNvSpPr/>
          <p:nvPr/>
        </p:nvSpPr>
        <p:spPr>
          <a:xfrm>
            <a:off x="762000" y="4699000"/>
            <a:ext cx="114300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Scheduled Tasks, Registry Keys, VM Detection, Sandbox Evasion</a:t>
            </a:r>
            <a:endParaRPr b="0" i="0" sz="2200" u="none" cap="none" strike="noStrike"/>
          </a:p>
        </p:txBody>
      </p:sp>
      <p:sp>
        <p:nvSpPr>
          <p:cNvPr id="170" name="Google Shape;170;p10"/>
          <p:cNvSpPr/>
          <p:nvPr/>
        </p:nvSpPr>
        <p:spPr>
          <a:xfrm>
            <a:off x="762000" y="5842000"/>
            <a:ext cx="10160000" cy="2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FOCUS:</a:t>
            </a:r>
            <a:r>
              <a:rPr b="0" i="0" lang="en-US" sz="16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Multiple persistence vectors + anti-sandbox/anti-VM techniques</a:t>
            </a:r>
            <a:endParaRPr b="0" i="0" sz="1600" u="none" cap="none" strike="noStrike"/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Techniques:</a:t>
            </a:r>
            <a:r>
              <a:rPr b="0" i="0" lang="en-US" sz="16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T1053.005 (Scheduled Task), T1547.001 (Registry Run Keys),</a:t>
            </a:r>
            <a:endParaRPr b="0" i="0" sz="1600" u="none" cap="none" strike="noStrike"/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T1497.001 (Virtualization/Sandbox Evasion), T1083 (File/Directory Discovery)</a:t>
            </a:r>
            <a:endParaRPr b="0" i="0" sz="1600" u="none" cap="none" strike="noStrike"/>
          </a:p>
        </p:txBody>
      </p:sp>
      <p:cxnSp>
        <p:nvCxnSpPr>
          <p:cNvPr id="171" name="Google Shape;171;p10"/>
          <p:cNvCxnSpPr/>
          <p:nvPr/>
        </p:nvCxn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2" name="Google Shape;172;p10"/>
          <p:cNvSpPr/>
          <p:nvPr/>
        </p:nvSpPr>
        <p:spPr>
          <a:xfrm>
            <a:off x="7366000" y="88265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08 / 15</a:t>
            </a:r>
            <a:endParaRPr b="0" i="0" sz="1400" u="none" cap="none" strike="noStrike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418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"/>
          <p:cNvSpPr/>
          <p:nvPr/>
        </p:nvSpPr>
        <p:spPr>
          <a:xfrm>
            <a:off x="762000" y="254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SRC-2026-0614-ASYNC</a:t>
            </a:r>
            <a:endParaRPr b="0" i="0" sz="1400" u="none" cap="none" strike="noStrike"/>
          </a:p>
        </p:txBody>
      </p:sp>
      <p:sp>
        <p:nvSpPr>
          <p:cNvPr id="179" name="Google Shape;179;p11"/>
          <p:cNvSpPr/>
          <p:nvPr/>
        </p:nvSpPr>
        <p:spPr>
          <a:xfrm>
            <a:off x="13462000" y="254000"/>
            <a:ext cx="2032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CONFIDENTIAL</a:t>
            </a:r>
            <a:endParaRPr b="0" i="0" sz="1200" u="none" cap="none" strike="noStrike"/>
          </a:p>
        </p:txBody>
      </p:sp>
      <p:sp>
        <p:nvSpPr>
          <p:cNvPr id="180" name="Google Shape;180;p11"/>
          <p:cNvSpPr/>
          <p:nvPr/>
        </p:nvSpPr>
        <p:spPr>
          <a:xfrm>
            <a:off x="762000" y="698500"/>
            <a:ext cx="147320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Persistence Mechanisms — Multiple Vectors for Survivability</a:t>
            </a:r>
            <a:endParaRPr b="0" i="0" sz="2600" u="none" cap="none" strike="noStrike"/>
          </a:p>
        </p:txBody>
      </p:sp>
      <p:cxnSp>
        <p:nvCxnSpPr>
          <p:cNvPr id="181" name="Google Shape;181;p11"/>
          <p:cNvCxnSpPr/>
          <p:nvPr/>
        </p:nvCxnSpPr>
        <p:spPr>
          <a:xfrm>
            <a:off x="762000" y="1244600"/>
            <a:ext cx="14732000" cy="0"/>
          </a:xfrm>
          <a:prstGeom prst="straightConnector1">
            <a:avLst/>
          </a:prstGeom>
          <a:noFill/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2" name="Google Shape;182;p11"/>
          <p:cNvSpPr/>
          <p:nvPr/>
        </p:nvSpPr>
        <p:spPr>
          <a:xfrm>
            <a:off x="762000" y="1397000"/>
            <a:ext cx="3048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OFFENSIVE TECHNIQUE</a:t>
            </a:r>
            <a:endParaRPr b="0" i="0" sz="1200" u="none" cap="none" strike="noStrike"/>
          </a:p>
        </p:txBody>
      </p:sp>
      <p:sp>
        <p:nvSpPr>
          <p:cNvPr id="183" name="Google Shape;183;p11"/>
          <p:cNvSpPr/>
          <p:nvPr/>
        </p:nvSpPr>
        <p:spPr>
          <a:xfrm>
            <a:off x="3937000" y="1397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Scheduled Tasks + Registry Run Keys + Startup Folders</a:t>
            </a:r>
            <a:endParaRPr b="0" i="0" sz="1600" u="none" cap="none" strike="noStrike"/>
          </a:p>
        </p:txBody>
      </p:sp>
      <p:sp>
        <p:nvSpPr>
          <p:cNvPr id="184" name="Google Shape;184;p11"/>
          <p:cNvSpPr/>
          <p:nvPr/>
        </p:nvSpPr>
        <p:spPr>
          <a:xfrm>
            <a:off x="762000" y="1841500"/>
            <a:ext cx="1473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AsyncRAT establishes persistence through </a:t>
            </a:r>
            <a:r>
              <a:rPr b="1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multiple redundant vectors</a:t>
            </a:r>
            <a:r>
              <a:rPr b="0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Even if one is detected and removed, others ensure continued access. The malware uses </a:t>
            </a:r>
            <a:r>
              <a:rPr b="1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SeDebugPrivilege</a:t>
            </a:r>
            <a:r>
              <a:rPr b="0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to gain elevated privileges for persistence installation.</a:t>
            </a:r>
            <a:endParaRPr b="0" i="0" sz="1300" u="none" cap="none" strike="noStrike"/>
          </a:p>
        </p:txBody>
      </p:sp>
      <p:sp>
        <p:nvSpPr>
          <p:cNvPr id="185" name="Google Shape;185;p11"/>
          <p:cNvSpPr/>
          <p:nvPr/>
        </p:nvSpPr>
        <p:spPr>
          <a:xfrm>
            <a:off x="762000" y="2794000"/>
            <a:ext cx="7048500" cy="1651000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1"/>
          <p:cNvSpPr/>
          <p:nvPr/>
        </p:nvSpPr>
        <p:spPr>
          <a:xfrm>
            <a:off x="762000" y="2794000"/>
            <a:ext cx="50800" cy="1651000"/>
          </a:xfrm>
          <a:prstGeom prst="rect">
            <a:avLst/>
          </a:prstGeom>
          <a:solidFill>
            <a:srgbClr val="D9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1"/>
          <p:cNvSpPr/>
          <p:nvPr/>
        </p:nvSpPr>
        <p:spPr>
          <a:xfrm>
            <a:off x="1016000" y="2895600"/>
            <a:ext cx="65405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1. SCHEDULED TASKS (T1053.005)</a:t>
            </a:r>
            <a:endParaRPr b="0" i="0" sz="1300" u="none" cap="none" strike="noStrike"/>
          </a:p>
        </p:txBody>
      </p:sp>
      <p:sp>
        <p:nvSpPr>
          <p:cNvPr id="188" name="Google Shape;188;p11"/>
          <p:cNvSpPr/>
          <p:nvPr/>
        </p:nvSpPr>
        <p:spPr>
          <a:xfrm>
            <a:off x="1016000" y="3276600"/>
            <a:ext cx="65405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Creates scheduled tasks via schtasks.exe set to trigger at user logon. Tasks execute from %AppData% or Temp directories with randomly generated names. Hidden flag set to conceal from Task Scheduler UI.</a:t>
            </a:r>
            <a:endParaRPr b="0" i="0" sz="1400" u="none" cap="none" strike="noStrike"/>
          </a:p>
        </p:txBody>
      </p:sp>
      <p:sp>
        <p:nvSpPr>
          <p:cNvPr id="189" name="Google Shape;189;p11"/>
          <p:cNvSpPr/>
          <p:nvPr/>
        </p:nvSpPr>
        <p:spPr>
          <a:xfrm>
            <a:off x="8445500" y="2794000"/>
            <a:ext cx="7048500" cy="1651000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1"/>
          <p:cNvSpPr/>
          <p:nvPr/>
        </p:nvSpPr>
        <p:spPr>
          <a:xfrm>
            <a:off x="8445500" y="2794000"/>
            <a:ext cx="50800" cy="1651000"/>
          </a:xfrm>
          <a:prstGeom prst="rect">
            <a:avLst/>
          </a:prstGeom>
          <a:solidFill>
            <a:srgbClr val="D9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1"/>
          <p:cNvSpPr/>
          <p:nvPr/>
        </p:nvSpPr>
        <p:spPr>
          <a:xfrm>
            <a:off x="8699500" y="2895600"/>
            <a:ext cx="65405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2. REGISTRY RUN KEYS (T1547.001)</a:t>
            </a:r>
            <a:endParaRPr b="0" i="0" sz="1600" u="none" cap="none" strike="noStrike"/>
          </a:p>
        </p:txBody>
      </p:sp>
      <p:sp>
        <p:nvSpPr>
          <p:cNvPr id="192" name="Google Shape;192;p11"/>
          <p:cNvSpPr/>
          <p:nvPr/>
        </p:nvSpPr>
        <p:spPr>
          <a:xfrm>
            <a:off x="8699500" y="3276600"/>
            <a:ext cx="65405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Writes to HKCU\Software\Microsoft\Windows\CurrentVersion\Run with a randomly named value pointing to the malware executable in a user-writable path. Survives reboots and is invisible to standard antivirus scans.</a:t>
            </a:r>
            <a:endParaRPr b="0" i="0" sz="1400" u="none" cap="none" strike="noStrike"/>
          </a:p>
        </p:txBody>
      </p:sp>
      <p:sp>
        <p:nvSpPr>
          <p:cNvPr id="193" name="Google Shape;193;p11"/>
          <p:cNvSpPr/>
          <p:nvPr/>
        </p:nvSpPr>
        <p:spPr>
          <a:xfrm>
            <a:off x="762000" y="4699000"/>
            <a:ext cx="7048500" cy="1651000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1"/>
          <p:cNvSpPr/>
          <p:nvPr/>
        </p:nvSpPr>
        <p:spPr>
          <a:xfrm>
            <a:off x="762000" y="4699000"/>
            <a:ext cx="50800" cy="1651000"/>
          </a:xfrm>
          <a:prstGeom prst="rect">
            <a:avLst/>
          </a:prstGeom>
          <a:solidFill>
            <a:srgbClr val="D9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1"/>
          <p:cNvSpPr/>
          <p:nvPr/>
        </p:nvSpPr>
        <p:spPr>
          <a:xfrm>
            <a:off x="1016000" y="4800600"/>
            <a:ext cx="65405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3. STARTUP FOLDER LNK FILES</a:t>
            </a:r>
            <a:endParaRPr b="0" i="0" sz="1600" u="none" cap="none" strike="noStrike"/>
          </a:p>
        </p:txBody>
      </p:sp>
      <p:sp>
        <p:nvSpPr>
          <p:cNvPr id="196" name="Google Shape;196;p11"/>
          <p:cNvSpPr/>
          <p:nvPr/>
        </p:nvSpPr>
        <p:spPr>
          <a:xfrm>
            <a:off x="1016000" y="5181600"/>
            <a:ext cx="65405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Drops .lnk shortcut files in the user's Startup folder (%AppData%\Roaming\Microsoft\Windows\Start Menu\Programs\Startup). The shortcut points to the malware with a legitimate-sounding name like "svchost.exe" or "winlogon.exe".</a:t>
            </a:r>
            <a:endParaRPr b="0" i="0" sz="1400" u="none" cap="none" strike="noStrike"/>
          </a:p>
        </p:txBody>
      </p:sp>
      <p:sp>
        <p:nvSpPr>
          <p:cNvPr id="197" name="Google Shape;197;p11"/>
          <p:cNvSpPr/>
          <p:nvPr/>
        </p:nvSpPr>
        <p:spPr>
          <a:xfrm>
            <a:off x="8445500" y="4699000"/>
            <a:ext cx="7048500" cy="1651000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1"/>
          <p:cNvSpPr/>
          <p:nvPr/>
        </p:nvSpPr>
        <p:spPr>
          <a:xfrm>
            <a:off x="8445500" y="4699000"/>
            <a:ext cx="50800" cy="1651000"/>
          </a:xfrm>
          <a:prstGeom prst="rect">
            <a:avLst/>
          </a:prstGeom>
          <a:solidFill>
            <a:srgbClr val="D9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1"/>
          <p:cNvSpPr/>
          <p:nvPr/>
        </p:nvSpPr>
        <p:spPr>
          <a:xfrm>
            <a:off x="8699500" y="4800600"/>
            <a:ext cx="65405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4. WINDOWS SERVICES</a:t>
            </a:r>
            <a:endParaRPr b="0" i="0" sz="1600" u="none" cap="none" strike="noStrike"/>
          </a:p>
        </p:txBody>
      </p:sp>
      <p:sp>
        <p:nvSpPr>
          <p:cNvPr id="200" name="Google Shape;200;p11"/>
          <p:cNvSpPr/>
          <p:nvPr/>
        </p:nvSpPr>
        <p:spPr>
          <a:xfrm>
            <a:off x="8699500" y="5181600"/>
            <a:ext cx="65405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Creates a Windows service with an innocuous display name (e.g., "Windows Security Update"). The service binary points to the malware location. Runs with SYSTEM privileges and auto-starts on boot.</a:t>
            </a:r>
            <a:endParaRPr b="0" i="0" sz="1400" u="none" cap="none" strike="noStrike"/>
          </a:p>
        </p:txBody>
      </p:sp>
      <p:sp>
        <p:nvSpPr>
          <p:cNvPr id="201" name="Google Shape;201;p11"/>
          <p:cNvSpPr/>
          <p:nvPr/>
        </p:nvSpPr>
        <p:spPr>
          <a:xfrm>
            <a:off x="762000" y="6604000"/>
            <a:ext cx="762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Detection Opportunities — Persistence</a:t>
            </a:r>
            <a:endParaRPr b="0" i="0" sz="1800" u="none" cap="none" strike="noStrike"/>
          </a:p>
        </p:txBody>
      </p:sp>
      <p:graphicFrame>
        <p:nvGraphicFramePr>
          <p:cNvPr id="202" name="Google Shape;202;p11"/>
          <p:cNvGraphicFramePr/>
          <p:nvPr/>
        </p:nvGraphicFramePr>
        <p:xfrm>
          <a:off x="762000" y="7048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{ADFEE790-FD8F-451C-B811-B6AE758B8932}</a:tableStyleId>
              </a:tblPr>
              <a:tblGrid>
                <a:gridCol w="4419600"/>
                <a:gridCol w="10312400"/>
              </a:tblGrid>
              <a:tr h="419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DETECTION OPPORTUNITY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A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WHY IT WORKS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A32"/>
                    </a:solidFill>
                  </a:tcPr>
                </a:tc>
              </a:tr>
              <a:tr h="488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Scheduled tasks from %AppData% / Temp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Legitimate software rarely creates scheduled tasks from user-writable directories. Monitor schtasks.exe command lines for suspicious paths.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</a:tr>
              <a:tr h="488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Same executable in multiple persistence locations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Check Run keys, Startup folder, and scheduled tasks for identical file hashes. AsyncRAT often uses the same binary across vectors.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</a:tr>
            </a:tbl>
          </a:graphicData>
        </a:graphic>
      </p:graphicFrame>
      <p:cxnSp>
        <p:nvCxnSpPr>
          <p:cNvPr id="203" name="Google Shape;203;p11"/>
          <p:cNvCxnSpPr/>
          <p:nvPr/>
        </p:nvCxn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4" name="Google Shape;204;p11"/>
          <p:cNvSpPr/>
          <p:nvPr/>
        </p:nvSpPr>
        <p:spPr>
          <a:xfrm>
            <a:off x="7366000" y="88265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09 / 15</a:t>
            </a:r>
            <a:endParaRPr b="0" i="0" sz="1400" u="none" cap="none" strike="noStrike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418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"/>
          <p:cNvSpPr/>
          <p:nvPr/>
        </p:nvSpPr>
        <p:spPr>
          <a:xfrm>
            <a:off x="762000" y="254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SRC-2026-0614-ASYNC</a:t>
            </a:r>
            <a:endParaRPr b="0" i="0" sz="1400" u="none" cap="none" strike="noStrike"/>
          </a:p>
        </p:txBody>
      </p:sp>
      <p:sp>
        <p:nvSpPr>
          <p:cNvPr id="211" name="Google Shape;211;p12"/>
          <p:cNvSpPr/>
          <p:nvPr/>
        </p:nvSpPr>
        <p:spPr>
          <a:xfrm>
            <a:off x="13462000" y="254000"/>
            <a:ext cx="2032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CONFIDENTIAL</a:t>
            </a:r>
            <a:endParaRPr b="0" i="0" sz="1200" u="none" cap="none" strike="noStrike"/>
          </a:p>
        </p:txBody>
      </p:sp>
      <p:sp>
        <p:nvSpPr>
          <p:cNvPr id="212" name="Google Shape;212;p12"/>
          <p:cNvSpPr/>
          <p:nvPr/>
        </p:nvSpPr>
        <p:spPr>
          <a:xfrm>
            <a:off x="762000" y="698500"/>
            <a:ext cx="147320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Anti-Analysis Techniques — VM Detection and Sandbox Evasion</a:t>
            </a:r>
            <a:endParaRPr b="0" i="0" sz="2600" u="none" cap="none" strike="noStrike"/>
          </a:p>
        </p:txBody>
      </p:sp>
      <p:cxnSp>
        <p:nvCxnSpPr>
          <p:cNvPr id="213" name="Google Shape;213;p12"/>
          <p:cNvCxnSpPr/>
          <p:nvPr/>
        </p:nvCxnSpPr>
        <p:spPr>
          <a:xfrm>
            <a:off x="762000" y="1244600"/>
            <a:ext cx="14732000" cy="0"/>
          </a:xfrm>
          <a:prstGeom prst="straightConnector1">
            <a:avLst/>
          </a:prstGeom>
          <a:noFill/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4" name="Google Shape;214;p12"/>
          <p:cNvSpPr/>
          <p:nvPr/>
        </p:nvSpPr>
        <p:spPr>
          <a:xfrm>
            <a:off x="762000" y="1397000"/>
            <a:ext cx="3048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OFFENSIVE TECHNIQUE</a:t>
            </a:r>
            <a:endParaRPr b="0" i="0" sz="1200" u="none" cap="none" strike="noStrike"/>
          </a:p>
        </p:txBody>
      </p:sp>
      <p:sp>
        <p:nvSpPr>
          <p:cNvPr id="215" name="Google Shape;215;p12"/>
          <p:cNvSpPr/>
          <p:nvPr/>
        </p:nvSpPr>
        <p:spPr>
          <a:xfrm>
            <a:off x="3937000" y="13970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Multi-Layer Environment Detection and Timing Evasion</a:t>
            </a:r>
            <a:endParaRPr b="0" i="0" sz="1600" u="none" cap="none" strike="noStrike"/>
          </a:p>
        </p:txBody>
      </p:sp>
      <p:sp>
        <p:nvSpPr>
          <p:cNvPr id="216" name="Google Shape;216;p12"/>
          <p:cNvSpPr/>
          <p:nvPr/>
        </p:nvSpPr>
        <p:spPr>
          <a:xfrm>
            <a:off x="762000" y="1879600"/>
            <a:ext cx="6858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VM Detection via WMI Queries</a:t>
            </a:r>
            <a:endParaRPr b="0" i="0" sz="1800" u="none" cap="none" strike="noStrike"/>
          </a:p>
        </p:txBody>
      </p:sp>
      <p:sp>
        <p:nvSpPr>
          <p:cNvPr id="217" name="Google Shape;217;p12"/>
          <p:cNvSpPr/>
          <p:nvPr/>
        </p:nvSpPr>
        <p:spPr>
          <a:xfrm>
            <a:off x="762000" y="2286000"/>
            <a:ext cx="7048500" cy="2667000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2"/>
          <p:cNvSpPr/>
          <p:nvPr/>
        </p:nvSpPr>
        <p:spPr>
          <a:xfrm>
            <a:off x="762000" y="2286000"/>
            <a:ext cx="50800" cy="2667000"/>
          </a:xfrm>
          <a:prstGeom prst="rect">
            <a:avLst/>
          </a:prstGeom>
          <a:solidFill>
            <a:srgbClr val="D9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2"/>
          <p:cNvSpPr/>
          <p:nvPr/>
        </p:nvSpPr>
        <p:spPr>
          <a:xfrm>
            <a:off x="1016000" y="2413000"/>
            <a:ext cx="6540500" cy="24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Liter"/>
                <a:ea typeface="Liter"/>
                <a:cs typeface="Liter"/>
                <a:sym typeface="Liter"/>
              </a:rPr>
              <a:t>// Anti-VM check — AsyncRAT Client.cs</a:t>
            </a:r>
            <a:endParaRPr b="0" i="0" sz="14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private bool</a:t>
            </a: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</a:t>
            </a:r>
            <a:r>
              <a:rPr b="1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IsVirtualMachine</a:t>
            </a: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()</a:t>
            </a:r>
            <a:endParaRPr b="0" i="0" sz="14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{</a:t>
            </a:r>
            <a:endParaRPr b="0" i="0" sz="14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</a:t>
            </a:r>
            <a:r>
              <a:rPr b="0" i="0" lang="en-US" sz="14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using</a:t>
            </a: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(</a:t>
            </a:r>
            <a:r>
              <a:rPr b="0" i="0" lang="en-US" sz="14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var</a:t>
            </a: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searcher = </a:t>
            </a:r>
            <a:r>
              <a:rPr b="0" i="0" lang="en-US" sz="14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new</a:t>
            </a:r>
            <a:endParaRPr b="0" i="0" sz="14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    ManagementObjectSearcher(</a:t>
            </a:r>
            <a:endParaRPr b="0" i="0" sz="14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    </a:t>
            </a:r>
            <a:r>
              <a:rPr b="0" i="0" lang="en-US" sz="1400" u="none" cap="none" strike="noStrike">
                <a:solidFill>
                  <a:srgbClr val="4CAF50"/>
                </a:solidFill>
                <a:latin typeface="Liter"/>
                <a:ea typeface="Liter"/>
                <a:cs typeface="Liter"/>
                <a:sym typeface="Liter"/>
              </a:rPr>
              <a:t>"SELECT * FROM Win32_ComputerSystem"</a:t>
            </a: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))</a:t>
            </a:r>
            <a:endParaRPr b="0" i="0" sz="14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{</a:t>
            </a:r>
            <a:endParaRPr b="0" i="0" sz="14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    </a:t>
            </a:r>
            <a:r>
              <a:rPr b="0" i="0" lang="en-US" sz="14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foreach</a:t>
            </a: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(</a:t>
            </a:r>
            <a:r>
              <a:rPr b="0" i="0" lang="en-US" sz="14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var</a:t>
            </a: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item </a:t>
            </a:r>
            <a:r>
              <a:rPr b="0" i="0" lang="en-US" sz="14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in</a:t>
            </a: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searcher.Get())</a:t>
            </a:r>
            <a:endParaRPr b="0" i="0" sz="14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    {</a:t>
            </a:r>
            <a:endParaRPr b="0" i="0" sz="14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        </a:t>
            </a:r>
            <a:r>
              <a:rPr b="0" i="0" lang="en-US" sz="14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string</a:t>
            </a: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manufacturer = item[</a:t>
            </a:r>
            <a:r>
              <a:rPr b="0" i="0" lang="en-US" sz="1400" u="none" cap="none" strike="noStrike">
                <a:solidFill>
                  <a:srgbClr val="4CAF50"/>
                </a:solidFill>
                <a:latin typeface="Liter"/>
                <a:ea typeface="Liter"/>
                <a:cs typeface="Liter"/>
                <a:sym typeface="Liter"/>
              </a:rPr>
              <a:t>"Manufacturer"</a:t>
            </a: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]</a:t>
            </a:r>
            <a:endParaRPr b="0" i="0" sz="14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            .ToString().ToLower();</a:t>
            </a:r>
            <a:endParaRPr b="0" i="0" sz="14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        </a:t>
            </a:r>
            <a:r>
              <a:rPr b="0" i="0" lang="en-US" sz="14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if</a:t>
            </a: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(manufacturer.Contains(</a:t>
            </a:r>
            <a:r>
              <a:rPr b="0" i="0" lang="en-US" sz="1400" u="none" cap="none" strike="noStrike">
                <a:solidFill>
                  <a:srgbClr val="4CAF50"/>
                </a:solidFill>
                <a:latin typeface="Liter"/>
                <a:ea typeface="Liter"/>
                <a:cs typeface="Liter"/>
                <a:sym typeface="Liter"/>
              </a:rPr>
              <a:t>"vmware"</a:t>
            </a: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) ||</a:t>
            </a:r>
            <a:endParaRPr b="0" i="0" sz="14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            manufacturer.Contains(</a:t>
            </a:r>
            <a:r>
              <a:rPr b="0" i="0" lang="en-US" sz="1400" u="none" cap="none" strike="noStrike">
                <a:solidFill>
                  <a:srgbClr val="4CAF50"/>
                </a:solidFill>
                <a:latin typeface="Liter"/>
                <a:ea typeface="Liter"/>
                <a:cs typeface="Liter"/>
                <a:sym typeface="Liter"/>
              </a:rPr>
              <a:t>"virtualbox"</a:t>
            </a: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) ||</a:t>
            </a:r>
            <a:endParaRPr b="0" i="0" sz="14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            manufacturer.Contains(</a:t>
            </a:r>
            <a:r>
              <a:rPr b="0" i="0" lang="en-US" sz="1400" u="none" cap="none" strike="noStrike">
                <a:solidFill>
                  <a:srgbClr val="4CAF50"/>
                </a:solidFill>
                <a:latin typeface="Liter"/>
                <a:ea typeface="Liter"/>
                <a:cs typeface="Liter"/>
                <a:sym typeface="Liter"/>
              </a:rPr>
              <a:t>"microsoft corporation"</a:t>
            </a: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))</a:t>
            </a:r>
            <a:endParaRPr b="0" i="0" sz="14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            </a:t>
            </a:r>
            <a:r>
              <a:rPr b="0" i="0" lang="en-US" sz="14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return</a:t>
            </a: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</a:t>
            </a:r>
            <a:r>
              <a:rPr b="0" i="0" lang="en-US" sz="1400" u="none" cap="none" strike="noStrike">
                <a:solidFill>
                  <a:srgbClr val="E8A020"/>
                </a:solidFill>
                <a:latin typeface="Liter"/>
                <a:ea typeface="Liter"/>
                <a:cs typeface="Liter"/>
                <a:sym typeface="Liter"/>
              </a:rPr>
              <a:t>true</a:t>
            </a: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;</a:t>
            </a:r>
            <a:endParaRPr b="0" i="0" sz="1400" u="none" cap="none" strike="noStrike"/>
          </a:p>
        </p:txBody>
      </p:sp>
      <p:sp>
        <p:nvSpPr>
          <p:cNvPr id="220" name="Google Shape;220;p12"/>
          <p:cNvSpPr/>
          <p:nvPr/>
        </p:nvSpPr>
        <p:spPr>
          <a:xfrm>
            <a:off x="8445500" y="1879600"/>
            <a:ext cx="70485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Sandbox Evasion — Timing Attack</a:t>
            </a:r>
            <a:endParaRPr b="0" i="0" sz="1800" u="none" cap="none" strike="noStrike"/>
          </a:p>
        </p:txBody>
      </p:sp>
      <p:sp>
        <p:nvSpPr>
          <p:cNvPr id="221" name="Google Shape;221;p12"/>
          <p:cNvSpPr/>
          <p:nvPr/>
        </p:nvSpPr>
        <p:spPr>
          <a:xfrm>
            <a:off x="8445500" y="2286000"/>
            <a:ext cx="7048500" cy="2667000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2"/>
          <p:cNvSpPr/>
          <p:nvPr/>
        </p:nvSpPr>
        <p:spPr>
          <a:xfrm>
            <a:off x="8445500" y="2286000"/>
            <a:ext cx="50800" cy="2667000"/>
          </a:xfrm>
          <a:prstGeom prst="rect">
            <a:avLst/>
          </a:prstGeom>
          <a:solidFill>
            <a:srgbClr val="D9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2"/>
          <p:cNvSpPr/>
          <p:nvPr/>
        </p:nvSpPr>
        <p:spPr>
          <a:xfrm>
            <a:off x="8699500" y="2413000"/>
            <a:ext cx="6540500" cy="24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Liter"/>
                <a:ea typeface="Liter"/>
                <a:cs typeface="Liter"/>
                <a:sym typeface="Liter"/>
              </a:rPr>
              <a:t>// Sandbox detection via Sleep bypass check</a:t>
            </a:r>
            <a:endParaRPr b="0" i="0" sz="14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private bool</a:t>
            </a: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</a:t>
            </a:r>
            <a:r>
              <a:rPr b="1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IsSandbox</a:t>
            </a: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()</a:t>
            </a:r>
            <a:endParaRPr b="0" i="0" sz="14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{</a:t>
            </a:r>
            <a:endParaRPr b="0" i="0" sz="14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</a:t>
            </a:r>
            <a:r>
              <a:rPr b="0" i="0" lang="en-US" sz="14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long</a:t>
            </a: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tick1 = Environment.TickCount;</a:t>
            </a:r>
            <a:endParaRPr b="0" i="0" sz="14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Thread.Sleep(</a:t>
            </a:r>
            <a:r>
              <a:rPr b="0" i="0" lang="en-US" sz="1400" u="none" cap="none" strike="noStrike">
                <a:solidFill>
                  <a:srgbClr val="E8A020"/>
                </a:solidFill>
                <a:latin typeface="Liter"/>
                <a:ea typeface="Liter"/>
                <a:cs typeface="Liter"/>
                <a:sym typeface="Liter"/>
              </a:rPr>
              <a:t>15000</a:t>
            </a: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); </a:t>
            </a:r>
            <a:r>
              <a:rPr b="0" i="0" lang="en-US" sz="1400" u="none" cap="none" strike="noStrike">
                <a:solidFill>
                  <a:srgbClr val="8C95A5"/>
                </a:solidFill>
                <a:latin typeface="Liter"/>
                <a:ea typeface="Liter"/>
                <a:cs typeface="Liter"/>
                <a:sym typeface="Liter"/>
              </a:rPr>
              <a:t>// Sleep 15 seconds</a:t>
            </a:r>
            <a:endParaRPr b="0" i="0" sz="14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</a:t>
            </a:r>
            <a:r>
              <a:rPr b="0" i="0" lang="en-US" sz="14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long</a:t>
            </a: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tick2 = Environment.TickCount;</a:t>
            </a:r>
            <a:endParaRPr b="0" i="0" sz="14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</a:t>
            </a:r>
            <a:r>
              <a:rPr b="0" i="0" lang="en-US" sz="1400" u="none" cap="none" strike="noStrike">
                <a:solidFill>
                  <a:srgbClr val="8C95A5"/>
                </a:solidFill>
                <a:latin typeface="Liter"/>
                <a:ea typeface="Liter"/>
                <a:cs typeface="Liter"/>
                <a:sym typeface="Liter"/>
              </a:rPr>
              <a:t>// If time jumped less than 15s,</a:t>
            </a:r>
            <a:endParaRPr b="0" i="0" sz="14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</a:t>
            </a:r>
            <a:r>
              <a:rPr b="0" i="0" lang="en-US" sz="1400" u="none" cap="none" strike="noStrike">
                <a:solidFill>
                  <a:srgbClr val="8C95A5"/>
                </a:solidFill>
                <a:latin typeface="Liter"/>
                <a:ea typeface="Liter"/>
                <a:cs typeface="Liter"/>
                <a:sym typeface="Liter"/>
              </a:rPr>
              <a:t>// Sleep was patched (sandbox)</a:t>
            </a:r>
            <a:endParaRPr b="0" i="0" sz="14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</a:t>
            </a:r>
            <a:r>
              <a:rPr b="0" i="0" lang="en-US" sz="14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if</a:t>
            </a: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((tick2 - tick1) &lt; </a:t>
            </a:r>
            <a:r>
              <a:rPr b="0" i="0" lang="en-US" sz="1400" u="none" cap="none" strike="noStrike">
                <a:solidFill>
                  <a:srgbClr val="E8A020"/>
                </a:solidFill>
                <a:latin typeface="Liter"/>
                <a:ea typeface="Liter"/>
                <a:cs typeface="Liter"/>
                <a:sym typeface="Liter"/>
              </a:rPr>
              <a:t>15000</a:t>
            </a: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)</a:t>
            </a:r>
            <a:endParaRPr b="0" i="0" sz="14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    </a:t>
            </a:r>
            <a:r>
              <a:rPr b="0" i="0" lang="en-US" sz="14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return</a:t>
            </a: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</a:t>
            </a:r>
            <a:r>
              <a:rPr b="0" i="0" lang="en-US" sz="1400" u="none" cap="none" strike="noStrike">
                <a:solidFill>
                  <a:srgbClr val="E8A020"/>
                </a:solidFill>
                <a:latin typeface="Liter"/>
                <a:ea typeface="Liter"/>
                <a:cs typeface="Liter"/>
                <a:sym typeface="Liter"/>
              </a:rPr>
              <a:t>true</a:t>
            </a: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; </a:t>
            </a:r>
            <a:r>
              <a:rPr b="0" i="0" lang="en-US" sz="1400" u="none" cap="none" strike="noStrike">
                <a:solidFill>
                  <a:srgbClr val="8C95A5"/>
                </a:solidFill>
                <a:latin typeface="Liter"/>
                <a:ea typeface="Liter"/>
                <a:cs typeface="Liter"/>
                <a:sym typeface="Liter"/>
              </a:rPr>
              <a:t>// Exit silently</a:t>
            </a:r>
            <a:endParaRPr b="0" i="0" sz="14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   </a:t>
            </a:r>
            <a:r>
              <a:rPr b="0" i="0" lang="en-US" sz="14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return</a:t>
            </a: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 </a:t>
            </a:r>
            <a:r>
              <a:rPr b="0" i="0" lang="en-US" sz="1400" u="none" cap="none" strike="noStrike">
                <a:solidFill>
                  <a:srgbClr val="E8A020"/>
                </a:solidFill>
                <a:latin typeface="Liter"/>
                <a:ea typeface="Liter"/>
                <a:cs typeface="Liter"/>
                <a:sym typeface="Liter"/>
              </a:rPr>
              <a:t>false</a:t>
            </a: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;</a:t>
            </a:r>
            <a:endParaRPr b="0" i="0" sz="14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0AEBF"/>
                </a:solidFill>
                <a:latin typeface="Liter"/>
                <a:ea typeface="Liter"/>
                <a:cs typeface="Liter"/>
                <a:sym typeface="Liter"/>
              </a:rPr>
              <a:t>}</a:t>
            </a:r>
            <a:endParaRPr b="0" i="0" sz="1400" u="none" cap="none" strike="noStrike"/>
          </a:p>
        </p:txBody>
      </p:sp>
      <p:sp>
        <p:nvSpPr>
          <p:cNvPr id="224" name="Google Shape;224;p12"/>
          <p:cNvSpPr/>
          <p:nvPr/>
        </p:nvSpPr>
        <p:spPr>
          <a:xfrm>
            <a:off x="762000" y="5270500"/>
            <a:ext cx="762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Detection Opportunities — Anti-Analysis</a:t>
            </a:r>
            <a:endParaRPr b="0" i="0" sz="1800" u="none" cap="none" strike="noStrike"/>
          </a:p>
        </p:txBody>
      </p:sp>
      <p:graphicFrame>
        <p:nvGraphicFramePr>
          <p:cNvPr id="225" name="Google Shape;225;p12"/>
          <p:cNvGraphicFramePr/>
          <p:nvPr/>
        </p:nvGraphicFramePr>
        <p:xfrm>
          <a:off x="762000" y="571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{ADFEE790-FD8F-451C-B811-B6AE758B8932}</a:tableStyleId>
              </a:tblPr>
              <a:tblGrid>
                <a:gridCol w="4419600"/>
                <a:gridCol w="10312400"/>
              </a:tblGrid>
              <a:tr h="445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DETECTION OPPORTUNITY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A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WHY IT WORKS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A32"/>
                    </a:solidFill>
                  </a:tcPr>
                </a:tc>
              </a:tr>
              <a:tr h="507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WMI queries for Win32_ComputerSystem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Legitimate software rarely queries the system manufacturer at startup. Monitor for "SELECT * FROM Win32_ComputerSystem" queries in process telemetry.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</a:tr>
              <a:tr h="507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GetTickCount before/after Sleep API calls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Timing checks around Sleep() are classic sandbox evasion. EDR can detect processes that measure elapsed time before and after sleep operations.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</a:tr>
              <a:tr h="507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Process enumeration for analysis tools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AsyncRAT enumerates running processes for dnSpy, Process Hacker, Wireshark. Monitor for ToolHelp32Snapshot followed by string comparisons for tool names.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</a:tr>
              <a:tr h="507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Screen resolution and memory checks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Sandboxes often use low screen resolutions and small memory allocations. Checks for screen width &lt; 800 or RAM &lt; 2GB indicate anti-analysis behavior.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</a:tr>
            </a:tbl>
          </a:graphicData>
        </a:graphic>
      </p:graphicFrame>
      <p:cxnSp>
        <p:nvCxnSpPr>
          <p:cNvPr id="226" name="Google Shape;226;p12"/>
          <p:cNvCxnSpPr/>
          <p:nvPr/>
        </p:nvCxn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7" name="Google Shape;227;p12"/>
          <p:cNvSpPr/>
          <p:nvPr/>
        </p:nvSpPr>
        <p:spPr>
          <a:xfrm>
            <a:off x="7366000" y="88265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 / 15</a:t>
            </a:r>
            <a:endParaRPr b="0" i="0" sz="1400" u="none" cap="none" strike="noStrike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3"/>
          <p:cNvSpPr/>
          <p:nvPr/>
        </p:nvSpPr>
        <p:spPr>
          <a:xfrm>
            <a:off x="762000" y="254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SRC-2026-0614-ASYNC</a:t>
            </a:r>
            <a:endParaRPr b="0" i="0" sz="1400" u="none" cap="none" strike="noStrike"/>
          </a:p>
        </p:txBody>
      </p:sp>
      <p:sp>
        <p:nvSpPr>
          <p:cNvPr id="234" name="Google Shape;234;p13"/>
          <p:cNvSpPr/>
          <p:nvPr/>
        </p:nvSpPr>
        <p:spPr>
          <a:xfrm>
            <a:off x="13462000" y="254000"/>
            <a:ext cx="2032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CONFIDENTIAL</a:t>
            </a:r>
            <a:endParaRPr b="0" i="0" sz="1200" u="none" cap="none" strike="noStrike"/>
          </a:p>
        </p:txBody>
      </p:sp>
      <p:sp>
        <p:nvSpPr>
          <p:cNvPr id="235" name="Google Shape;235;p13"/>
          <p:cNvSpPr/>
          <p:nvPr/>
        </p:nvSpPr>
        <p:spPr>
          <a:xfrm>
            <a:off x="762000" y="2286000"/>
            <a:ext cx="25400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03</a:t>
            </a:r>
            <a:endParaRPr b="0" i="0" sz="7200" u="none" cap="none" strike="noStrike"/>
          </a:p>
        </p:txBody>
      </p:sp>
      <p:cxnSp>
        <p:nvCxnSpPr>
          <p:cNvPr id="236" name="Google Shape;236;p13"/>
          <p:cNvCxnSpPr/>
          <p:nvPr/>
        </p:nvCxnSpPr>
        <p:spPr>
          <a:xfrm>
            <a:off x="762000" y="3556000"/>
            <a:ext cx="2540000" cy="0"/>
          </a:xfrm>
          <a:prstGeom prst="straightConnector1">
            <a:avLst/>
          </a:prstGeom>
          <a:noFill/>
          <a:ln cap="flat" cmpd="sng" w="38100">
            <a:solidFill>
              <a:srgbClr val="D9252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7" name="Google Shape;237;p13"/>
          <p:cNvSpPr/>
          <p:nvPr/>
        </p:nvSpPr>
        <p:spPr>
          <a:xfrm>
            <a:off x="762000" y="3810000"/>
            <a:ext cx="12700000" cy="69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DETECTION OPPORTUNITIES</a:t>
            </a:r>
            <a:endParaRPr b="0" i="0" sz="4400" u="none" cap="none" strike="noStrike"/>
          </a:p>
        </p:txBody>
      </p:sp>
      <p:sp>
        <p:nvSpPr>
          <p:cNvPr id="238" name="Google Shape;238;p13"/>
          <p:cNvSpPr/>
          <p:nvPr/>
        </p:nvSpPr>
        <p:spPr>
          <a:xfrm>
            <a:off x="762000" y="4699000"/>
            <a:ext cx="114300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Network Signatures, Host Indicators, Behavioral Detection Strategies</a:t>
            </a:r>
            <a:endParaRPr b="0" i="0" sz="2200" u="none" cap="none" strike="noStrike"/>
          </a:p>
        </p:txBody>
      </p:sp>
      <p:sp>
        <p:nvSpPr>
          <p:cNvPr id="239" name="Google Shape;239;p13"/>
          <p:cNvSpPr/>
          <p:nvPr/>
        </p:nvSpPr>
        <p:spPr>
          <a:xfrm>
            <a:off x="762000" y="5842000"/>
            <a:ext cx="10160000" cy="2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FOCUS:</a:t>
            </a:r>
            <a:r>
              <a:rPr b="0" i="0" lang="en-US" sz="16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Multi-layered detection across network, host, and behavioral signals</a:t>
            </a:r>
            <a:endParaRPr b="0" i="0" sz="1600" u="none" cap="none" strike="noStrike"/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Approach:</a:t>
            </a:r>
            <a:r>
              <a:rPr b="0" i="0" lang="en-US" sz="16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Combine network beaconing detection, process injection telemetry,</a:t>
            </a:r>
            <a:endParaRPr b="0" i="0" sz="1600" u="none" cap="none" strike="noStrike"/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persistence artifact scanning, and anti-analysis behavior monitoring</a:t>
            </a:r>
            <a:endParaRPr b="0" i="0" sz="1600" u="none" cap="none" strike="noStrike"/>
          </a:p>
        </p:txBody>
      </p:sp>
      <p:cxnSp>
        <p:nvCxnSpPr>
          <p:cNvPr id="240" name="Google Shape;240;p13"/>
          <p:cNvCxnSpPr/>
          <p:nvPr/>
        </p:nvCxn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1" name="Google Shape;241;p13"/>
          <p:cNvSpPr/>
          <p:nvPr/>
        </p:nvSpPr>
        <p:spPr>
          <a:xfrm>
            <a:off x="7366000" y="88265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 / 15</a:t>
            </a:r>
            <a:endParaRPr b="0" i="0" sz="1400" u="none" cap="none" strike="noStrike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418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4"/>
          <p:cNvSpPr/>
          <p:nvPr/>
        </p:nvSpPr>
        <p:spPr>
          <a:xfrm>
            <a:off x="762000" y="254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SRC-2026-0614-ASYNC</a:t>
            </a:r>
            <a:endParaRPr b="0" i="0" sz="1400" u="none" cap="none" strike="noStrike"/>
          </a:p>
        </p:txBody>
      </p:sp>
      <p:sp>
        <p:nvSpPr>
          <p:cNvPr id="248" name="Google Shape;248;p14"/>
          <p:cNvSpPr/>
          <p:nvPr/>
        </p:nvSpPr>
        <p:spPr>
          <a:xfrm>
            <a:off x="13462000" y="254000"/>
            <a:ext cx="2032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CONFIDENTIAL</a:t>
            </a:r>
            <a:endParaRPr b="0" i="0" sz="1200" u="none" cap="none" strike="noStrike"/>
          </a:p>
        </p:txBody>
      </p:sp>
      <p:sp>
        <p:nvSpPr>
          <p:cNvPr id="249" name="Google Shape;249;p14"/>
          <p:cNvSpPr/>
          <p:nvPr/>
        </p:nvSpPr>
        <p:spPr>
          <a:xfrm>
            <a:off x="762000" y="698500"/>
            <a:ext cx="147320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Network Detection — Beaconing, Self-Signed Certs, Uncommon Ports</a:t>
            </a:r>
            <a:endParaRPr b="0" i="0" sz="2600" u="none" cap="none" strike="noStrike"/>
          </a:p>
        </p:txBody>
      </p:sp>
      <p:cxnSp>
        <p:nvCxnSpPr>
          <p:cNvPr id="250" name="Google Shape;250;p14"/>
          <p:cNvCxnSpPr/>
          <p:nvPr/>
        </p:nvCxnSpPr>
        <p:spPr>
          <a:xfrm>
            <a:off x="762000" y="1244600"/>
            <a:ext cx="14732000" cy="0"/>
          </a:xfrm>
          <a:prstGeom prst="straightConnector1">
            <a:avLst/>
          </a:prstGeom>
          <a:noFill/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1" name="Google Shape;251;p14"/>
          <p:cNvSpPr/>
          <p:nvPr/>
        </p:nvSpPr>
        <p:spPr>
          <a:xfrm>
            <a:off x="762000" y="1397000"/>
            <a:ext cx="14732000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AsyncRAT C2 communication exhibits </a:t>
            </a:r>
            <a:r>
              <a:rPr b="1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distinct and detectable network behavior</a:t>
            </a:r>
            <a:r>
              <a:rPr b="0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The combination of self-signed certificates with a known common name, connections to unusual ports, and regular beaconing intervals provides multiple detection opportunities at the network perimeter.</a:t>
            </a:r>
            <a:endParaRPr b="0" i="0" sz="1300" u="none" cap="none" strike="noStrike"/>
          </a:p>
        </p:txBody>
      </p:sp>
      <p:sp>
        <p:nvSpPr>
          <p:cNvPr id="252" name="Google Shape;252;p14"/>
          <p:cNvSpPr/>
          <p:nvPr/>
        </p:nvSpPr>
        <p:spPr>
          <a:xfrm>
            <a:off x="762000" y="2349500"/>
            <a:ext cx="6858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Network Indicators of Compromise</a:t>
            </a:r>
            <a:endParaRPr b="0" i="0" sz="1800" u="none" cap="none" strike="noStrike"/>
          </a:p>
        </p:txBody>
      </p:sp>
      <p:sp>
        <p:nvSpPr>
          <p:cNvPr id="253" name="Google Shape;253;p14"/>
          <p:cNvSpPr/>
          <p:nvPr/>
        </p:nvSpPr>
        <p:spPr>
          <a:xfrm>
            <a:off x="762000" y="2768600"/>
            <a:ext cx="6858000" cy="31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Default C2 Ports:</a:t>
            </a:r>
            <a:r>
              <a:rPr b="0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6606, 7707, 8808 (TCP)</a:t>
            </a:r>
            <a:endParaRPr b="0" i="0" sz="13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No legitimate service uses these ports</a:t>
            </a:r>
            <a:endParaRPr b="0" i="0" sz="13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TLS Certificate CN:</a:t>
            </a:r>
            <a:r>
              <a:rPr b="0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"AsyncRAT Server"</a:t>
            </a:r>
            <a:endParaRPr b="0" i="0" sz="13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Self-signed, easily identifiable in SSL handshake</a:t>
            </a:r>
            <a:endParaRPr b="0" i="0" sz="13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Beaconing Pattern:</a:t>
            </a:r>
            <a:r>
              <a:rPr b="0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Regular intervals</a:t>
            </a:r>
            <a:endParaRPr b="0" i="0" sz="13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Configurable sleep (1-5s typical), with small jitter</a:t>
            </a:r>
            <a:endParaRPr b="0" i="0" sz="13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Packet Size:</a:t>
            </a:r>
            <a:r>
              <a:rPr b="0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Consistent during check-in</a:t>
            </a:r>
            <a:endParaRPr b="0" i="0" sz="13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System info payload (~500-1500 bytes) on first connect</a:t>
            </a:r>
            <a:endParaRPr b="0" i="0" sz="13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D9252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1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Protocol:</a:t>
            </a:r>
            <a:r>
              <a:rPr b="0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Length-prefixed binary over TLS</a:t>
            </a:r>
            <a:endParaRPr b="0" i="0" sz="13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 Not HTTP/S — custom binary framing</a:t>
            </a:r>
            <a:endParaRPr b="0" i="0" sz="1300" u="none" cap="none" strike="noStrike"/>
          </a:p>
        </p:txBody>
      </p:sp>
      <p:sp>
        <p:nvSpPr>
          <p:cNvPr id="254" name="Google Shape;254;p14"/>
          <p:cNvSpPr/>
          <p:nvPr/>
        </p:nvSpPr>
        <p:spPr>
          <a:xfrm>
            <a:off x="8128000" y="2349500"/>
            <a:ext cx="7366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Detection Implementation</a:t>
            </a:r>
            <a:endParaRPr b="0" i="0" sz="1800" u="none" cap="none" strike="noStrike"/>
          </a:p>
        </p:txBody>
      </p:sp>
      <p:sp>
        <p:nvSpPr>
          <p:cNvPr id="255" name="Google Shape;255;p14"/>
          <p:cNvSpPr/>
          <p:nvPr/>
        </p:nvSpPr>
        <p:spPr>
          <a:xfrm>
            <a:off x="8128000" y="2768600"/>
            <a:ext cx="7366000" cy="3175000"/>
          </a:xfrm>
          <a:prstGeom prst="rect">
            <a:avLst/>
          </a:prstGeom>
          <a:solidFill>
            <a:srgbClr val="1E2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4"/>
          <p:cNvSpPr/>
          <p:nvPr/>
        </p:nvSpPr>
        <p:spPr>
          <a:xfrm>
            <a:off x="8128000" y="2768600"/>
            <a:ext cx="50800" cy="3175000"/>
          </a:xfrm>
          <a:prstGeom prst="rect">
            <a:avLst/>
          </a:prstGeom>
          <a:solidFill>
            <a:srgbClr val="D92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4"/>
          <p:cNvSpPr/>
          <p:nvPr/>
        </p:nvSpPr>
        <p:spPr>
          <a:xfrm>
            <a:off x="8382000" y="2895600"/>
            <a:ext cx="6921500" cy="29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Perimeter Firewall</a:t>
            </a:r>
            <a:endParaRPr b="0" i="0" sz="15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Block outbound TCP/6606, TCP/7707, TCP/8808 at the network perimeter. These ports have no legitimate use and should be denied by default.</a:t>
            </a:r>
            <a:endParaRPr b="0" i="0" sz="15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SSL/TLS Inspection</a:t>
            </a:r>
            <a:endParaRPr b="0" i="0" sz="15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Inspect SSL handshakes for self-signed certificates with CN="AsyncRAT Server" or containing "AsyncRAT" in any certificate field.</a:t>
            </a:r>
            <a:endParaRPr b="0" i="0" sz="15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Netflow Analysis</a:t>
            </a:r>
            <a:endParaRPr b="0" i="0" sz="15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Apply statistical beaconing detection to identify regular connection patterns. AsyncRAT's consistent interval timing stands out against normal user traffic.</a:t>
            </a:r>
            <a:endParaRPr b="0" i="0" sz="1500" u="none" cap="none" strike="noStrike"/>
          </a:p>
        </p:txBody>
      </p:sp>
      <p:sp>
        <p:nvSpPr>
          <p:cNvPr id="258" name="Google Shape;258;p14"/>
          <p:cNvSpPr/>
          <p:nvPr/>
        </p:nvSpPr>
        <p:spPr>
          <a:xfrm>
            <a:off x="762000" y="6223000"/>
            <a:ext cx="762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Detection Opportunities — Network</a:t>
            </a:r>
            <a:endParaRPr b="0" i="0" sz="1800" u="none" cap="none" strike="noStrike"/>
          </a:p>
        </p:txBody>
      </p:sp>
      <p:graphicFrame>
        <p:nvGraphicFramePr>
          <p:cNvPr id="259" name="Google Shape;259;p14"/>
          <p:cNvGraphicFramePr/>
          <p:nvPr/>
        </p:nvGraphicFramePr>
        <p:xfrm>
          <a:off x="762000" y="660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{ADFEE790-FD8F-451C-B811-B6AE758B8932}</a:tableStyleId>
              </a:tblPr>
              <a:tblGrid>
                <a:gridCol w="4419600"/>
                <a:gridCol w="10312400"/>
              </a:tblGrid>
              <a:tr h="46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DETECTION OPPORTUNITY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A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WHY IT WORKS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A32"/>
                    </a:solidFill>
                  </a:tcPr>
                </a:tc>
              </a:tr>
              <a:tr h="625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Connections to TCP/6606, TCP/7707, TCP/8808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These ports are exclusively used by AsyncRAT. Any outbound connection attempt is a definitive indicator of compromise.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</a:tr>
              <a:tr h="625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SSL certificate with CN "AsyncRAT Server"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The self-signed certificate contains this identifiable string. SSL inspection at the proxy or IDS level catches this before encrypted traffic flows.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</a:tr>
            </a:tbl>
          </a:graphicData>
        </a:graphic>
      </p:graphicFrame>
      <p:cxnSp>
        <p:nvCxnSpPr>
          <p:cNvPr id="260" name="Google Shape;260;p14"/>
          <p:cNvCxnSpPr/>
          <p:nvPr/>
        </p:nvCxn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1" name="Google Shape;261;p14"/>
          <p:cNvSpPr/>
          <p:nvPr/>
        </p:nvSpPr>
        <p:spPr>
          <a:xfrm>
            <a:off x="7366000" y="88265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 / 15</a:t>
            </a:r>
            <a:endParaRPr b="0" i="0" sz="1400" u="none" cap="none" strike="noStrike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418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5"/>
          <p:cNvSpPr/>
          <p:nvPr/>
        </p:nvSpPr>
        <p:spPr>
          <a:xfrm>
            <a:off x="762000" y="254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SRC-2026-0614-ASYNC</a:t>
            </a:r>
            <a:endParaRPr b="0" i="0" sz="1400" u="none" cap="none" strike="noStrike"/>
          </a:p>
        </p:txBody>
      </p:sp>
      <p:sp>
        <p:nvSpPr>
          <p:cNvPr id="268" name="Google Shape;268;p15"/>
          <p:cNvSpPr/>
          <p:nvPr/>
        </p:nvSpPr>
        <p:spPr>
          <a:xfrm>
            <a:off x="13462000" y="254000"/>
            <a:ext cx="2032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CONFIDENTIAL</a:t>
            </a:r>
            <a:endParaRPr b="0" i="0" sz="1200" u="none" cap="none" strike="noStrike"/>
          </a:p>
        </p:txBody>
      </p:sp>
      <p:sp>
        <p:nvSpPr>
          <p:cNvPr id="269" name="Google Shape;269;p15"/>
          <p:cNvSpPr/>
          <p:nvPr/>
        </p:nvSpPr>
        <p:spPr>
          <a:xfrm>
            <a:off x="762000" y="698500"/>
            <a:ext cx="147320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Host-Based Detection — Process Injection and Persistence Artifacts</a:t>
            </a:r>
            <a:endParaRPr b="0" i="0" sz="2600" u="none" cap="none" strike="noStrike"/>
          </a:p>
        </p:txBody>
      </p:sp>
      <p:cxnSp>
        <p:nvCxnSpPr>
          <p:cNvPr id="270" name="Google Shape;270;p15"/>
          <p:cNvCxnSpPr/>
          <p:nvPr/>
        </p:nvCxnSpPr>
        <p:spPr>
          <a:xfrm>
            <a:off x="762000" y="1244600"/>
            <a:ext cx="14732000" cy="0"/>
          </a:xfrm>
          <a:prstGeom prst="straightConnector1">
            <a:avLst/>
          </a:prstGeom>
          <a:noFill/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1" name="Google Shape;271;p15"/>
          <p:cNvSpPr/>
          <p:nvPr/>
        </p:nvSpPr>
        <p:spPr>
          <a:xfrm>
            <a:off x="762000" y="1397000"/>
            <a:ext cx="14732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Host-based detection focuses on the artifacts left by AsyncRAT's </a:t>
            </a:r>
            <a:r>
              <a:rPr b="1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process injection</a:t>
            </a:r>
            <a:r>
              <a:rPr b="0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</a:t>
            </a:r>
            <a:r>
              <a:rPr b="1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persistence mechanisms</a:t>
            </a:r>
            <a:r>
              <a:rPr b="0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and </a:t>
            </a:r>
            <a:r>
              <a:rPr b="1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post-compromise activities</a:t>
            </a:r>
            <a:r>
              <a:rPr b="0" i="0" lang="en-US" sz="13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EDR telemetry provides the richest detection surface.</a:t>
            </a:r>
            <a:endParaRPr b="0" i="0" sz="1300" u="none" cap="none" strike="noStrike"/>
          </a:p>
        </p:txBody>
      </p:sp>
      <p:sp>
        <p:nvSpPr>
          <p:cNvPr id="272" name="Google Shape;272;p15"/>
          <p:cNvSpPr/>
          <p:nvPr/>
        </p:nvSpPr>
        <p:spPr>
          <a:xfrm>
            <a:off x="762000" y="2159000"/>
            <a:ext cx="762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Detection Opportunities — Host-Based</a:t>
            </a:r>
            <a:endParaRPr b="0" i="0" sz="1800" u="none" cap="none" strike="noStrike"/>
          </a:p>
        </p:txBody>
      </p:sp>
      <p:graphicFrame>
        <p:nvGraphicFramePr>
          <p:cNvPr id="273" name="Google Shape;273;p15"/>
          <p:cNvGraphicFramePr/>
          <p:nvPr/>
        </p:nvGraphicFramePr>
        <p:xfrm>
          <a:off x="762000" y="2603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{ADFEE790-FD8F-451C-B811-B6AE758B8932}</a:tableStyleId>
              </a:tblPr>
              <a:tblGrid>
                <a:gridCol w="4124950"/>
                <a:gridCol w="10607050"/>
              </a:tblGrid>
              <a:tr h="468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DETECTION OPPORTUNITY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A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WHY IT WORKS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A32"/>
                    </a:solidFill>
                  </a:tcPr>
                </a:tc>
              </a:tr>
              <a:tr h="542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Suspended process + NtUnmapViewOfSection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Process hollowing creates a suspended process then unmaps its memory. EDR can detect this sequence as a high-fidelity injection indicator (Sysmon Event ID 8).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</a:tr>
              <a:tr h="542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VirtualAllocEx RWX in child process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RWX memory allocation in a remote process is always suspicious. Monitor for PAGE_EXECUTE_READWRITE followed by WriteProcessMemory in the same target process.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</a:tr>
              <a:tr h="542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Non-system process binding to high ports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AsyncRAT client binds to random high ports for local communication. A user-process listening on an unusual port may indicate RAT activity.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</a:tr>
              <a:tr h="542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Scheduled tasks from user-writable paths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Legitimate scheduled tasks execute from Program Files or System32. Tasks pointing to %AppData%, %Temp%, or Downloads are highly suspicious.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</a:tr>
              <a:tr h="542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Registry Run keys with random names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AsyncRAT uses randomly generated value names in HKCU\...\Run. Hunt for recently created Run keys with high-entropy names pointing to executable files in user directories.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</a:tr>
              <a:tr h="542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Encoded PowerShell download cradle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IEX(New-Object Net.WebClient).downloadString() patterns in PowerShell command lines indicate staged payload delivery. AMSI captures these before execution.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</a:tr>
              <a:tr h="542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Duplicate process names in unusual paths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AsyncRAT frequently masquerades as svchost.exe, winlogon.exe, or regsvcs.exe but runs from %AppData% or %Temp%. Compare image path against known system paths.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</a:tr>
            </a:tbl>
          </a:graphicData>
        </a:graphic>
      </p:graphicFrame>
      <p:sp>
        <p:nvSpPr>
          <p:cNvPr id="274" name="Google Shape;274;p15"/>
          <p:cNvSpPr/>
          <p:nvPr/>
        </p:nvSpPr>
        <p:spPr>
          <a:xfrm>
            <a:off x="762000" y="7048500"/>
            <a:ext cx="25400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DEFENSIVE CONTROLS</a:t>
            </a:r>
            <a:endParaRPr b="0" i="0" sz="1400" u="none" cap="none" strike="noStrike"/>
          </a:p>
        </p:txBody>
      </p:sp>
      <p:sp>
        <p:nvSpPr>
          <p:cNvPr id="275" name="Google Shape;275;p15"/>
          <p:cNvSpPr/>
          <p:nvPr/>
        </p:nvSpPr>
        <p:spPr>
          <a:xfrm>
            <a:off x="762000" y="7429500"/>
            <a:ext cx="147320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Immediate:</a:t>
            </a: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Enable Sysmon with Event ID 8 (CreateRemoteThread) and Event ID 10 (ProcessAccess) logging | Deploy EDR with behavioral process hollowing detection</a:t>
            </a:r>
            <a:endParaRPr b="0" i="0" sz="14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Host:</a:t>
            </a: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Monitor scheduled tasks, registry Run keys, and Startup folder via WMI event subscriptions | Implement application whitelisting for %AppData% execution</a:t>
            </a:r>
            <a:endParaRPr b="0" i="0" sz="14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Network:</a:t>
            </a: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Block outbound TCP/6606, 7707, 8808 | Deploy SSL inspection to detect self-signed "AsyncRAT Server" certificates</a:t>
            </a:r>
            <a:endParaRPr b="0" i="0" sz="1400" u="none" cap="none" strike="noStrike"/>
          </a:p>
        </p:txBody>
      </p:sp>
      <p:cxnSp>
        <p:nvCxnSpPr>
          <p:cNvPr id="276" name="Google Shape;276;p15"/>
          <p:cNvCxnSpPr/>
          <p:nvPr/>
        </p:nvCxn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7" name="Google Shape;277;p15"/>
          <p:cNvSpPr/>
          <p:nvPr/>
        </p:nvSpPr>
        <p:spPr>
          <a:xfrm>
            <a:off x="7366000" y="88265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 / 15</a:t>
            </a:r>
            <a:endParaRPr b="0" i="0" sz="1400" u="none" cap="none" strike="noStrike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418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6"/>
          <p:cNvSpPr/>
          <p:nvPr/>
        </p:nvSpPr>
        <p:spPr>
          <a:xfrm>
            <a:off x="762000" y="254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SRC-2026-0614-ASYNC</a:t>
            </a:r>
            <a:endParaRPr b="0" i="0" sz="1400" u="none" cap="none" strike="noStrike"/>
          </a:p>
        </p:txBody>
      </p:sp>
      <p:sp>
        <p:nvSpPr>
          <p:cNvPr id="284" name="Google Shape;284;p16"/>
          <p:cNvSpPr/>
          <p:nvPr/>
        </p:nvSpPr>
        <p:spPr>
          <a:xfrm>
            <a:off x="13462000" y="254000"/>
            <a:ext cx="2032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CONFIDENTIAL</a:t>
            </a:r>
            <a:endParaRPr b="0" i="0" sz="1200" u="none" cap="none" strike="noStrike"/>
          </a:p>
        </p:txBody>
      </p:sp>
      <p:sp>
        <p:nvSpPr>
          <p:cNvPr id="285" name="Google Shape;285;p16"/>
          <p:cNvSpPr/>
          <p:nvPr/>
        </p:nvSpPr>
        <p:spPr>
          <a:xfrm>
            <a:off x="762000" y="698500"/>
            <a:ext cx="147320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AsyncRAT MITRE ATT&amp;CK Mapping</a:t>
            </a:r>
            <a:endParaRPr b="0" i="0" sz="2600" u="none" cap="none" strike="noStrike"/>
          </a:p>
        </p:txBody>
      </p:sp>
      <p:cxnSp>
        <p:nvCxnSpPr>
          <p:cNvPr id="286" name="Google Shape;286;p16"/>
          <p:cNvCxnSpPr/>
          <p:nvPr/>
        </p:nvCxnSpPr>
        <p:spPr>
          <a:xfrm>
            <a:off x="762000" y="1244600"/>
            <a:ext cx="14732000" cy="0"/>
          </a:xfrm>
          <a:prstGeom prst="straightConnector1">
            <a:avLst/>
          </a:prstGeom>
          <a:noFill/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7" name="Google Shape;287;p16"/>
          <p:cNvSpPr/>
          <p:nvPr/>
        </p:nvSpPr>
        <p:spPr>
          <a:xfrm>
            <a:off x="762000" y="13716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FRAMEWORK MAPPING</a:t>
            </a:r>
            <a:endParaRPr b="0" i="0" sz="1200" u="none" cap="none" strike="noStrike"/>
          </a:p>
        </p:txBody>
      </p:sp>
      <p:graphicFrame>
        <p:nvGraphicFramePr>
          <p:cNvPr id="288" name="Google Shape;288;p16"/>
          <p:cNvGraphicFramePr/>
          <p:nvPr/>
        </p:nvGraphicFramePr>
        <p:xfrm>
          <a:off x="762000" y="1778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{ADFEE790-FD8F-451C-B811-B6AE758B8932}</a:tableStyleId>
              </a:tblPr>
              <a:tblGrid>
                <a:gridCol w="2209800"/>
                <a:gridCol w="3241050"/>
                <a:gridCol w="4861550"/>
                <a:gridCol w="4419600"/>
              </a:tblGrid>
              <a:tr h="485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MITRE ID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A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TECHNIQUE NAME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A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ASYNCRAT IMPLEMENTATION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A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DEFENSIVE CONTROL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2A32"/>
                    </a:solidFill>
                  </a:tcPr>
                </a:tc>
              </a:tr>
              <a:tr h="501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D92525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T1566.001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Phishing: Spearphishing Attachment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Malicious OneNote .one files with embedded scripts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Block .one attachments at email gateway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</a:tr>
              <a:tr h="501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D92525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T1059.003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Windows Command Shell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Obfuscated batch scripts as initial stage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Command line logging and script block logging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</a:tr>
              <a:tr h="501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D92525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T1059.001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PowerShell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Encoded download cradle for stage 2 payload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AMSI, constrained language mode, deep script logging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</a:tr>
              <a:tr h="501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D92525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T1053.005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Scheduled Task/Job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Creates hidden scheduled task for persistence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Monitor schtasks.exe and WMI event subscriptions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</a:tr>
              <a:tr h="501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D92525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T1547.001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Registry Run Keys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HKCU Run key with random value name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Registry monitoring for Run key modifications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</a:tr>
              <a:tr h="501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D92525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T1055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Process Injection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Process hollowing into .NET executables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EDR behavioral detection, Sysmon Event ID 8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</a:tr>
              <a:tr h="501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D92525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T1055.012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Process Hollowing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NtUnmapViewOfSection + VirtualAllocEx RWX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Kernel callbacks for remote memory operations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</a:tr>
              <a:tr h="501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D92525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T1497.001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Virtualization/Sandbox Evasion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WMI VM checks, GetTickCount timing attacks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Hypervisor-based analysis, patch sandbox APIs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</a:tr>
              <a:tr h="501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D92525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T1056.001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Input Capture: Keylogging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Global Windows hook for keystroke capture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SetWindowsHookEx monitoring, API hooking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</a:tr>
              <a:tr h="501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D92525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T1113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Screen Capture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Remote desktop viewing and recording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Monitor BitBlt/PrintWindow API calls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D21"/>
                    </a:solidFill>
                  </a:tcPr>
                </a:tc>
              </a:tr>
              <a:tr h="501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D92525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T1071.001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Application Layer Protocol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Custom TCP protocol over TLS (ports 6606/7707/8808)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E8ECF1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Block default ports, SSL inspection for cert CN</a:t>
                      </a:r>
                      <a:endParaRPr sz="1600" u="none" cap="none" strike="noStrike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0" marB="0" marR="54875" marL="54875" anchor="ctr">
                    <a:lnL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5A607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418"/>
                    </a:solidFill>
                  </a:tcPr>
                </a:tc>
              </a:tr>
            </a:tbl>
          </a:graphicData>
        </a:graphic>
      </p:graphicFrame>
      <p:cxnSp>
        <p:nvCxnSpPr>
          <p:cNvPr id="289" name="Google Shape;289;p16"/>
          <p:cNvCxnSpPr/>
          <p:nvPr/>
        </p:nvCxn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0" name="Google Shape;290;p16"/>
          <p:cNvSpPr/>
          <p:nvPr/>
        </p:nvSpPr>
        <p:spPr>
          <a:xfrm>
            <a:off x="7366000" y="88265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 / 15</a:t>
            </a:r>
            <a:endParaRPr b="0" i="0" sz="1400" u="none" cap="none" strike="noStrike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418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7"/>
          <p:cNvSpPr/>
          <p:nvPr/>
        </p:nvSpPr>
        <p:spPr>
          <a:xfrm>
            <a:off x="762000" y="254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SRC-2026-0614-ASYNC</a:t>
            </a:r>
            <a:endParaRPr b="0" i="0" sz="1400" u="none" cap="none" strike="noStrike"/>
          </a:p>
        </p:txBody>
      </p:sp>
      <p:sp>
        <p:nvSpPr>
          <p:cNvPr id="297" name="Google Shape;297;p17"/>
          <p:cNvSpPr/>
          <p:nvPr/>
        </p:nvSpPr>
        <p:spPr>
          <a:xfrm>
            <a:off x="13462000" y="254000"/>
            <a:ext cx="2032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CONFIDENTIAL</a:t>
            </a:r>
            <a:endParaRPr b="0" i="0" sz="1200" u="none" cap="none" strike="noStrike"/>
          </a:p>
        </p:txBody>
      </p:sp>
      <p:sp>
        <p:nvSpPr>
          <p:cNvPr id="298" name="Google Shape;298;p17"/>
          <p:cNvSpPr/>
          <p:nvPr/>
        </p:nvSpPr>
        <p:spPr>
          <a:xfrm>
            <a:off x="762000" y="762000"/>
            <a:ext cx="1397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SUMMARY: OFFENSIVE KNOWLEDGE FOR DEFENSE</a:t>
            </a:r>
            <a:endParaRPr b="0" i="0" sz="3600" u="none" cap="none" strike="noStrike"/>
          </a:p>
        </p:txBody>
      </p:sp>
      <p:cxnSp>
        <p:nvCxnSpPr>
          <p:cNvPr id="299" name="Google Shape;299;p17"/>
          <p:cNvCxnSpPr/>
          <p:nvPr/>
        </p:nvCxnSpPr>
        <p:spPr>
          <a:xfrm>
            <a:off x="762000" y="1397000"/>
            <a:ext cx="14732000" cy="0"/>
          </a:xfrm>
          <a:prstGeom prst="straightConnector1">
            <a:avLst/>
          </a:prstGeom>
          <a:noFill/>
          <a:ln cap="flat" cmpd="sng" w="25400">
            <a:solidFill>
              <a:srgbClr val="D9252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0" name="Google Shape;300;p17"/>
          <p:cNvSpPr/>
          <p:nvPr/>
        </p:nvSpPr>
        <p:spPr>
          <a:xfrm>
            <a:off x="762000" y="1778000"/>
            <a:ext cx="6985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01</a:t>
            </a:r>
            <a:endParaRPr b="0" i="0" sz="2800" u="none" cap="none" strike="noStrike"/>
          </a:p>
        </p:txBody>
      </p:sp>
      <p:sp>
        <p:nvSpPr>
          <p:cNvPr id="301" name="Google Shape;301;p17"/>
          <p:cNvSpPr/>
          <p:nvPr/>
        </p:nvSpPr>
        <p:spPr>
          <a:xfrm>
            <a:off x="1524000" y="1778000"/>
            <a:ext cx="5842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OPEN SOURCE = WIDESPREAD CUSTOMIZATION</a:t>
            </a:r>
            <a:endParaRPr b="0" i="0" sz="1800" u="none" cap="none" strike="noStrike"/>
          </a:p>
        </p:txBody>
      </p:sp>
      <p:sp>
        <p:nvSpPr>
          <p:cNvPr id="302" name="Google Shape;302;p17"/>
          <p:cNvSpPr/>
          <p:nvPr/>
        </p:nvSpPr>
        <p:spPr>
          <a:xfrm>
            <a:off x="1524000" y="2159000"/>
            <a:ext cx="5842000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AsyncRAT's source code is publicly available. Signature-based detection alone is insufficient — focus on behavioral detection of TTPs.</a:t>
            </a:r>
            <a:endParaRPr b="0" i="0" sz="1500" u="none" cap="none" strike="noStrike"/>
          </a:p>
        </p:txBody>
      </p:sp>
      <p:sp>
        <p:nvSpPr>
          <p:cNvPr id="303" name="Google Shape;303;p17"/>
          <p:cNvSpPr/>
          <p:nvPr/>
        </p:nvSpPr>
        <p:spPr>
          <a:xfrm>
            <a:off x="8128000" y="1778000"/>
            <a:ext cx="6985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02</a:t>
            </a:r>
            <a:endParaRPr b="0" i="0" sz="2800" u="none" cap="none" strike="noStrike"/>
          </a:p>
        </p:txBody>
      </p:sp>
      <p:sp>
        <p:nvSpPr>
          <p:cNvPr id="304" name="Google Shape;304;p17"/>
          <p:cNvSpPr/>
          <p:nvPr/>
        </p:nvSpPr>
        <p:spPr>
          <a:xfrm>
            <a:off x="8890000" y="1778000"/>
            <a:ext cx="6604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ABUSE OF LEGITIMATE WINDOWS TOOLS</a:t>
            </a:r>
            <a:endParaRPr b="0" i="0" sz="1800" u="none" cap="none" strike="noStrike"/>
          </a:p>
        </p:txBody>
      </p:sp>
      <p:sp>
        <p:nvSpPr>
          <p:cNvPr id="305" name="Google Shape;305;p17"/>
          <p:cNvSpPr/>
          <p:nvPr/>
        </p:nvSpPr>
        <p:spPr>
          <a:xfrm>
            <a:off x="8890000" y="2159000"/>
            <a:ext cx="6604000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Multi-stage delivery chains abuse PowerShell, WSH, and schtasks. Monitor command-line arguments and parent-child process relationships.</a:t>
            </a:r>
            <a:endParaRPr b="0" i="0" sz="1500" u="none" cap="none" strike="noStrike"/>
          </a:p>
        </p:txBody>
      </p:sp>
      <p:sp>
        <p:nvSpPr>
          <p:cNvPr id="306" name="Google Shape;306;p17"/>
          <p:cNvSpPr/>
          <p:nvPr/>
        </p:nvSpPr>
        <p:spPr>
          <a:xfrm>
            <a:off x="762000" y="3365500"/>
            <a:ext cx="6985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03</a:t>
            </a:r>
            <a:endParaRPr b="0" i="0" sz="2800" u="none" cap="none" strike="noStrike"/>
          </a:p>
        </p:txBody>
      </p:sp>
      <p:sp>
        <p:nvSpPr>
          <p:cNvPr id="307" name="Google Shape;307;p17"/>
          <p:cNvSpPr/>
          <p:nvPr/>
        </p:nvSpPr>
        <p:spPr>
          <a:xfrm>
            <a:off x="1524000" y="3365500"/>
            <a:ext cx="5842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C2 BEACONING ON DEFAULT PORTS</a:t>
            </a:r>
            <a:endParaRPr b="0" i="0" sz="1800" u="none" cap="none" strike="noStrike"/>
          </a:p>
        </p:txBody>
      </p:sp>
      <p:sp>
        <p:nvSpPr>
          <p:cNvPr id="308" name="Google Shape;308;p17"/>
          <p:cNvSpPr/>
          <p:nvPr/>
        </p:nvSpPr>
        <p:spPr>
          <a:xfrm>
            <a:off x="1524000" y="3746500"/>
            <a:ext cx="5842000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Ports 6606/7707/8808 with self-signed "AsyncRAT Server" certificates are high-fidelity IOCs. Block at perimeter for instant detection.</a:t>
            </a:r>
            <a:endParaRPr b="0" i="0" sz="1500" u="none" cap="none" strike="noStrike"/>
          </a:p>
        </p:txBody>
      </p:sp>
      <p:sp>
        <p:nvSpPr>
          <p:cNvPr id="309" name="Google Shape;309;p17"/>
          <p:cNvSpPr/>
          <p:nvPr/>
        </p:nvSpPr>
        <p:spPr>
          <a:xfrm>
            <a:off x="8128000" y="3365500"/>
            <a:ext cx="6985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04</a:t>
            </a:r>
            <a:endParaRPr b="0" i="0" sz="2800" u="none" cap="none" strike="noStrike"/>
          </a:p>
        </p:txBody>
      </p:sp>
      <p:sp>
        <p:nvSpPr>
          <p:cNvPr id="310" name="Google Shape;310;p17"/>
          <p:cNvSpPr/>
          <p:nvPr/>
        </p:nvSpPr>
        <p:spPr>
          <a:xfrm>
            <a:off x="8890000" y="3365500"/>
            <a:ext cx="6604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PROCESS HOLLOWING INTO .NET EXECUTABLES</a:t>
            </a:r>
            <a:endParaRPr b="0" i="0" sz="1800" u="none" cap="none" strike="noStrike"/>
          </a:p>
        </p:txBody>
      </p:sp>
      <p:sp>
        <p:nvSpPr>
          <p:cNvPr id="311" name="Google Shape;311;p17"/>
          <p:cNvSpPr/>
          <p:nvPr/>
        </p:nvSpPr>
        <p:spPr>
          <a:xfrm>
            <a:off x="8890000" y="3746500"/>
            <a:ext cx="6604000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RegSvcs.exe and AppLaunch.exe are primary hollowing targets. Monitor for suspended creation followed by NtUnmapViewOfSection.</a:t>
            </a:r>
            <a:endParaRPr b="0" i="0" sz="1500" u="none" cap="none" strike="noStrike"/>
          </a:p>
        </p:txBody>
      </p:sp>
      <p:sp>
        <p:nvSpPr>
          <p:cNvPr id="312" name="Google Shape;312;p17"/>
          <p:cNvSpPr/>
          <p:nvPr/>
        </p:nvSpPr>
        <p:spPr>
          <a:xfrm>
            <a:off x="762000" y="4953000"/>
            <a:ext cx="6985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D92525"/>
                </a:solidFill>
                <a:latin typeface="Liter"/>
                <a:ea typeface="Liter"/>
                <a:cs typeface="Liter"/>
                <a:sym typeface="Liter"/>
              </a:rPr>
              <a:t>05</a:t>
            </a:r>
            <a:endParaRPr b="0" i="0" sz="2800" u="none" cap="none" strike="noStrike"/>
          </a:p>
        </p:txBody>
      </p:sp>
      <p:sp>
        <p:nvSpPr>
          <p:cNvPr id="313" name="Google Shape;313;p17"/>
          <p:cNvSpPr/>
          <p:nvPr/>
        </p:nvSpPr>
        <p:spPr>
          <a:xfrm>
            <a:off x="1524000" y="4953000"/>
            <a:ext cx="5842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MULTIPLE PERSISTENCE MECHANISMS</a:t>
            </a:r>
            <a:endParaRPr b="0" i="0" sz="1800" u="none" cap="none" strike="noStrike"/>
          </a:p>
        </p:txBody>
      </p:sp>
      <p:sp>
        <p:nvSpPr>
          <p:cNvPr id="314" name="Google Shape;314;p17"/>
          <p:cNvSpPr/>
          <p:nvPr/>
        </p:nvSpPr>
        <p:spPr>
          <a:xfrm>
            <a:off x="1524000" y="5334000"/>
            <a:ext cx="13970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8ECF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Scheduled tasks, registry Run keys, and startup folders all require thorough remediation. Check all three locations during incident response. AsyncRAT uses the same binary across persistence vectors — hash matching accelerates cleanup.</a:t>
            </a:r>
            <a:endParaRPr b="0" i="0" sz="1500" u="none" cap="none" strike="noStrike"/>
          </a:p>
        </p:txBody>
      </p:sp>
      <p:cxnSp>
        <p:nvCxnSpPr>
          <p:cNvPr id="315" name="Google Shape;315;p17"/>
          <p:cNvCxnSpPr/>
          <p:nvPr/>
        </p:nvCxnSpPr>
        <p:spPr>
          <a:xfrm>
            <a:off x="762000" y="6350000"/>
            <a:ext cx="14732000" cy="0"/>
          </a:xfrm>
          <a:prstGeom prst="straightConnector1">
            <a:avLst/>
          </a:prstGeom>
          <a:noFill/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6" name="Google Shape;316;p17"/>
          <p:cNvSpPr/>
          <p:nvPr/>
        </p:nvSpPr>
        <p:spPr>
          <a:xfrm>
            <a:off x="1270000" y="6604000"/>
            <a:ext cx="13716000" cy="1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Educational Research Notice</a:t>
            </a:r>
            <a:endParaRPr b="0" i="0" sz="1400" u="none" cap="none" strike="noStrike"/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This analysis was performed on publicly available source code for educational and defensive research purposes.</a:t>
            </a:r>
            <a:endParaRPr b="0" i="0" sz="1400" u="none" cap="none" strike="noStrike"/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AsyncRAT source code has been publicly available since 2019 and is widely studied in academic cybersecurity programs.</a:t>
            </a:r>
            <a:endParaRPr b="0" i="0" sz="1400" u="none" cap="none" strike="noStrike"/>
          </a:p>
        </p:txBody>
      </p:sp>
      <p:cxnSp>
        <p:nvCxnSpPr>
          <p:cNvPr id="317" name="Google Shape;317;p17"/>
          <p:cNvCxnSpPr/>
          <p:nvPr/>
        </p:nvCxn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cap="flat" cmpd="sng" w="12700">
            <a:solidFill>
              <a:srgbClr val="5A60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8" name="Google Shape;318;p17"/>
          <p:cNvSpPr/>
          <p:nvPr/>
        </p:nvSpPr>
        <p:spPr>
          <a:xfrm>
            <a:off x="7366000" y="88265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C95A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 / 15</a:t>
            </a:r>
            <a:endParaRPr b="0" i="0" sz="1400" u="none" cap="none" strike="noStrike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